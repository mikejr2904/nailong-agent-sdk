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62B"/>
                </a:solidFill>
                <a:latin typeface="+mn-lt"/>
              </a:defRPr>
            </a:pPr>
            <a:r>
              <a:rPr sz="1300" b="0" i="0" u="none" strike="noStrike">
                <a:solidFill>
                  <a:srgbClr val="12262B"/>
                </a:solidFill>
                <a:latin typeface="+mn-lt"/>
              </a:rPr>
              <a:t>Recoverable from the visible context, 240 episodes, 3 seeds</a:t>
            </a:r>
          </a:p>
        </c:rich>
      </c:tx>
      <c:layout/>
      <c:overlay val="0"/>
    </c:title>
    <c:autoTitleDeleted val="0"/>
    <c:plotArea>
      <c:layout/>
      <c:barChart>
        <c:barDir val="col"/>
        <c:grouping val="clustered"/>
        <c:varyColors val="0"/>
        <c:ser>
          <c:idx val="0"/>
          <c:order val="0"/>
          <c:tx>
            <c:strRef>
              <c:f>Sheet1!$B$1</c:f>
              <c:strCache>
                <c:ptCount val="1"/>
                <c:pt idx="0">
                  <c:v>PCKP only</c:v>
                </c:pt>
              </c:strCache>
            </c:strRef>
          </c:tx>
          <c:spPr>
            <a:solidFill>
              <a:srgbClr val="6B7F86"/>
            </a:solidFill>
            <a:effectLst/>
          </c:spPr>
          <c:invertIfNegative val="0"/>
          <c:dLbls>
            <c:numFmt formatCode="0.00" sourceLinked="0"/>
            <c:txPr>
              <a:bodyPr/>
              <a:lstStyle/>
              <a:p>
                <a:pPr>
                  <a:defRPr b="0" i="0" strike="noStrike" sz="1200" u="none">
                    <a:solidFill>
                      <a:srgbClr val="12262B"/>
                    </a:solidFill>
                    <a:latin typeface="+mn-lt"/>
                  </a:defRPr>
                </a:pPr>
              </a:p>
            </c:txPr>
            <c:showLegendKey val="0"/>
            <c:showVal val="1"/>
            <c:showCatName val="0"/>
            <c:showSerName val="0"/>
            <c:showPercent val="0"/>
            <c:showBubbleSize val="0"/>
            <c:showLeaderLines val="0"/>
          </c:dLbls>
          <c:cat>
            <c:multiLvlStrRef>
              <c:f>Sheet1!$A$2:$A$4</c:f>
              <c:multiLvlStrCache>
                <c:ptCount val="3"/>
                <c:lvl>
                  <c:pt idx="0">
                    <c:v>Failure recall (F1)</c:v>
                  </c:pt>
                  <c:pt idx="1">
                    <c:v>Task reconstruction</c:v>
                  </c:pt>
                  <c:pt idx="2">
                    <c:v>Direct checksum recall</c:v>
                  </c:pt>
                </c:lvl>
              </c:multiLvlStrCache>
            </c:multiLvlStrRef>
          </c:cat>
          <c:val>
            <c:numRef>
              <c:f>Sheet1!$B$2:$B$4</c:f>
              <c:numCache>
                <c:formatCode>General</c:formatCode>
                <c:ptCount val="3"/>
                <c:pt idx="0">
                  <c:v>0.434</c:v>
                </c:pt>
                <c:pt idx="1">
                  <c:v>0.193</c:v>
                </c:pt>
                <c:pt idx="2">
                  <c:v>0.146</c:v>
                </c:pt>
              </c:numCache>
            </c:numRef>
          </c:val>
        </c:ser>
        <c:ser>
          <c:idx val="1"/>
          <c:order val="1"/>
          <c:tx>
            <c:strRef>
              <c:f>Sheet1!$C$1</c:f>
              <c:strCache>
                <c:ptCount val="1"/>
                <c:pt idx="0">
                  <c:v>PCKP + semantic</c:v>
                </c:pt>
              </c:strCache>
            </c:strRef>
          </c:tx>
          <c:spPr>
            <a:solidFill>
              <a:srgbClr val="1F7A72"/>
            </a:solidFill>
            <a:effectLst/>
          </c:spPr>
          <c:invertIfNegative val="0"/>
          <c:dLbls>
            <c:numFmt formatCode="0.00" sourceLinked="0"/>
            <c:txPr>
              <a:bodyPr/>
              <a:lstStyle/>
              <a:p>
                <a:pPr>
                  <a:defRPr b="0" i="0" strike="noStrike" sz="1200" u="none">
                    <a:solidFill>
                      <a:srgbClr val="12262B"/>
                    </a:solidFill>
                    <a:latin typeface="+mn-lt"/>
                  </a:defRPr>
                </a:pPr>
              </a:p>
            </c:txPr>
            <c:showLegendKey val="0"/>
            <c:showVal val="1"/>
            <c:showCatName val="0"/>
            <c:showSerName val="0"/>
            <c:showPercent val="0"/>
            <c:showBubbleSize val="0"/>
            <c:showLeaderLines val="0"/>
          </c:dLbls>
          <c:cat>
            <c:multiLvlStrRef>
              <c:f>Sheet1!$A$2:$A$4</c:f>
              <c:multiLvlStrCache>
                <c:ptCount val="3"/>
                <c:lvl>
                  <c:pt idx="0">
                    <c:v>Failure recall (F1)</c:v>
                  </c:pt>
                  <c:pt idx="1">
                    <c:v>Task reconstruction</c:v>
                  </c:pt>
                  <c:pt idx="2">
                    <c:v>Direct checksum recall</c:v>
                  </c:pt>
                </c:lvl>
              </c:multiLvlStrCache>
            </c:multiLvlStrRef>
          </c:cat>
          <c:val>
            <c:numRef>
              <c:f>Sheet1!$C$2:$C$4</c:f>
              <c:numCache>
                <c:formatCode>General</c:formatCode>
                <c:ptCount val="3"/>
                <c:pt idx="0">
                  <c:v>0.893</c:v>
                </c:pt>
                <c:pt idx="1">
                  <c:v>0.428</c:v>
                </c:pt>
                <c:pt idx="2">
                  <c:v>0.224</c:v>
                </c:pt>
              </c:numCache>
            </c:numRef>
          </c:val>
        </c:ser>
        <c:dLbls>
          <c:numFmt formatCode="0.00" sourceLinked="0"/>
          <c:txPr>
            <a:bodyPr/>
            <a:lstStyle/>
            <a:p>
              <a:pPr>
                <a:defRPr b="0" i="0" strike="noStrike" sz="1200" u="none">
                  <a:solidFill>
                    <a:srgbClr val="1226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2262B"/>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5DE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8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226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talk as a systems-and-method contribution about long-running tool-using agents. The claim is about structure and checkability of memory, not about a new model. Everything shown was checked against branch sdk_fix at commit 5812431.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requirements before any architecture. R1 is the one everyone knows. R2 and R3 are where plain text memory fails. Each later slide ends by pointing back to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sentence: the model is an untrusted proposal source. In the common ReAct-style loop the message list is the state, and permissions, memory and logging are conveniences around it. Here the harness owns the state and the model emits exactly one of four turn types per iteration. This is what makes R3 possible: a wrong answer can be attributed to the model, a tool, the selection or the summary because they are separate components. Layers in the figure are the real folder-level import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Everything except the model call is deterministic and typed. The three guards fire before the model is called, so a context that cannot fit never reaches the provider. The single exit _terminate means every outcome, including failures, writes the same evidence. Failure codes named on the slide are real: CONTEXT_DEADLOCK, PROJECT_STATE_BUDGET_EXCEEDED, CONTEXT_BUDGET_EXCEEDED, MODEL_TURN_INVALID.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progression in plain terms. (1) Transcript in the window: simple, but it ends in truncation or a model-written summary, which is lossy and cannot be checked. (2) Retrieval memory: store chunks, fetch by similarity, but chunks have no relationship to each other and no notion of what was done versus what was seen. (3) Episodic memory: the unit is an experience with a time, a context and an outcome. Examples to cite: Generative Agents (Park et al. 2023) memory stream with recency, importance, relevance retrieval; MemGPT (Packer et al. 2023) tiered memory managed by the model; Reflexion (Shinn et al. 2023) verbal memory of past attempts. Verify these citations and add the exact venues before presenting. The gap sentence at the bottom is the thesis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figure. Left: three durable stores that the harness owns. The model never holds the only copy of anything. Centre: a per-turn projection that decides what is visible. Right: the bounded context the model actually receives, with the budgets from ContextProjectionPolicy (12,000 estimated tokens overall, 2,000 for project state, 1,500 for stubs, 1,200 for semantic summaries). Trace one arrow: a tool call becomes an episode; its full result goes to the journal; PCKP decides whether the episode keeps its content; if not, the semantic path summarises it after archiving; the stub keeps a handle so the model can ask for the original. ProjectState is a different thing from episodes: it is the structured record of the task and changes only by evidence-linked transitions.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argument as a debugging story, not as a feature list. Example: at iteration 37 the agent reports a wrong checksum. With a rolling text summary there is one paragraph and no way to tell whether the tool returned the wrong value, the summariser dropped it, or the model misread it. With this design each of those is a separate record you can open. The cost is real: more machinery and roughly 28% more visible tokens in our synthetic benchmark. State that cost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constraint with the picture: an action episode is only meaningful together with the observation it consumed. Dropping the observation and keeping the action leaves a conclusion without its premise. So the problem is a knapsack where choosing an item forces its prerequisites: a precedence-constrained knapsack. The SDK solves rooted forests exactly with a dynamic program and falls back to branch and bound with a node cap, in which case the certificate says best-effort. Be honest about the limit: the exactness is of the optimisation, the utility weights (relevance 0.40, centrality 0.20, provenance 0.20, recency 0.10, frequency 0.05) are hand-set.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left to right. Archive first, and read it back. Then a summariser proposes a digest; the default one is extractive and needs no model. Then deterministic checks decide: sources intact, dependencies resolve, citations stay inside the group, each claim quotes its cited episodes verbatim, every failed or blocked episode is mentioned, no number or identifier appears that the sources do not contain, compression within ceiling. Only if all pass can the optional judges run, and they can only veto, which is visible in _semantic_stages because judges run only when the deterministic report is clean and only add checks. A rejected group keeps its payloads and retries up to a limit. The release of the payload is the last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mechanisms with the same principle. Left: a tool call passes through ordered deterministic checks, and each refusal has a typed code so the failure explains itself. Right: working memory (ProjectState) changes only through typed transitions that must carry evidence; there are nine kinds. The model proposes, the reducer applies. This is the SDK scope decision: no domain roles are built in. Tools, skills and permissions arrive from the caller.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more than the code does. Each chain alone detects an edit in the middle. Removal of the newest entries, or a resealed chain, is detected only against a record kept outside the run root: the signed run-head checkpoint. The terminal-link ties telemetry and audit together at the end of the run. The verdicts are ok, truncated, diverged, advanced and pruned. Checkpointing is opt-in. The developer tool diagnose-run reads these ledgers and reports the terminal finding, the first problem, the first error and, for a graph run, the failing nodes with what each held up; it writes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never converse. Lateral data moves only as typed discoveries and immutable values in graph state, routed by exact reference. An agent whose profile grants graph.elastic.request can queue requests to explore beyond the plan. They are judged at commit, atomically with the node result: unique ids, visible dependencies, narrowing references, node and depth caps where a batch of N costs N+1 because of the join. A batch that does not fit is deferred whole until a human grants capacity or declines. Ceilings from policy refuse outright. Per-wave reservations stop siblings from racing. After a crash only idempotent nodes are replayed.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supervisor will push on. Left column is what we adopt without claiming. Middle is our claimed delta, stated as a property, not as a score. Right is the honest status of the evidence for each: implemented and covered by tests, measured on a synthetic benchmark, or not yet evaluated. Do not let the status column be skipped. The literature positioning (MemGPT, Generative Agents, Reflexion, LangGraph checkpointing, OpenTelemetry GenAI conventions) still needs a proper related-work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means over seeds 7, 8, 9 from benchmarks/results/memory-benchmark-report.json, 240 synthetic episodes, episode budget 3,000 and summary budget 1,200 estimated tokens. PCKP-only: failure F1 0.434, task reconstruction 0.193, visible context 4,135 tokens. With extractive semantic summaries: 0.893, 0.428, 5,290 tokens. Archive retrieval 0.695, and 0.834 when the active graph is bounded to 60 records. Say clearly: the reader is deterministic text matching, not a model, so this bounds recoverability and says nothing about reasoning. Even after semantic compaction more than half the needed facts are not directly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owning the weaknesses, then ask for guidance. Each study maps to a requirement. Study A addresses the biggest gap: no end-to-end model in the benchmark. Study B is the baseline comparison needed for any state-of-the-art claim. Study C tests the hand-set utility weights. Study D tests R3 directly with people, because diagnosability is the claim that is hardest to show with synthetic numbers. Questions for the supervisor are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424160" cy="173736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424160" cy="1737360"/>
          </a:xfrm>
          <a:prstGeom prst="rect">
            <a:avLst/>
          </a:prstGeom>
          <a:noFill/>
          <a:ln/>
        </p:spPr>
        <p:txBody>
          <a:bodyPr wrap="square" lIns="0" tIns="0" rIns="0" bIns="0" rtlCol="0" anchor="t"/>
          <a:lstStyle/>
          <a:p>
            <a:pPr algn="l" indent="0" marL="0">
              <a:buNone/>
            </a:pPr>
            <a:r>
              <a:rPr lang="en-US" sz="4600" b="1" dirty="0">
                <a:solidFill>
                  <a:schemeClr val="bg1"/>
                </a:solidFill>
              </a:rPr>
              <a:t>Agent memory you can debug</a:t>
            </a:r>
            <a:endParaRPr lang="en-US" sz="4600" dirty="0"/>
          </a:p>
        </p:txBody>
      </p:sp>
      <p:sp>
        <p:nvSpPr>
          <p:cNvPr id="3" name="Text 1"/>
          <p:cNvSpPr txBox="1"/>
          <p:nvPr/>
        </p:nvSpPr>
        <p:spPr>
          <a:xfrm>
            <a:off x="822960" y="3840480"/>
            <a:ext cx="9601200" cy="822960"/>
          </a:xfrm>
          <a:prstGeom prst="rect">
            <a:avLst/>
          </a:prstGeom>
          <a:noFill/>
          <a:ln/>
        </p:spPr>
        <p:txBody>
          <a:bodyPr wrap="square" lIns="0" tIns="0" rIns="0" bIns="0" rtlCol="0" anchor="t"/>
          <a:lstStyle/>
          <a:p>
            <a:pPr indent="0" marL="0">
              <a:buNone/>
            </a:pPr>
            <a:r>
              <a:rPr lang="en-US" sz="2200" dirty="0">
                <a:solidFill>
                  <a:schemeClr val="bg2"/>
                </a:solidFill>
              </a:rPr>
              <a:t>Typed episodes, exact compaction and verified summaries in nailong-agent-sdk</a:t>
            </a:r>
            <a:endParaRPr lang="en-US" sz="2200" dirty="0"/>
          </a:p>
        </p:txBody>
      </p:sp>
      <p:sp>
        <p:nvSpPr>
          <p:cNvPr id="4" name="Text 2"/>
          <p:cNvSpPr txBox="1"/>
          <p:nvPr/>
        </p:nvSpPr>
        <p:spPr>
          <a:xfrm>
            <a:off x="822960" y="5760720"/>
            <a:ext cx="9144000" cy="365760"/>
          </a:xfrm>
          <a:prstGeom prst="rect">
            <a:avLst/>
          </a:prstGeom>
          <a:noFill/>
          <a:ln/>
        </p:spPr>
        <p:txBody>
          <a:bodyPr wrap="square" lIns="0" tIns="0" rIns="0" bIns="0" rtlCol="0" anchor="t"/>
          <a:lstStyle/>
          <a:p>
            <a:pPr indent="0" marL="0">
              <a:buNone/>
            </a:pPr>
            <a:r>
              <a:rPr lang="en-US" sz="1400" dirty="0">
                <a:solidFill>
                  <a:schemeClr val="accent6"/>
                </a:solidFill>
              </a:rPr>
              <a:t>David Michael Indraputra  |  PhD discussion draft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3000" b="1" dirty="0">
                <a:solidFill>
                  <a:schemeClr val="tx1"/>
                </a:solidFill>
              </a:rPr>
              <a:t>Three requirements drive every design choice</a:t>
            </a:r>
            <a:endParaRPr lang="en-US" sz="3000" dirty="0"/>
          </a:p>
        </p:txBody>
      </p:sp>
      <p:sp>
        <p:nvSpPr>
          <p:cNvPr id="4" name="Shape 1"/>
          <p:cNvSpPr/>
          <p:nvPr/>
        </p:nvSpPr>
        <p:spPr>
          <a:xfrm>
            <a:off x="548640" y="1554480"/>
            <a:ext cx="3566160" cy="3931920"/>
          </a:xfrm>
          <a:prstGeom prst="roundRect">
            <a:avLst>
              <a:gd name="adj" fmla="val 2051"/>
            </a:avLst>
          </a:prstGeom>
          <a:solidFill>
            <a:schemeClr val="bg2"/>
          </a:solidFill>
          <a:ln w="12700">
            <a:solidFill>
              <a:schemeClr val="bg2"/>
            </a:solidFill>
            <a:prstDash val="solid"/>
          </a:ln>
        </p:spPr>
      </p:sp>
      <p:sp>
        <p:nvSpPr>
          <p:cNvPr id="5" name="Shape 2"/>
          <p:cNvSpPr/>
          <p:nvPr/>
        </p:nvSpPr>
        <p:spPr>
          <a:xfrm>
            <a:off x="822960" y="1783080"/>
            <a:ext cx="640080" cy="640080"/>
          </a:xfrm>
          <a:prstGeom prst="ellipse">
            <a:avLst/>
          </a:prstGeom>
          <a:solidFill>
            <a:schemeClr val="accent1"/>
          </a:solidFill>
          <a:ln w="12700">
            <a:solidFill>
              <a:schemeClr val="accent1"/>
            </a:solidFill>
            <a:prstDash val="solid"/>
          </a:ln>
        </p:spPr>
      </p:sp>
      <p:sp>
        <p:nvSpPr>
          <p:cNvPr id="6" name="Text 3"/>
          <p:cNvSpPr txBox="1"/>
          <p:nvPr/>
        </p:nvSpPr>
        <p:spPr>
          <a:xfrm>
            <a:off x="822960" y="17830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R1</a:t>
            </a:r>
            <a:endParaRPr lang="en-US" sz="1600" dirty="0"/>
          </a:p>
        </p:txBody>
      </p:sp>
      <p:sp>
        <p:nvSpPr>
          <p:cNvPr id="7" name="Text 4"/>
          <p:cNvSpPr txBox="1"/>
          <p:nvPr/>
        </p:nvSpPr>
        <p:spPr>
          <a:xfrm>
            <a:off x="1600200" y="1828800"/>
            <a:ext cx="2377440" cy="54864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Bounded</a:t>
            </a:r>
            <a:endParaRPr lang="en-US" sz="2200" dirty="0"/>
          </a:p>
        </p:txBody>
      </p:sp>
      <p:sp>
        <p:nvSpPr>
          <p:cNvPr id="8" name="Text 5"/>
          <p:cNvSpPr txBox="1"/>
          <p:nvPr/>
        </p:nvSpPr>
        <p:spPr>
          <a:xfrm>
            <a:off x="822960" y="2743200"/>
            <a:ext cx="3017520" cy="1097280"/>
          </a:xfrm>
          <a:prstGeom prst="rect">
            <a:avLst/>
          </a:prstGeom>
          <a:noFill/>
          <a:ln/>
        </p:spPr>
        <p:txBody>
          <a:bodyPr wrap="square" lIns="0" tIns="0" rIns="0" bIns="0" rtlCol="0" anchor="t"/>
          <a:lstStyle/>
          <a:p>
            <a:pPr indent="0" marL="0">
              <a:buNone/>
            </a:pPr>
            <a:r>
              <a:rPr lang="en-US" sz="1600" dirty="0">
                <a:solidFill>
                  <a:schemeClr val="tx1"/>
                </a:solidFill>
              </a:rPr>
              <a:t>The context window is fixed. A 200-step run is not.</a:t>
            </a:r>
            <a:endParaRPr lang="en-US" sz="1600" dirty="0"/>
          </a:p>
        </p:txBody>
      </p:sp>
      <p:sp>
        <p:nvSpPr>
          <p:cNvPr id="9" name="Text 6"/>
          <p:cNvSpPr txBox="1"/>
          <p:nvPr/>
        </p:nvSpPr>
        <p:spPr>
          <a:xfrm>
            <a:off x="822960" y="3977640"/>
            <a:ext cx="3017520" cy="274320"/>
          </a:xfrm>
          <a:prstGeom prst="rect">
            <a:avLst/>
          </a:prstGeom>
          <a:noFill/>
          <a:ln/>
        </p:spPr>
        <p:txBody>
          <a:bodyPr wrap="square" lIns="0" tIns="0" rIns="0" bIns="0" rtlCol="0" anchor="t"/>
          <a:lstStyle/>
          <a:p>
            <a:pPr indent="0" marL="0">
              <a:buNone/>
            </a:pPr>
            <a:r>
              <a:rPr lang="en-US" sz="1200" b="1" dirty="0">
                <a:solidFill>
                  <a:schemeClr val="accent3"/>
                </a:solidFill>
              </a:rPr>
              <a:t>Mechanism</a:t>
            </a:r>
            <a:endParaRPr lang="en-US" sz="1200" dirty="0"/>
          </a:p>
        </p:txBody>
      </p:sp>
      <p:sp>
        <p:nvSpPr>
          <p:cNvPr id="10" name="Text 7"/>
          <p:cNvSpPr txBox="1"/>
          <p:nvPr/>
        </p:nvSpPr>
        <p:spPr>
          <a:xfrm>
            <a:off x="822960" y="4297680"/>
            <a:ext cx="3017520" cy="1005840"/>
          </a:xfrm>
          <a:prstGeom prst="rect">
            <a:avLst/>
          </a:prstGeom>
          <a:noFill/>
          <a:ln/>
        </p:spPr>
        <p:txBody>
          <a:bodyPr wrap="square" lIns="0" tIns="0" rIns="0" bIns="0" rtlCol="0" anchor="t"/>
          <a:lstStyle/>
          <a:p>
            <a:pPr indent="0" marL="0">
              <a:buNone/>
            </a:pPr>
            <a:r>
              <a:rPr lang="en-US" sz="1400" dirty="0">
                <a:solidFill>
                  <a:schemeClr val="tx1"/>
                </a:solidFill>
              </a:rPr>
              <a:t>Choose what to keep under a token budget, deterministically.</a:t>
            </a:r>
            <a:endParaRPr lang="en-US" sz="1400" dirty="0"/>
          </a:p>
        </p:txBody>
      </p:sp>
      <p:sp>
        <p:nvSpPr>
          <p:cNvPr id="11" name="Shape 8"/>
          <p:cNvSpPr/>
          <p:nvPr/>
        </p:nvSpPr>
        <p:spPr>
          <a:xfrm>
            <a:off x="4343400" y="1554480"/>
            <a:ext cx="3566160" cy="3931920"/>
          </a:xfrm>
          <a:prstGeom prst="roundRect">
            <a:avLst>
              <a:gd name="adj" fmla="val 2051"/>
            </a:avLst>
          </a:prstGeom>
          <a:solidFill>
            <a:schemeClr val="bg2"/>
          </a:solidFill>
          <a:ln w="12700">
            <a:solidFill>
              <a:schemeClr val="bg2"/>
            </a:solidFill>
            <a:prstDash val="solid"/>
          </a:ln>
        </p:spPr>
      </p:sp>
      <p:sp>
        <p:nvSpPr>
          <p:cNvPr id="12" name="Shape 9"/>
          <p:cNvSpPr/>
          <p:nvPr/>
        </p:nvSpPr>
        <p:spPr>
          <a:xfrm>
            <a:off x="4617720" y="1783080"/>
            <a:ext cx="640080" cy="640080"/>
          </a:xfrm>
          <a:prstGeom prst="ellipse">
            <a:avLst/>
          </a:prstGeom>
          <a:solidFill>
            <a:schemeClr val="accent5"/>
          </a:solidFill>
          <a:ln w="12700">
            <a:solidFill>
              <a:schemeClr val="accent5"/>
            </a:solidFill>
            <a:prstDash val="solid"/>
          </a:ln>
        </p:spPr>
      </p:sp>
      <p:sp>
        <p:nvSpPr>
          <p:cNvPr id="13" name="Text 10"/>
          <p:cNvSpPr txBox="1"/>
          <p:nvPr/>
        </p:nvSpPr>
        <p:spPr>
          <a:xfrm>
            <a:off x="4617720" y="17830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R2</a:t>
            </a:r>
            <a:endParaRPr lang="en-US" sz="1600" dirty="0"/>
          </a:p>
        </p:txBody>
      </p:sp>
      <p:sp>
        <p:nvSpPr>
          <p:cNvPr id="14" name="Text 11"/>
          <p:cNvSpPr txBox="1"/>
          <p:nvPr/>
        </p:nvSpPr>
        <p:spPr>
          <a:xfrm>
            <a:off x="5394960" y="1828800"/>
            <a:ext cx="2377440" cy="54864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Recoverable</a:t>
            </a:r>
            <a:endParaRPr lang="en-US" sz="2200" dirty="0"/>
          </a:p>
        </p:txBody>
      </p:sp>
      <p:sp>
        <p:nvSpPr>
          <p:cNvPr id="15" name="Text 12"/>
          <p:cNvSpPr txBox="1"/>
          <p:nvPr/>
        </p:nvSpPr>
        <p:spPr>
          <a:xfrm>
            <a:off x="4617720" y="2743200"/>
            <a:ext cx="3017520" cy="1097280"/>
          </a:xfrm>
          <a:prstGeom prst="rect">
            <a:avLst/>
          </a:prstGeom>
          <a:noFill/>
          <a:ln/>
        </p:spPr>
        <p:txBody>
          <a:bodyPr wrap="square" lIns="0" tIns="0" rIns="0" bIns="0" rtlCol="0" anchor="t"/>
          <a:lstStyle/>
          <a:p>
            <a:pPr indent="0" marL="0">
              <a:buNone/>
            </a:pPr>
            <a:r>
              <a:rPr lang="en-US" sz="1600" dirty="0">
                <a:solidFill>
                  <a:schemeClr val="tx1"/>
                </a:solidFill>
              </a:rPr>
              <a:t>A detail that was dropped must be fetchable, not just forgotten.</a:t>
            </a:r>
            <a:endParaRPr lang="en-US" sz="1600" dirty="0"/>
          </a:p>
        </p:txBody>
      </p:sp>
      <p:sp>
        <p:nvSpPr>
          <p:cNvPr id="16" name="Text 13"/>
          <p:cNvSpPr txBox="1"/>
          <p:nvPr/>
        </p:nvSpPr>
        <p:spPr>
          <a:xfrm>
            <a:off x="4617720" y="3977640"/>
            <a:ext cx="3017520" cy="274320"/>
          </a:xfrm>
          <a:prstGeom prst="rect">
            <a:avLst/>
          </a:prstGeom>
          <a:noFill/>
          <a:ln/>
        </p:spPr>
        <p:txBody>
          <a:bodyPr wrap="square" lIns="0" tIns="0" rIns="0" bIns="0" rtlCol="0" anchor="t"/>
          <a:lstStyle/>
          <a:p>
            <a:pPr indent="0" marL="0">
              <a:buNone/>
            </a:pPr>
            <a:r>
              <a:rPr lang="en-US" sz="1200" b="1" dirty="0">
                <a:solidFill>
                  <a:schemeClr val="accent3"/>
                </a:solidFill>
              </a:rPr>
              <a:t>Mechanism</a:t>
            </a:r>
            <a:endParaRPr lang="en-US" sz="1200" dirty="0"/>
          </a:p>
        </p:txBody>
      </p:sp>
      <p:sp>
        <p:nvSpPr>
          <p:cNvPr id="17" name="Text 14"/>
          <p:cNvSpPr txBox="1"/>
          <p:nvPr/>
        </p:nvSpPr>
        <p:spPr>
          <a:xfrm>
            <a:off x="4617720" y="4297680"/>
            <a:ext cx="3017520" cy="1005840"/>
          </a:xfrm>
          <a:prstGeom prst="rect">
            <a:avLst/>
          </a:prstGeom>
          <a:noFill/>
          <a:ln/>
        </p:spPr>
        <p:txBody>
          <a:bodyPr wrap="square" lIns="0" tIns="0" rIns="0" bIns="0" rtlCol="0" anchor="t"/>
          <a:lstStyle/>
          <a:p>
            <a:pPr indent="0" marL="0">
              <a:buNone/>
            </a:pPr>
            <a:r>
              <a:rPr lang="en-US" sz="1400" dirty="0">
                <a:solidFill>
                  <a:schemeClr val="tx1"/>
                </a:solidFill>
              </a:rPr>
              <a:t>Full results live outside the context; summaries point back to them.</a:t>
            </a:r>
            <a:endParaRPr lang="en-US" sz="1400" dirty="0"/>
          </a:p>
        </p:txBody>
      </p:sp>
      <p:sp>
        <p:nvSpPr>
          <p:cNvPr id="18" name="Shape 15"/>
          <p:cNvSpPr/>
          <p:nvPr/>
        </p:nvSpPr>
        <p:spPr>
          <a:xfrm>
            <a:off x="8138160" y="1554480"/>
            <a:ext cx="3566160" cy="3931920"/>
          </a:xfrm>
          <a:prstGeom prst="roundRect">
            <a:avLst>
              <a:gd name="adj" fmla="val 2051"/>
            </a:avLst>
          </a:prstGeom>
          <a:solidFill>
            <a:schemeClr val="bg2"/>
          </a:solidFill>
          <a:ln w="12700">
            <a:solidFill>
              <a:schemeClr val="bg2"/>
            </a:solidFill>
            <a:prstDash val="solid"/>
          </a:ln>
        </p:spPr>
      </p:sp>
      <p:sp>
        <p:nvSpPr>
          <p:cNvPr id="19" name="Shape 16"/>
          <p:cNvSpPr/>
          <p:nvPr/>
        </p:nvSpPr>
        <p:spPr>
          <a:xfrm>
            <a:off x="8412480" y="1783080"/>
            <a:ext cx="640080" cy="640080"/>
          </a:xfrm>
          <a:prstGeom prst="ellipse">
            <a:avLst/>
          </a:prstGeom>
          <a:solidFill>
            <a:schemeClr val="accent2"/>
          </a:solidFill>
          <a:ln w="12700">
            <a:solidFill>
              <a:schemeClr val="accent2"/>
            </a:solidFill>
            <a:prstDash val="solid"/>
          </a:ln>
        </p:spPr>
      </p:sp>
      <p:sp>
        <p:nvSpPr>
          <p:cNvPr id="20" name="Text 17"/>
          <p:cNvSpPr txBox="1"/>
          <p:nvPr/>
        </p:nvSpPr>
        <p:spPr>
          <a:xfrm>
            <a:off x="8412480" y="17830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R3</a:t>
            </a:r>
            <a:endParaRPr lang="en-US" sz="1600" dirty="0"/>
          </a:p>
        </p:txBody>
      </p:sp>
      <p:sp>
        <p:nvSpPr>
          <p:cNvPr id="21" name="Text 18"/>
          <p:cNvSpPr txBox="1"/>
          <p:nvPr/>
        </p:nvSpPr>
        <p:spPr>
          <a:xfrm>
            <a:off x="9189720" y="1828800"/>
            <a:ext cx="2377440" cy="54864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Diagnosable</a:t>
            </a:r>
            <a:endParaRPr lang="en-US" sz="2200" dirty="0"/>
          </a:p>
        </p:txBody>
      </p:sp>
      <p:sp>
        <p:nvSpPr>
          <p:cNvPr id="22" name="Text 19"/>
          <p:cNvSpPr txBox="1"/>
          <p:nvPr/>
        </p:nvSpPr>
        <p:spPr>
          <a:xfrm>
            <a:off x="8412480" y="2743200"/>
            <a:ext cx="3017520" cy="1097280"/>
          </a:xfrm>
          <a:prstGeom prst="rect">
            <a:avLst/>
          </a:prstGeom>
          <a:noFill/>
          <a:ln/>
        </p:spPr>
        <p:txBody>
          <a:bodyPr wrap="square" lIns="0" tIns="0" rIns="0" bIns="0" rtlCol="0" anchor="t"/>
          <a:lstStyle/>
          <a:p>
            <a:pPr indent="0" marL="0">
              <a:buNone/>
            </a:pPr>
            <a:r>
              <a:rPr lang="en-US" sz="1600" dirty="0">
                <a:solidFill>
                  <a:schemeClr val="tx1"/>
                </a:solidFill>
              </a:rPr>
              <a:t>When the final answer is wrong, we must name the layer that failed.</a:t>
            </a:r>
            <a:endParaRPr lang="en-US" sz="1600" dirty="0"/>
          </a:p>
        </p:txBody>
      </p:sp>
      <p:sp>
        <p:nvSpPr>
          <p:cNvPr id="23" name="Text 20"/>
          <p:cNvSpPr txBox="1"/>
          <p:nvPr/>
        </p:nvSpPr>
        <p:spPr>
          <a:xfrm>
            <a:off x="8412480" y="3977640"/>
            <a:ext cx="3017520" cy="274320"/>
          </a:xfrm>
          <a:prstGeom prst="rect">
            <a:avLst/>
          </a:prstGeom>
          <a:noFill/>
          <a:ln/>
        </p:spPr>
        <p:txBody>
          <a:bodyPr wrap="square" lIns="0" tIns="0" rIns="0" bIns="0" rtlCol="0" anchor="t"/>
          <a:lstStyle/>
          <a:p>
            <a:pPr indent="0" marL="0">
              <a:buNone/>
            </a:pPr>
            <a:r>
              <a:rPr lang="en-US" sz="1200" b="1" dirty="0">
                <a:solidFill>
                  <a:schemeClr val="accent3"/>
                </a:solidFill>
              </a:rPr>
              <a:t>Mechanism</a:t>
            </a:r>
            <a:endParaRPr lang="en-US" sz="1200" dirty="0"/>
          </a:p>
        </p:txBody>
      </p:sp>
      <p:sp>
        <p:nvSpPr>
          <p:cNvPr id="24" name="Text 21"/>
          <p:cNvSpPr txBox="1"/>
          <p:nvPr/>
        </p:nvSpPr>
        <p:spPr>
          <a:xfrm>
            <a:off x="8412480" y="4297680"/>
            <a:ext cx="3017520" cy="1005840"/>
          </a:xfrm>
          <a:prstGeom prst="rect">
            <a:avLst/>
          </a:prstGeom>
          <a:noFill/>
          <a:ln/>
        </p:spPr>
        <p:txBody>
          <a:bodyPr wrap="square" lIns="0" tIns="0" rIns="0" bIns="0" rtlCol="0" anchor="t"/>
          <a:lstStyle/>
          <a:p>
            <a:pPr indent="0" marL="0">
              <a:buNone/>
            </a:pPr>
            <a:r>
              <a:rPr lang="en-US" sz="1400" dirty="0">
                <a:solidFill>
                  <a:schemeClr val="tx1"/>
                </a:solidFill>
              </a:rPr>
              <a:t>Typed stores, verification records and hash-chained ledgers.</a:t>
            </a:r>
            <a:endParaRPr lang="en-US" sz="1400" dirty="0"/>
          </a:p>
        </p:txBody>
      </p:sp>
      <p:sp>
        <p:nvSpPr>
          <p:cNvPr id="25" name="Text 22"/>
          <p:cNvSpPr txBox="1"/>
          <p:nvPr/>
        </p:nvSpPr>
        <p:spPr>
          <a:xfrm>
            <a:off x="548640" y="5760720"/>
            <a:ext cx="11064240" cy="548640"/>
          </a:xfrm>
          <a:prstGeom prst="rect">
            <a:avLst/>
          </a:prstGeom>
          <a:noFill/>
          <a:ln/>
        </p:spPr>
        <p:txBody>
          <a:bodyPr wrap="square" lIns="0" tIns="0" rIns="0" bIns="0" rtlCol="0" anchor="t"/>
          <a:lstStyle/>
          <a:p>
            <a:pPr indent="0" marL="0">
              <a:buNone/>
            </a:pPr>
            <a:r>
              <a:rPr lang="en-US" sz="1600" i="1" dirty="0">
                <a:solidFill>
                  <a:schemeClr val="tx1"/>
                </a:solidFill>
              </a:rPr>
              <a:t>Bounded alone is what rolling summarisation already gives. The contribution is getting R2 and R3 without giving up R1.</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3000" b="1" dirty="0">
                <a:solidFill>
                  <a:schemeClr val="tx1"/>
                </a:solidFill>
              </a:rPr>
              <a:t>Agent architecture: the model proposes, deterministic code decides</a:t>
            </a:r>
            <a:endParaRPr lang="en-US" sz="3000" dirty="0"/>
          </a:p>
        </p:txBody>
      </p:sp>
      <p:sp>
        <p:nvSpPr>
          <p:cNvPr id="4" name="Text 1"/>
          <p:cNvSpPr/>
          <p:nvPr/>
        </p:nvSpPr>
        <p:spPr>
          <a:xfrm>
            <a:off x="548640" y="1508760"/>
            <a:ext cx="5669280" cy="548640"/>
          </a:xfrm>
          <a:prstGeom prst="roundRect">
            <a:avLst>
              <a:gd name="adj" fmla="val 10000"/>
            </a:avLst>
          </a:prstGeom>
          <a:solidFill>
            <a:schemeClr val="bg1"/>
          </a:solidFill>
          <a:ln w="12700">
            <a:solidFill>
              <a:schemeClr val="accent3"/>
            </a:solidFill>
          </a:ln>
        </p:spPr>
        <p:txBody>
          <a:bodyPr wrap="square" lIns="762" tIns="762" rIns="762" bIns="762" rtlCol="0" anchor="ctr"/>
          <a:lstStyle/>
          <a:p>
            <a:pPr algn="ctr" indent="0" marL="0">
              <a:buNone/>
            </a:pPr>
            <a:r>
              <a:rPr lang="en-US" sz="1300" dirty="0">
                <a:solidFill>
                  <a:schemeClr val="tx1"/>
                </a:solidFill>
              </a:rPr>
              <a:t>Host backend  (owns sessions, approvals, roles)</a:t>
            </a:r>
            <a:endParaRPr lang="en-US" sz="1300" dirty="0"/>
          </a:p>
        </p:txBody>
      </p:sp>
      <p:sp>
        <p:nvSpPr>
          <p:cNvPr id="5" name="Text 2"/>
          <p:cNvSpPr/>
          <p:nvPr/>
        </p:nvSpPr>
        <p:spPr>
          <a:xfrm>
            <a:off x="548640" y="2286000"/>
            <a:ext cx="5669280" cy="548640"/>
          </a:xfrm>
          <a:prstGeom prst="roundRect">
            <a:avLst>
              <a:gd name="adj" fmla="val 10000"/>
            </a:avLst>
          </a:prstGeom>
          <a:solidFill>
            <a:schemeClr val="bg1"/>
          </a:solidFill>
          <a:ln w="12700">
            <a:solidFill>
              <a:schemeClr val="accent3"/>
            </a:solidFill>
          </a:ln>
        </p:spPr>
        <p:txBody>
          <a:bodyPr wrap="square" lIns="762" tIns="762" rIns="762" bIns="762" rtlCol="0" anchor="ctr"/>
          <a:lstStyle/>
          <a:p>
            <a:pPr algn="ctr" indent="0" marL="0">
              <a:buNone/>
            </a:pPr>
            <a:r>
              <a:rPr lang="en-US" sz="1300" dirty="0">
                <a:solidFill>
                  <a:schemeClr val="tx1"/>
                </a:solidFill>
              </a:rPr>
              <a:t>MCP service / AgentTaskRunner  (credentials, options validated as a whole)</a:t>
            </a:r>
            <a:endParaRPr lang="en-US" sz="1300" dirty="0"/>
          </a:p>
        </p:txBody>
      </p:sp>
      <p:sp>
        <p:nvSpPr>
          <p:cNvPr id="6" name="Shape 3"/>
          <p:cNvSpPr/>
          <p:nvPr/>
        </p:nvSpPr>
        <p:spPr>
          <a:xfrm>
            <a:off x="548640" y="3108960"/>
            <a:ext cx="5669280" cy="2971800"/>
          </a:xfrm>
          <a:prstGeom prst="roundRect">
            <a:avLst>
              <a:gd name="adj" fmla="val 1846"/>
            </a:avLst>
          </a:prstGeom>
          <a:solidFill>
            <a:schemeClr val="bg2"/>
          </a:solidFill>
          <a:ln w="25400">
            <a:solidFill>
              <a:schemeClr val="accent1"/>
            </a:solidFill>
            <a:prstDash val="solid"/>
          </a:ln>
        </p:spPr>
      </p:sp>
      <p:sp>
        <p:nvSpPr>
          <p:cNvPr id="7" name="Text 4"/>
          <p:cNvSpPr txBox="1"/>
          <p:nvPr/>
        </p:nvSpPr>
        <p:spPr>
          <a:xfrm>
            <a:off x="731520" y="3200400"/>
            <a:ext cx="5303520" cy="320040"/>
          </a:xfrm>
          <a:prstGeom prst="rect">
            <a:avLst/>
          </a:prstGeom>
          <a:noFill/>
          <a:ln/>
        </p:spPr>
        <p:txBody>
          <a:bodyPr wrap="square" lIns="0" tIns="0" rIns="0" bIns="0" rtlCol="0" anchor="t"/>
          <a:lstStyle/>
          <a:p>
            <a:pPr indent="0" marL="0">
              <a:buNone/>
            </a:pPr>
            <a:r>
              <a:rPr lang="en-US" sz="1500" b="1" dirty="0">
                <a:solidFill>
                  <a:schemeClr val="accent1"/>
                </a:solidFill>
              </a:rPr>
              <a:t>Harness: BaseAgent loop</a:t>
            </a:r>
            <a:endParaRPr lang="en-US" sz="1500" dirty="0"/>
          </a:p>
        </p:txBody>
      </p:sp>
      <p:sp>
        <p:nvSpPr>
          <p:cNvPr id="8" name="Text 5"/>
          <p:cNvSpPr/>
          <p:nvPr/>
        </p:nvSpPr>
        <p:spPr>
          <a:xfrm>
            <a:off x="731520" y="3657600"/>
            <a:ext cx="1645920" cy="868680"/>
          </a:xfrm>
          <a:prstGeom prst="roundRect">
            <a:avLst>
              <a:gd name="adj" fmla="val 6316"/>
            </a:avLst>
          </a:prstGeom>
          <a:solidFill>
            <a:schemeClr val="bg1"/>
          </a:solidFill>
          <a:ln w="25400">
            <a:solidFill>
              <a:schemeClr val="accent2"/>
            </a:solidFill>
          </a:ln>
        </p:spPr>
        <p:txBody>
          <a:bodyPr wrap="square" lIns="762" tIns="762" rIns="762" bIns="762" rtlCol="0" anchor="ctr"/>
          <a:lstStyle/>
          <a:p>
            <a:pPr algn="ctr" indent="0" marL="0">
              <a:buNone/>
            </a:pPr>
            <a:r>
              <a:rPr lang="en-US" sz="1300" dirty="0">
                <a:solidFill>
                  <a:schemeClr val="tx1"/>
                </a:solidFill>
              </a:rPr>
              <a:t>Context projection</a:t>
            </a:r>
            <a:endParaRPr lang="en-US" sz="1300" dirty="0"/>
          </a:p>
          <a:p>
            <a:pPr algn="ctr" indent="0" marL="0">
              <a:buNone/>
            </a:pPr>
            <a:r>
              <a:rPr lang="en-US" sz="1300" dirty="0">
                <a:solidFill>
                  <a:schemeClr val="tx1"/>
                </a:solidFill>
              </a:rPr>
              <a:t>memory/</a:t>
            </a:r>
            <a:endParaRPr lang="en-US" sz="1300" dirty="0"/>
          </a:p>
        </p:txBody>
      </p:sp>
      <p:sp>
        <p:nvSpPr>
          <p:cNvPr id="9" name="Text 6"/>
          <p:cNvSpPr/>
          <p:nvPr/>
        </p:nvSpPr>
        <p:spPr>
          <a:xfrm>
            <a:off x="2514600" y="3657600"/>
            <a:ext cx="1645920" cy="868680"/>
          </a:xfrm>
          <a:prstGeom prst="roundRect">
            <a:avLst>
              <a:gd name="adj" fmla="val 6316"/>
            </a:avLst>
          </a:prstGeom>
          <a:solidFill>
            <a:schemeClr val="bg1"/>
          </a:solidFill>
          <a:ln w="12700">
            <a:solidFill>
              <a:schemeClr val="accent3"/>
            </a:solidFill>
          </a:ln>
        </p:spPr>
        <p:txBody>
          <a:bodyPr wrap="square" lIns="762" tIns="762" rIns="762" bIns="762" rtlCol="0" anchor="ctr"/>
          <a:lstStyle/>
          <a:p>
            <a:pPr algn="ctr" indent="0" marL="0">
              <a:buNone/>
            </a:pPr>
            <a:r>
              <a:rPr lang="en-US" sz="1300" dirty="0">
                <a:solidFill>
                  <a:schemeClr val="tx1"/>
                </a:solidFill>
              </a:rPr>
              <a:t>Capability policy</a:t>
            </a:r>
            <a:endParaRPr lang="en-US" sz="1300" dirty="0"/>
          </a:p>
          <a:p>
            <a:pPr algn="ctr" indent="0" marL="0">
              <a:buNone/>
            </a:pPr>
            <a:r>
              <a:rPr lang="en-US" sz="1300" dirty="0">
                <a:solidFill>
                  <a:schemeClr val="tx1"/>
                </a:solidFill>
              </a:rPr>
              <a:t>+ approvals</a:t>
            </a:r>
            <a:endParaRPr lang="en-US" sz="1300" dirty="0"/>
          </a:p>
        </p:txBody>
      </p:sp>
      <p:sp>
        <p:nvSpPr>
          <p:cNvPr id="10" name="Text 7"/>
          <p:cNvSpPr/>
          <p:nvPr/>
        </p:nvSpPr>
        <p:spPr>
          <a:xfrm>
            <a:off x="4297680" y="3657600"/>
            <a:ext cx="1737360" cy="868680"/>
          </a:xfrm>
          <a:prstGeom prst="roundRect">
            <a:avLst>
              <a:gd name="adj" fmla="val 6316"/>
            </a:avLst>
          </a:prstGeom>
          <a:solidFill>
            <a:schemeClr val="bg1"/>
          </a:solidFill>
          <a:ln w="12700">
            <a:solidFill>
              <a:schemeClr val="accent3"/>
            </a:solidFill>
          </a:ln>
        </p:spPr>
        <p:txBody>
          <a:bodyPr wrap="square" lIns="762" tIns="762" rIns="762" bIns="762" rtlCol="0" anchor="ctr"/>
          <a:lstStyle/>
          <a:p>
            <a:pPr algn="ctr" indent="0" marL="0">
              <a:buNone/>
            </a:pPr>
            <a:r>
              <a:rPr lang="en-US" sz="1300" dirty="0">
                <a:solidFill>
                  <a:schemeClr val="tx1"/>
                </a:solidFill>
              </a:rPr>
              <a:t>Verification</a:t>
            </a:r>
            <a:endParaRPr lang="en-US" sz="1300" dirty="0"/>
          </a:p>
          <a:p>
            <a:pPr algn="ctr" indent="0" marL="0">
              <a:buNone/>
            </a:pPr>
            <a:r>
              <a:rPr lang="en-US" sz="1300" dirty="0">
                <a:solidFill>
                  <a:schemeClr val="tx1"/>
                </a:solidFill>
              </a:rPr>
              <a:t>gate</a:t>
            </a:r>
            <a:endParaRPr lang="en-US" sz="1300" dirty="0"/>
          </a:p>
        </p:txBody>
      </p:sp>
      <p:sp>
        <p:nvSpPr>
          <p:cNvPr id="11" name="Text 8"/>
          <p:cNvSpPr/>
          <p:nvPr/>
        </p:nvSpPr>
        <p:spPr>
          <a:xfrm>
            <a:off x="731520" y="4709160"/>
            <a:ext cx="1645920" cy="868680"/>
          </a:xfrm>
          <a:prstGeom prst="roundRect">
            <a:avLst>
              <a:gd name="adj" fmla="val 6316"/>
            </a:avLst>
          </a:prstGeom>
          <a:solidFill>
            <a:schemeClr val="bg1"/>
          </a:solidFill>
          <a:ln w="12700">
            <a:solidFill>
              <a:schemeClr val="accent3"/>
            </a:solidFill>
          </a:ln>
        </p:spPr>
        <p:txBody>
          <a:bodyPr wrap="square" lIns="762" tIns="762" rIns="762" bIns="762" rtlCol="0" anchor="ctr"/>
          <a:lstStyle/>
          <a:p>
            <a:pPr algn="ctr" indent="0" marL="0">
              <a:buNone/>
            </a:pPr>
            <a:r>
              <a:rPr lang="en-US" sz="1300" dirty="0">
                <a:solidFill>
                  <a:schemeClr val="tx1"/>
                </a:solidFill>
              </a:rPr>
              <a:t>Project state</a:t>
            </a:r>
            <a:endParaRPr lang="en-US" sz="1300" dirty="0"/>
          </a:p>
          <a:p>
            <a:pPr algn="ctr" indent="0" marL="0">
              <a:buNone/>
            </a:pPr>
            <a:r>
              <a:rPr lang="en-US" sz="1300" dirty="0">
                <a:solidFill>
                  <a:schemeClr val="tx1"/>
                </a:solidFill>
              </a:rPr>
              <a:t>(typed transitions)</a:t>
            </a:r>
            <a:endParaRPr lang="en-US" sz="1300" dirty="0"/>
          </a:p>
        </p:txBody>
      </p:sp>
      <p:sp>
        <p:nvSpPr>
          <p:cNvPr id="12" name="Text 9"/>
          <p:cNvSpPr/>
          <p:nvPr/>
        </p:nvSpPr>
        <p:spPr>
          <a:xfrm>
            <a:off x="2514600" y="4709160"/>
            <a:ext cx="1645920" cy="868680"/>
          </a:xfrm>
          <a:prstGeom prst="roundRect">
            <a:avLst>
              <a:gd name="adj" fmla="val 6316"/>
            </a:avLst>
          </a:prstGeom>
          <a:solidFill>
            <a:schemeClr val="bg1"/>
          </a:solidFill>
          <a:ln w="12700">
            <a:solidFill>
              <a:schemeClr val="accent3"/>
            </a:solidFill>
          </a:ln>
        </p:spPr>
        <p:txBody>
          <a:bodyPr wrap="square" lIns="762" tIns="762" rIns="762" bIns="762" rtlCol="0" anchor="ctr"/>
          <a:lstStyle/>
          <a:p>
            <a:pPr algn="ctr" indent="0" marL="0">
              <a:buNone/>
            </a:pPr>
            <a:r>
              <a:rPr lang="en-US" sz="1300" dirty="0">
                <a:solidFill>
                  <a:schemeClr val="tx1"/>
                </a:solidFill>
              </a:rPr>
              <a:t>Tool executors</a:t>
            </a:r>
            <a:endParaRPr lang="en-US" sz="1300" dirty="0"/>
          </a:p>
          <a:p>
            <a:pPr algn="ctr" indent="0" marL="0">
              <a:buNone/>
            </a:pPr>
            <a:r>
              <a:rPr lang="en-US" sz="1300" dirty="0">
                <a:solidFill>
                  <a:schemeClr val="tx1"/>
                </a:solidFill>
              </a:rPr>
              <a:t>process, sandbox, MCP</a:t>
            </a:r>
            <a:endParaRPr lang="en-US" sz="1300" dirty="0"/>
          </a:p>
        </p:txBody>
      </p:sp>
      <p:sp>
        <p:nvSpPr>
          <p:cNvPr id="13" name="Text 10"/>
          <p:cNvSpPr/>
          <p:nvPr/>
        </p:nvSpPr>
        <p:spPr>
          <a:xfrm>
            <a:off x="4297680" y="4709160"/>
            <a:ext cx="1737360" cy="868680"/>
          </a:xfrm>
          <a:prstGeom prst="roundRect">
            <a:avLst>
              <a:gd name="adj" fmla="val 6316"/>
            </a:avLst>
          </a:prstGeom>
          <a:solidFill>
            <a:schemeClr val="bg1"/>
          </a:solidFill>
          <a:ln w="12700">
            <a:solidFill>
              <a:schemeClr val="accent3"/>
            </a:solidFill>
          </a:ln>
        </p:spPr>
        <p:txBody>
          <a:bodyPr wrap="square" lIns="762" tIns="762" rIns="762" bIns="762" rtlCol="0" anchor="ctr"/>
          <a:lstStyle/>
          <a:p>
            <a:pPr algn="ctr" indent="0" marL="0">
              <a:buNone/>
            </a:pPr>
            <a:r>
              <a:rPr lang="en-US" sz="1300" dirty="0">
                <a:solidFill>
                  <a:schemeClr val="tx1"/>
                </a:solidFill>
              </a:rPr>
              <a:t>Ledgers: telemetry,</a:t>
            </a:r>
            <a:endParaRPr lang="en-US" sz="1300" dirty="0"/>
          </a:p>
          <a:p>
            <a:pPr algn="ctr" indent="0" marL="0">
              <a:buNone/>
            </a:pPr>
            <a:r>
              <a:rPr lang="en-US" sz="1300" dirty="0">
                <a:solidFill>
                  <a:schemeClr val="tx1"/>
                </a:solidFill>
              </a:rPr>
              <a:t>audit, profile</a:t>
            </a:r>
            <a:endParaRPr lang="en-US" sz="1300" dirty="0"/>
          </a:p>
        </p:txBody>
      </p:sp>
      <p:sp>
        <p:nvSpPr>
          <p:cNvPr id="14" name="Shape 11"/>
          <p:cNvSpPr/>
          <p:nvPr/>
        </p:nvSpPr>
        <p:spPr>
          <a:xfrm>
            <a:off x="3383280" y="2057400"/>
            <a:ext cx="0" cy="228600"/>
          </a:xfrm>
          <a:prstGeom prst="line">
            <a:avLst/>
          </a:prstGeom>
          <a:noFill/>
          <a:ln w="22225">
            <a:solidFill>
              <a:schemeClr val="accent3"/>
            </a:solidFill>
            <a:prstDash val="solid"/>
            <a:tailEnd type="triangle"/>
          </a:ln>
        </p:spPr>
      </p:sp>
      <p:sp>
        <p:nvSpPr>
          <p:cNvPr id="15" name="Shape 12"/>
          <p:cNvSpPr/>
          <p:nvPr/>
        </p:nvSpPr>
        <p:spPr>
          <a:xfrm>
            <a:off x="3383280" y="2834640"/>
            <a:ext cx="0" cy="274320"/>
          </a:xfrm>
          <a:prstGeom prst="line">
            <a:avLst/>
          </a:prstGeom>
          <a:noFill/>
          <a:ln w="22225">
            <a:solidFill>
              <a:schemeClr val="accent3"/>
            </a:solidFill>
            <a:prstDash val="solid"/>
            <a:tailEnd type="triangle"/>
          </a:ln>
        </p:spPr>
      </p:sp>
      <p:sp>
        <p:nvSpPr>
          <p:cNvPr id="16" name="Text 13"/>
          <p:cNvSpPr/>
          <p:nvPr/>
        </p:nvSpPr>
        <p:spPr>
          <a:xfrm>
            <a:off x="7315200" y="3840480"/>
            <a:ext cx="2103120" cy="1005840"/>
          </a:xfrm>
          <a:prstGeom prst="roundRect">
            <a:avLst>
              <a:gd name="adj" fmla="val 5455"/>
            </a:avLst>
          </a:prstGeom>
          <a:solidFill>
            <a:schemeClr val="accent4"/>
          </a:solidFill>
          <a:ln w="12700">
            <a:solidFill>
              <a:schemeClr val="accent4"/>
            </a:solidFill>
          </a:ln>
        </p:spPr>
        <p:txBody>
          <a:bodyPr wrap="square" lIns="762" tIns="762" rIns="762" bIns="762" rtlCol="0" anchor="ctr"/>
          <a:lstStyle/>
          <a:p>
            <a:pPr algn="ctr" indent="0" marL="0">
              <a:buNone/>
            </a:pPr>
            <a:r>
              <a:rPr lang="en-US" sz="1300" b="1" dirty="0">
                <a:solidFill>
                  <a:schemeClr val="bg1"/>
                </a:solidFill>
              </a:rPr>
              <a:t>LLM provider</a:t>
            </a:r>
            <a:endParaRPr lang="en-US" sz="1300" dirty="0"/>
          </a:p>
          <a:p>
            <a:pPr algn="ctr" indent="0" marL="0">
              <a:buNone/>
            </a:pPr>
            <a:r>
              <a:rPr lang="en-US" sz="1300" b="1" dirty="0">
                <a:solidFill>
                  <a:schemeClr val="bg1"/>
                </a:solidFill>
              </a:rPr>
              <a:t>untrusted proposal source</a:t>
            </a:r>
            <a:endParaRPr lang="en-US" sz="1300" dirty="0"/>
          </a:p>
        </p:txBody>
      </p:sp>
      <p:sp>
        <p:nvSpPr>
          <p:cNvPr id="17" name="Shape 14"/>
          <p:cNvSpPr/>
          <p:nvPr/>
        </p:nvSpPr>
        <p:spPr>
          <a:xfrm>
            <a:off x="6217920" y="4160520"/>
            <a:ext cx="1097280" cy="0"/>
          </a:xfrm>
          <a:prstGeom prst="line">
            <a:avLst/>
          </a:prstGeom>
          <a:noFill/>
          <a:ln w="22225">
            <a:solidFill>
              <a:schemeClr val="accent4"/>
            </a:solidFill>
            <a:prstDash val="solid"/>
            <a:tailEnd type="triangle"/>
          </a:ln>
        </p:spPr>
      </p:sp>
      <p:sp>
        <p:nvSpPr>
          <p:cNvPr id="18" name="Shape 15"/>
          <p:cNvSpPr/>
          <p:nvPr/>
        </p:nvSpPr>
        <p:spPr>
          <a:xfrm flipH="1">
            <a:off x="6217920" y="4526280"/>
            <a:ext cx="1097280" cy="0"/>
          </a:xfrm>
          <a:prstGeom prst="line">
            <a:avLst/>
          </a:prstGeom>
          <a:noFill/>
          <a:ln w="22225">
            <a:solidFill>
              <a:schemeClr val="accent4"/>
            </a:solidFill>
            <a:prstDash val="solid"/>
            <a:tailEnd type="triangle"/>
          </a:ln>
        </p:spPr>
      </p:sp>
      <p:sp>
        <p:nvSpPr>
          <p:cNvPr id="19" name="Text 16"/>
          <p:cNvSpPr txBox="1"/>
          <p:nvPr/>
        </p:nvSpPr>
        <p:spPr>
          <a:xfrm>
            <a:off x="6263640" y="3931920"/>
            <a:ext cx="1005840" cy="228600"/>
          </a:xfrm>
          <a:prstGeom prst="rect">
            <a:avLst/>
          </a:prstGeom>
          <a:noFill/>
          <a:ln/>
        </p:spPr>
        <p:txBody>
          <a:bodyPr wrap="square" lIns="0" tIns="0" rIns="0" bIns="0" rtlCol="0" anchor="t"/>
          <a:lstStyle/>
          <a:p>
            <a:pPr algn="ctr" indent="0" marL="0">
              <a:buNone/>
            </a:pPr>
            <a:r>
              <a:rPr lang="en-US" sz="1100" dirty="0">
                <a:solidFill>
                  <a:schemeClr val="accent3"/>
                </a:solidFill>
              </a:rPr>
              <a:t>context out</a:t>
            </a:r>
            <a:endParaRPr lang="en-US" sz="1100" dirty="0"/>
          </a:p>
        </p:txBody>
      </p:sp>
      <p:sp>
        <p:nvSpPr>
          <p:cNvPr id="20" name="Text 17"/>
          <p:cNvSpPr txBox="1"/>
          <p:nvPr/>
        </p:nvSpPr>
        <p:spPr>
          <a:xfrm>
            <a:off x="6263640" y="4572000"/>
            <a:ext cx="1005840" cy="228600"/>
          </a:xfrm>
          <a:prstGeom prst="rect">
            <a:avLst/>
          </a:prstGeom>
          <a:noFill/>
          <a:ln/>
        </p:spPr>
        <p:txBody>
          <a:bodyPr wrap="square" lIns="0" tIns="0" rIns="0" bIns="0" rtlCol="0" anchor="t"/>
          <a:lstStyle/>
          <a:p>
            <a:pPr algn="ctr" indent="0" marL="0">
              <a:buNone/>
            </a:pPr>
            <a:r>
              <a:rPr lang="en-US" sz="1100" dirty="0">
                <a:solidFill>
                  <a:schemeClr val="accent3"/>
                </a:solidFill>
              </a:rPr>
              <a:t>one turn back</a:t>
            </a:r>
            <a:endParaRPr lang="en-US" sz="1100" dirty="0"/>
          </a:p>
        </p:txBody>
      </p:sp>
      <p:sp>
        <p:nvSpPr>
          <p:cNvPr id="21" name="Text 18"/>
          <p:cNvSpPr txBox="1"/>
          <p:nvPr/>
        </p:nvSpPr>
        <p:spPr>
          <a:xfrm>
            <a:off x="7315200" y="1508760"/>
            <a:ext cx="4297680" cy="274320"/>
          </a:xfrm>
          <a:prstGeom prst="rect">
            <a:avLst/>
          </a:prstGeom>
          <a:noFill/>
          <a:ln/>
        </p:spPr>
        <p:txBody>
          <a:bodyPr wrap="square" lIns="0" tIns="0" rIns="0" bIns="0" rtlCol="0" anchor="t"/>
          <a:lstStyle/>
          <a:p>
            <a:pPr indent="0" marL="0">
              <a:buNone/>
            </a:pPr>
            <a:r>
              <a:rPr lang="en-US" sz="1400" b="1" dirty="0">
                <a:solidFill>
                  <a:schemeClr val="accent3"/>
                </a:solidFill>
              </a:rPr>
              <a:t>State of the art</a:t>
            </a:r>
            <a:endParaRPr lang="en-US" sz="1400" dirty="0"/>
          </a:p>
        </p:txBody>
      </p:sp>
      <p:sp>
        <p:nvSpPr>
          <p:cNvPr id="22" name="Text 19"/>
          <p:cNvSpPr txBox="1"/>
          <p:nvPr/>
        </p:nvSpPr>
        <p:spPr>
          <a:xfrm>
            <a:off x="7315200" y="1828800"/>
            <a:ext cx="4297680" cy="822960"/>
          </a:xfrm>
          <a:prstGeom prst="rect">
            <a:avLst/>
          </a:prstGeom>
          <a:noFill/>
          <a:ln/>
        </p:spPr>
        <p:txBody>
          <a:bodyPr wrap="square" lIns="0" tIns="0" rIns="0" bIns="0" rtlCol="0" anchor="t"/>
          <a:lstStyle/>
          <a:p>
            <a:pPr indent="0" marL="0">
              <a:buNone/>
            </a:pPr>
            <a:r>
              <a:rPr lang="en-US" sz="1300" dirty="0">
                <a:solidFill>
                  <a:schemeClr val="tx1"/>
                </a:solidFill>
              </a:rPr>
              <a:t>The message list is the state; permissions, memory and logging are framework conveniences around it.</a:t>
            </a:r>
            <a:endParaRPr lang="en-US" sz="1300" dirty="0"/>
          </a:p>
        </p:txBody>
      </p:sp>
      <p:sp>
        <p:nvSpPr>
          <p:cNvPr id="23" name="Text 20"/>
          <p:cNvSpPr txBox="1"/>
          <p:nvPr/>
        </p:nvSpPr>
        <p:spPr>
          <a:xfrm>
            <a:off x="9646920" y="3840480"/>
            <a:ext cx="2011680" cy="274320"/>
          </a:xfrm>
          <a:prstGeom prst="rect">
            <a:avLst/>
          </a:prstGeom>
          <a:noFill/>
          <a:ln/>
        </p:spPr>
        <p:txBody>
          <a:bodyPr wrap="square" lIns="0" tIns="0" rIns="0" bIns="0" rtlCol="0" anchor="t"/>
          <a:lstStyle/>
          <a:p>
            <a:pPr indent="0" marL="0">
              <a:buNone/>
            </a:pPr>
            <a:r>
              <a:rPr lang="en-US" sz="1400" b="1" dirty="0">
                <a:solidFill>
                  <a:schemeClr val="accent1"/>
                </a:solidFill>
              </a:rPr>
              <a:t>Four turn types only</a:t>
            </a:r>
            <a:endParaRPr lang="en-US" sz="1400" dirty="0"/>
          </a:p>
        </p:txBody>
      </p:sp>
      <p:sp>
        <p:nvSpPr>
          <p:cNvPr id="24" name="Text 21"/>
          <p:cNvSpPr txBox="1"/>
          <p:nvPr/>
        </p:nvSpPr>
        <p:spPr>
          <a:xfrm>
            <a:off x="9646920" y="4160520"/>
            <a:ext cx="2011680" cy="1463040"/>
          </a:xfrm>
          <a:prstGeom prst="rect">
            <a:avLst/>
          </a:prstGeom>
          <a:noFill/>
          <a:ln/>
        </p:spPr>
        <p:txBody>
          <a:bodyPr wrap="square" lIns="0" tIns="0" rIns="0" bIns="0" rtlCol="0" anchor="t"/>
          <a:lstStyle/>
          <a:p>
            <a:pPr indent="0" marL="0">
              <a:buNone/>
            </a:pPr>
            <a:r>
              <a:rPr lang="en-US" sz="1200" dirty="0">
                <a:solidFill>
                  <a:schemeClr val="tx1"/>
                </a:solidFill>
              </a:rPr>
              <a:t>final, blocked, tool-call, tool-batch. Anything else ends the run FAILED, naming up to five bad fields.</a:t>
            </a:r>
            <a:endParaRPr lang="en-US" sz="1200" dirty="0"/>
          </a:p>
        </p:txBody>
      </p:sp>
      <p:sp>
        <p:nvSpPr>
          <p:cNvPr id="25" name="Text 22"/>
          <p:cNvSpPr txBox="1"/>
          <p:nvPr/>
        </p:nvSpPr>
        <p:spPr>
          <a:xfrm>
            <a:off x="7315200" y="5120640"/>
            <a:ext cx="4389120" cy="274320"/>
          </a:xfrm>
          <a:prstGeom prst="rect">
            <a:avLst/>
          </a:prstGeom>
          <a:noFill/>
          <a:ln/>
        </p:spPr>
        <p:txBody>
          <a:bodyPr wrap="square" lIns="0" tIns="0" rIns="0" bIns="0" rtlCol="0" anchor="t"/>
          <a:lstStyle/>
          <a:p>
            <a:pPr indent="0" marL="0">
              <a:buNone/>
            </a:pPr>
            <a:r>
              <a:rPr lang="en-US" sz="1400" b="1" dirty="0">
                <a:solidFill>
                  <a:schemeClr val="accent2"/>
                </a:solidFill>
              </a:rPr>
              <a:t>Why we differ</a:t>
            </a:r>
            <a:endParaRPr lang="en-US" sz="1400" dirty="0"/>
          </a:p>
        </p:txBody>
      </p:sp>
      <p:sp>
        <p:nvSpPr>
          <p:cNvPr id="26" name="Text 23"/>
          <p:cNvSpPr txBox="1"/>
          <p:nvPr/>
        </p:nvSpPr>
        <p:spPr>
          <a:xfrm>
            <a:off x="7315200" y="5440680"/>
            <a:ext cx="4389120" cy="640080"/>
          </a:xfrm>
          <a:prstGeom prst="rect">
            <a:avLst/>
          </a:prstGeom>
          <a:noFill/>
          <a:ln/>
        </p:spPr>
        <p:txBody>
          <a:bodyPr wrap="square" lIns="0" tIns="0" rIns="0" bIns="0" rtlCol="0" anchor="t"/>
          <a:lstStyle/>
          <a:p>
            <a:pPr indent="0" marL="0">
              <a:buNone/>
            </a:pPr>
            <a:r>
              <a:rPr lang="en-US" sz="1300" dirty="0">
                <a:solidFill>
                  <a:schemeClr val="tx1"/>
                </a:solidFill>
              </a:rPr>
              <a:t>Separate components make a failure attributable (R3).</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3000" b="1" dirty="0">
                <a:solidFill>
                  <a:schemeClr val="tx1"/>
                </a:solidFill>
              </a:rPr>
              <a:t>One run is a fixed loop with one nondeterministic step</a:t>
            </a:r>
            <a:endParaRPr lang="en-US" sz="3000" dirty="0"/>
          </a:p>
        </p:txBody>
      </p:sp>
      <p:sp>
        <p:nvSpPr>
          <p:cNvPr id="4" name="Text 1"/>
          <p:cNvSpPr/>
          <p:nvPr/>
        </p:nvSpPr>
        <p:spPr>
          <a:xfrm>
            <a:off x="548640" y="1554480"/>
            <a:ext cx="2011680" cy="960120"/>
          </a:xfrm>
          <a:prstGeom prst="roundRect">
            <a:avLst>
              <a:gd name="adj" fmla="val 5714"/>
            </a:avLst>
          </a:prstGeom>
          <a:solidFill>
            <a:schemeClr val="accent2"/>
          </a:solidFill>
          <a:ln>
            <a:solidFill>
              <a:schemeClr val="accent2"/>
            </a:solidFill>
          </a:ln>
        </p:spPr>
        <p:txBody>
          <a:bodyPr wrap="square" lIns="762" tIns="762" rIns="762" bIns="762" rtlCol="0" anchor="ctr"/>
          <a:lstStyle/>
          <a:p>
            <a:pPr algn="ctr" indent="0" marL="0">
              <a:buNone/>
            </a:pPr>
            <a:endParaRPr lang="en-US" sz="1300" dirty="0"/>
          </a:p>
        </p:txBody>
      </p:sp>
      <p:sp>
        <p:nvSpPr>
          <p:cNvPr id="5" name="Text 2"/>
          <p:cNvSpPr txBox="1"/>
          <p:nvPr/>
        </p:nvSpPr>
        <p:spPr>
          <a:xfrm>
            <a:off x="640080" y="1627632"/>
            <a:ext cx="1828800" cy="320040"/>
          </a:xfrm>
          <a:prstGeom prst="rect">
            <a:avLst/>
          </a:prstGeom>
          <a:noFill/>
          <a:ln/>
        </p:spPr>
        <p:txBody>
          <a:bodyPr wrap="square" lIns="0" tIns="0" rIns="0" bIns="0" rtlCol="0" anchor="t"/>
          <a:lstStyle/>
          <a:p>
            <a:pPr indent="0" marL="0">
              <a:buNone/>
            </a:pPr>
            <a:r>
              <a:rPr lang="en-US" sz="1400" b="1" dirty="0">
                <a:solidFill>
                  <a:schemeClr val="bg1"/>
                </a:solidFill>
              </a:rPr>
              <a:t>1  Project context</a:t>
            </a:r>
            <a:endParaRPr lang="en-US" sz="1400" dirty="0"/>
          </a:p>
        </p:txBody>
      </p:sp>
      <p:sp>
        <p:nvSpPr>
          <p:cNvPr id="6" name="Text 3"/>
          <p:cNvSpPr txBox="1"/>
          <p:nvPr/>
        </p:nvSpPr>
        <p:spPr>
          <a:xfrm>
            <a:off x="640080" y="1965960"/>
            <a:ext cx="1828800" cy="502920"/>
          </a:xfrm>
          <a:prstGeom prst="rect">
            <a:avLst/>
          </a:prstGeom>
          <a:noFill/>
          <a:ln/>
        </p:spPr>
        <p:txBody>
          <a:bodyPr wrap="square" lIns="0" tIns="0" rIns="0" bIns="0" rtlCol="0" anchor="t"/>
          <a:lstStyle/>
          <a:p>
            <a:pPr indent="0" marL="0">
              <a:buNone/>
            </a:pPr>
            <a:r>
              <a:rPr lang="en-US" sz="1200" dirty="0">
                <a:solidFill>
                  <a:schemeClr val="bg1"/>
                </a:solidFill>
              </a:rPr>
              <a:t>compact, stub,</a:t>
            </a:r>
            <a:endParaRPr lang="en-US" sz="1200" dirty="0"/>
          </a:p>
          <a:p>
            <a:pPr indent="0" marL="0">
              <a:buNone/>
            </a:pPr>
            <a:r>
              <a:rPr lang="en-US" sz="1200" dirty="0">
                <a:solidFill>
                  <a:schemeClr val="bg1"/>
                </a:solidFill>
              </a:rPr>
              <a:t>summarise</a:t>
            </a:r>
            <a:endParaRPr lang="en-US" sz="1200" dirty="0"/>
          </a:p>
        </p:txBody>
      </p:sp>
      <p:sp>
        <p:nvSpPr>
          <p:cNvPr id="7" name="Shape 4"/>
          <p:cNvSpPr/>
          <p:nvPr/>
        </p:nvSpPr>
        <p:spPr>
          <a:xfrm>
            <a:off x="2560320" y="2034540"/>
            <a:ext cx="411480" cy="0"/>
          </a:xfrm>
          <a:prstGeom prst="line">
            <a:avLst/>
          </a:prstGeom>
          <a:noFill/>
          <a:ln w="22225">
            <a:solidFill>
              <a:schemeClr val="accent3"/>
            </a:solidFill>
            <a:prstDash val="solid"/>
            <a:tailEnd type="triangle"/>
          </a:ln>
        </p:spPr>
      </p:sp>
      <p:sp>
        <p:nvSpPr>
          <p:cNvPr id="8" name="Text 5"/>
          <p:cNvSpPr/>
          <p:nvPr/>
        </p:nvSpPr>
        <p:spPr>
          <a:xfrm>
            <a:off x="2971800" y="1554480"/>
            <a:ext cx="2011680" cy="960120"/>
          </a:xfrm>
          <a:prstGeom prst="roundRect">
            <a:avLst>
              <a:gd name="adj" fmla="val 5714"/>
            </a:avLst>
          </a:prstGeom>
          <a:solidFill>
            <a:schemeClr val="accent1"/>
          </a:solidFill>
          <a:ln>
            <a:solidFill>
              <a:schemeClr val="accent1"/>
            </a:solidFill>
          </a:ln>
        </p:spPr>
        <p:txBody>
          <a:bodyPr wrap="square" lIns="762" tIns="762" rIns="762" bIns="762" rtlCol="0" anchor="ctr"/>
          <a:lstStyle/>
          <a:p>
            <a:pPr algn="ctr" indent="0" marL="0">
              <a:buNone/>
            </a:pPr>
            <a:endParaRPr lang="en-US" sz="1300" dirty="0"/>
          </a:p>
        </p:txBody>
      </p:sp>
      <p:sp>
        <p:nvSpPr>
          <p:cNvPr id="9" name="Text 6"/>
          <p:cNvSpPr txBox="1"/>
          <p:nvPr/>
        </p:nvSpPr>
        <p:spPr>
          <a:xfrm>
            <a:off x="3063240" y="1627632"/>
            <a:ext cx="1828800" cy="320040"/>
          </a:xfrm>
          <a:prstGeom prst="rect">
            <a:avLst/>
          </a:prstGeom>
          <a:noFill/>
          <a:ln/>
        </p:spPr>
        <p:txBody>
          <a:bodyPr wrap="square" lIns="0" tIns="0" rIns="0" bIns="0" rtlCol="0" anchor="t"/>
          <a:lstStyle/>
          <a:p>
            <a:pPr indent="0" marL="0">
              <a:buNone/>
            </a:pPr>
            <a:r>
              <a:rPr lang="en-US" sz="1400" b="1" dirty="0">
                <a:solidFill>
                  <a:schemeClr val="bg1"/>
                </a:solidFill>
              </a:rPr>
              <a:t>2  Guards</a:t>
            </a:r>
            <a:endParaRPr lang="en-US" sz="1400" dirty="0"/>
          </a:p>
        </p:txBody>
      </p:sp>
      <p:sp>
        <p:nvSpPr>
          <p:cNvPr id="10" name="Text 7"/>
          <p:cNvSpPr txBox="1"/>
          <p:nvPr/>
        </p:nvSpPr>
        <p:spPr>
          <a:xfrm>
            <a:off x="3063240" y="1965960"/>
            <a:ext cx="1828800" cy="502920"/>
          </a:xfrm>
          <a:prstGeom prst="rect">
            <a:avLst/>
          </a:prstGeom>
          <a:noFill/>
          <a:ln/>
        </p:spPr>
        <p:txBody>
          <a:bodyPr wrap="square" lIns="0" tIns="0" rIns="0" bIns="0" rtlCol="0" anchor="t"/>
          <a:lstStyle/>
          <a:p>
            <a:pPr indent="0" marL="0">
              <a:buNone/>
            </a:pPr>
            <a:r>
              <a:rPr lang="en-US" sz="1200" dirty="0">
                <a:solidFill>
                  <a:schemeClr val="bg1"/>
                </a:solidFill>
              </a:rPr>
              <a:t>deadlock, state budget,</a:t>
            </a:r>
            <a:endParaRPr lang="en-US" sz="1200" dirty="0"/>
          </a:p>
          <a:p>
            <a:pPr indent="0" marL="0">
              <a:buNone/>
            </a:pPr>
            <a:r>
              <a:rPr lang="en-US" sz="1200" dirty="0">
                <a:solidFill>
                  <a:schemeClr val="bg1"/>
                </a:solidFill>
              </a:rPr>
              <a:t>context budget</a:t>
            </a:r>
            <a:endParaRPr lang="en-US" sz="1200" dirty="0"/>
          </a:p>
        </p:txBody>
      </p:sp>
      <p:sp>
        <p:nvSpPr>
          <p:cNvPr id="11" name="Shape 8"/>
          <p:cNvSpPr/>
          <p:nvPr/>
        </p:nvSpPr>
        <p:spPr>
          <a:xfrm>
            <a:off x="4983480" y="2034540"/>
            <a:ext cx="411480" cy="0"/>
          </a:xfrm>
          <a:prstGeom prst="line">
            <a:avLst/>
          </a:prstGeom>
          <a:noFill/>
          <a:ln w="22225">
            <a:solidFill>
              <a:schemeClr val="accent3"/>
            </a:solidFill>
            <a:prstDash val="solid"/>
            <a:tailEnd type="triangle"/>
          </a:ln>
        </p:spPr>
      </p:sp>
      <p:sp>
        <p:nvSpPr>
          <p:cNvPr id="12" name="Text 9"/>
          <p:cNvSpPr/>
          <p:nvPr/>
        </p:nvSpPr>
        <p:spPr>
          <a:xfrm>
            <a:off x="5394960" y="1554480"/>
            <a:ext cx="2011680" cy="960120"/>
          </a:xfrm>
          <a:prstGeom prst="roundRect">
            <a:avLst>
              <a:gd name="adj" fmla="val 5714"/>
            </a:avLst>
          </a:prstGeom>
          <a:solidFill>
            <a:schemeClr val="accent4"/>
          </a:solidFill>
          <a:ln>
            <a:solidFill>
              <a:schemeClr val="accent4"/>
            </a:solidFill>
          </a:ln>
        </p:spPr>
        <p:txBody>
          <a:bodyPr wrap="square" lIns="762" tIns="762" rIns="762" bIns="762" rtlCol="0" anchor="ctr"/>
          <a:lstStyle/>
          <a:p>
            <a:pPr algn="ctr" indent="0" marL="0">
              <a:buNone/>
            </a:pPr>
            <a:endParaRPr lang="en-US" sz="1300" dirty="0"/>
          </a:p>
        </p:txBody>
      </p:sp>
      <p:sp>
        <p:nvSpPr>
          <p:cNvPr id="13" name="Text 10"/>
          <p:cNvSpPr txBox="1"/>
          <p:nvPr/>
        </p:nvSpPr>
        <p:spPr>
          <a:xfrm>
            <a:off x="5486400" y="1627632"/>
            <a:ext cx="1828800" cy="320040"/>
          </a:xfrm>
          <a:prstGeom prst="rect">
            <a:avLst/>
          </a:prstGeom>
          <a:noFill/>
          <a:ln/>
        </p:spPr>
        <p:txBody>
          <a:bodyPr wrap="square" lIns="0" tIns="0" rIns="0" bIns="0" rtlCol="0" anchor="t"/>
          <a:lstStyle/>
          <a:p>
            <a:pPr indent="0" marL="0">
              <a:buNone/>
            </a:pPr>
            <a:r>
              <a:rPr lang="en-US" sz="1400" b="1" dirty="0">
                <a:solidFill>
                  <a:schemeClr val="bg1"/>
                </a:solidFill>
              </a:rPr>
              <a:t>3  Model call</a:t>
            </a:r>
            <a:endParaRPr lang="en-US" sz="1400" dirty="0"/>
          </a:p>
        </p:txBody>
      </p:sp>
      <p:sp>
        <p:nvSpPr>
          <p:cNvPr id="14" name="Text 11"/>
          <p:cNvSpPr txBox="1"/>
          <p:nvPr/>
        </p:nvSpPr>
        <p:spPr>
          <a:xfrm>
            <a:off x="5486400" y="1965960"/>
            <a:ext cx="1828800" cy="502920"/>
          </a:xfrm>
          <a:prstGeom prst="rect">
            <a:avLst/>
          </a:prstGeom>
          <a:noFill/>
          <a:ln/>
        </p:spPr>
        <p:txBody>
          <a:bodyPr wrap="square" lIns="0" tIns="0" rIns="0" bIns="0" rtlCol="0" anchor="t"/>
          <a:lstStyle/>
          <a:p>
            <a:pPr indent="0" marL="0">
              <a:buNone/>
            </a:pPr>
            <a:r>
              <a:rPr lang="en-US" sz="1200" dirty="0">
                <a:solidFill>
                  <a:schemeClr val="bg1"/>
                </a:solidFill>
              </a:rPr>
              <a:t>watchdog, retry</a:t>
            </a:r>
            <a:endParaRPr lang="en-US" sz="1200" dirty="0"/>
          </a:p>
          <a:p>
            <a:pPr indent="0" marL="0">
              <a:buNone/>
            </a:pPr>
            <a:r>
              <a:rPr lang="en-US" sz="1200" dirty="0">
                <a:solidFill>
                  <a:schemeClr val="bg1"/>
                </a:solidFill>
              </a:rPr>
              <a:t>on 429 / 5xx</a:t>
            </a:r>
            <a:endParaRPr lang="en-US" sz="1200" dirty="0"/>
          </a:p>
        </p:txBody>
      </p:sp>
      <p:sp>
        <p:nvSpPr>
          <p:cNvPr id="15" name="Shape 12"/>
          <p:cNvSpPr/>
          <p:nvPr/>
        </p:nvSpPr>
        <p:spPr>
          <a:xfrm>
            <a:off x="7406640" y="2034540"/>
            <a:ext cx="411480" cy="0"/>
          </a:xfrm>
          <a:prstGeom prst="line">
            <a:avLst/>
          </a:prstGeom>
          <a:noFill/>
          <a:ln w="22225">
            <a:solidFill>
              <a:schemeClr val="accent3"/>
            </a:solidFill>
            <a:prstDash val="solid"/>
            <a:tailEnd type="triangle"/>
          </a:ln>
        </p:spPr>
      </p:sp>
      <p:sp>
        <p:nvSpPr>
          <p:cNvPr id="16" name="Text 13"/>
          <p:cNvSpPr/>
          <p:nvPr/>
        </p:nvSpPr>
        <p:spPr>
          <a:xfrm>
            <a:off x="7818120" y="1554480"/>
            <a:ext cx="2011680" cy="960120"/>
          </a:xfrm>
          <a:prstGeom prst="roundRect">
            <a:avLst>
              <a:gd name="adj" fmla="val 5714"/>
            </a:avLst>
          </a:prstGeom>
          <a:solidFill>
            <a:schemeClr val="accent1"/>
          </a:solidFill>
          <a:ln>
            <a:solidFill>
              <a:schemeClr val="accent1"/>
            </a:solidFill>
          </a:ln>
        </p:spPr>
        <p:txBody>
          <a:bodyPr wrap="square" lIns="762" tIns="762" rIns="762" bIns="762" rtlCol="0" anchor="ctr"/>
          <a:lstStyle/>
          <a:p>
            <a:pPr algn="ctr" indent="0" marL="0">
              <a:buNone/>
            </a:pPr>
            <a:endParaRPr lang="en-US" sz="1300" dirty="0"/>
          </a:p>
        </p:txBody>
      </p:sp>
      <p:sp>
        <p:nvSpPr>
          <p:cNvPr id="17" name="Text 14"/>
          <p:cNvSpPr txBox="1"/>
          <p:nvPr/>
        </p:nvSpPr>
        <p:spPr>
          <a:xfrm>
            <a:off x="7909560" y="1627632"/>
            <a:ext cx="1828800" cy="320040"/>
          </a:xfrm>
          <a:prstGeom prst="rect">
            <a:avLst/>
          </a:prstGeom>
          <a:noFill/>
          <a:ln/>
        </p:spPr>
        <p:txBody>
          <a:bodyPr wrap="square" lIns="0" tIns="0" rIns="0" bIns="0" rtlCol="0" anchor="t"/>
          <a:lstStyle/>
          <a:p>
            <a:pPr indent="0" marL="0">
              <a:buNone/>
            </a:pPr>
            <a:r>
              <a:rPr lang="en-US" sz="1400" b="1" dirty="0">
                <a:solidFill>
                  <a:schemeClr val="bg1"/>
                </a:solidFill>
              </a:rPr>
              <a:t>4  Validate turn</a:t>
            </a:r>
            <a:endParaRPr lang="en-US" sz="1400" dirty="0"/>
          </a:p>
        </p:txBody>
      </p:sp>
      <p:sp>
        <p:nvSpPr>
          <p:cNvPr id="18" name="Text 15"/>
          <p:cNvSpPr txBox="1"/>
          <p:nvPr/>
        </p:nvSpPr>
        <p:spPr>
          <a:xfrm>
            <a:off x="7909560" y="1965960"/>
            <a:ext cx="1828800" cy="502920"/>
          </a:xfrm>
          <a:prstGeom prst="rect">
            <a:avLst/>
          </a:prstGeom>
          <a:noFill/>
          <a:ln/>
        </p:spPr>
        <p:txBody>
          <a:bodyPr wrap="square" lIns="0" tIns="0" rIns="0" bIns="0" rtlCol="0" anchor="t"/>
          <a:lstStyle/>
          <a:p>
            <a:pPr indent="0" marL="0">
              <a:buNone/>
            </a:pPr>
            <a:r>
              <a:rPr lang="en-US" sz="1200" dirty="0">
                <a:solidFill>
                  <a:schemeClr val="bg1"/>
                </a:solidFill>
              </a:rPr>
              <a:t>shape and fields</a:t>
            </a:r>
            <a:endParaRPr lang="en-US" sz="1200" dirty="0"/>
          </a:p>
        </p:txBody>
      </p:sp>
      <p:sp>
        <p:nvSpPr>
          <p:cNvPr id="19" name="Shape 16"/>
          <p:cNvSpPr/>
          <p:nvPr/>
        </p:nvSpPr>
        <p:spPr>
          <a:xfrm>
            <a:off x="9829800" y="2034540"/>
            <a:ext cx="411480" cy="0"/>
          </a:xfrm>
          <a:prstGeom prst="line">
            <a:avLst/>
          </a:prstGeom>
          <a:noFill/>
          <a:ln w="22225">
            <a:solidFill>
              <a:schemeClr val="accent3"/>
            </a:solidFill>
            <a:prstDash val="solid"/>
            <a:tailEnd type="triangle"/>
          </a:ln>
        </p:spPr>
      </p:sp>
      <p:sp>
        <p:nvSpPr>
          <p:cNvPr id="20" name="Text 17"/>
          <p:cNvSpPr/>
          <p:nvPr/>
        </p:nvSpPr>
        <p:spPr>
          <a:xfrm>
            <a:off x="10241280" y="1554480"/>
            <a:ext cx="1417320" cy="960120"/>
          </a:xfrm>
          <a:prstGeom prst="roundRect">
            <a:avLst>
              <a:gd name="adj" fmla="val 5714"/>
            </a:avLst>
          </a:prstGeom>
          <a:solidFill>
            <a:schemeClr val="accent1"/>
          </a:solidFill>
          <a:ln>
            <a:solidFill>
              <a:schemeClr val="accent1"/>
            </a:solidFill>
          </a:ln>
        </p:spPr>
        <p:txBody>
          <a:bodyPr wrap="square" lIns="762" tIns="762" rIns="762" bIns="762" rtlCol="0" anchor="ctr"/>
          <a:lstStyle/>
          <a:p>
            <a:pPr algn="ctr" indent="0" marL="0">
              <a:buNone/>
            </a:pPr>
            <a:endParaRPr lang="en-US" sz="1300" dirty="0"/>
          </a:p>
        </p:txBody>
      </p:sp>
      <p:sp>
        <p:nvSpPr>
          <p:cNvPr id="21" name="Text 18"/>
          <p:cNvSpPr txBox="1"/>
          <p:nvPr/>
        </p:nvSpPr>
        <p:spPr>
          <a:xfrm>
            <a:off x="10332720" y="1627632"/>
            <a:ext cx="1234440" cy="320040"/>
          </a:xfrm>
          <a:prstGeom prst="rect">
            <a:avLst/>
          </a:prstGeom>
          <a:noFill/>
          <a:ln/>
        </p:spPr>
        <p:txBody>
          <a:bodyPr wrap="square" lIns="0" tIns="0" rIns="0" bIns="0" rtlCol="0" anchor="t"/>
          <a:lstStyle/>
          <a:p>
            <a:pPr indent="0" marL="0">
              <a:buNone/>
            </a:pPr>
            <a:r>
              <a:rPr lang="en-US" sz="1400" b="1" dirty="0">
                <a:solidFill>
                  <a:schemeClr val="bg1"/>
                </a:solidFill>
              </a:rPr>
              <a:t>5  Act</a:t>
            </a:r>
            <a:endParaRPr lang="en-US" sz="1400" dirty="0"/>
          </a:p>
        </p:txBody>
      </p:sp>
      <p:sp>
        <p:nvSpPr>
          <p:cNvPr id="22" name="Text 19"/>
          <p:cNvSpPr txBox="1"/>
          <p:nvPr/>
        </p:nvSpPr>
        <p:spPr>
          <a:xfrm>
            <a:off x="10332720" y="1965960"/>
            <a:ext cx="1234440" cy="502920"/>
          </a:xfrm>
          <a:prstGeom prst="rect">
            <a:avLst/>
          </a:prstGeom>
          <a:noFill/>
          <a:ln/>
        </p:spPr>
        <p:txBody>
          <a:bodyPr wrap="square" lIns="0" tIns="0" rIns="0" bIns="0" rtlCol="0" anchor="t"/>
          <a:lstStyle/>
          <a:p>
            <a:pPr indent="0" marL="0">
              <a:buNone/>
            </a:pPr>
            <a:r>
              <a:rPr lang="en-US" sz="1200" dirty="0">
                <a:solidFill>
                  <a:schemeClr val="bg1"/>
                </a:solidFill>
              </a:rPr>
              <a:t>tool batch, final,</a:t>
            </a:r>
            <a:endParaRPr lang="en-US" sz="1200" dirty="0"/>
          </a:p>
          <a:p>
            <a:pPr indent="0" marL="0">
              <a:buNone/>
            </a:pPr>
            <a:r>
              <a:rPr lang="en-US" sz="1200" dirty="0">
                <a:solidFill>
                  <a:schemeClr val="bg1"/>
                </a:solidFill>
              </a:rPr>
              <a:t>or blocked</a:t>
            </a:r>
            <a:endParaRPr lang="en-US" sz="1200" dirty="0"/>
          </a:p>
        </p:txBody>
      </p:sp>
      <p:sp>
        <p:nvSpPr>
          <p:cNvPr id="23" name="Shape 20"/>
          <p:cNvSpPr/>
          <p:nvPr/>
        </p:nvSpPr>
        <p:spPr>
          <a:xfrm>
            <a:off x="10945368" y="2514600"/>
            <a:ext cx="0" cy="594360"/>
          </a:xfrm>
          <a:prstGeom prst="line">
            <a:avLst/>
          </a:prstGeom>
          <a:noFill/>
          <a:ln w="22225">
            <a:solidFill>
              <a:schemeClr val="accent3"/>
            </a:solidFill>
            <a:prstDash val="dash"/>
            <a:tailEnd type="none"/>
          </a:ln>
        </p:spPr>
      </p:sp>
      <p:sp>
        <p:nvSpPr>
          <p:cNvPr id="24" name="Shape 21"/>
          <p:cNvSpPr/>
          <p:nvPr/>
        </p:nvSpPr>
        <p:spPr>
          <a:xfrm flipH="1">
            <a:off x="1554480" y="3108960"/>
            <a:ext cx="9390888" cy="0"/>
          </a:xfrm>
          <a:prstGeom prst="line">
            <a:avLst/>
          </a:prstGeom>
          <a:noFill/>
          <a:ln w="22225">
            <a:solidFill>
              <a:schemeClr val="accent3"/>
            </a:solidFill>
            <a:prstDash val="dash"/>
            <a:tailEnd type="none"/>
          </a:ln>
        </p:spPr>
      </p:sp>
      <p:sp>
        <p:nvSpPr>
          <p:cNvPr id="25" name="Shape 22"/>
          <p:cNvSpPr/>
          <p:nvPr/>
        </p:nvSpPr>
        <p:spPr>
          <a:xfrm flipV="1">
            <a:off x="1554480" y="2514600"/>
            <a:ext cx="0" cy="594360"/>
          </a:xfrm>
          <a:prstGeom prst="line">
            <a:avLst/>
          </a:prstGeom>
          <a:noFill/>
          <a:ln w="22225">
            <a:solidFill>
              <a:schemeClr val="accent3"/>
            </a:solidFill>
            <a:prstDash val="dash"/>
            <a:tailEnd type="triangle"/>
          </a:ln>
        </p:spPr>
      </p:sp>
      <p:sp>
        <p:nvSpPr>
          <p:cNvPr id="26" name="Text 23"/>
          <p:cNvSpPr txBox="1"/>
          <p:nvPr/>
        </p:nvSpPr>
        <p:spPr>
          <a:xfrm>
            <a:off x="2926080" y="3200400"/>
            <a:ext cx="6217920" cy="274320"/>
          </a:xfrm>
          <a:prstGeom prst="rect">
            <a:avLst/>
          </a:prstGeom>
          <a:noFill/>
          <a:ln/>
        </p:spPr>
        <p:txBody>
          <a:bodyPr wrap="square" lIns="0" tIns="0" rIns="0" bIns="0" rtlCol="0" anchor="t"/>
          <a:lstStyle/>
          <a:p>
            <a:pPr algn="ctr" indent="0" marL="0">
              <a:buNone/>
            </a:pPr>
            <a:r>
              <a:rPr lang="en-US" sz="1200" dirty="0">
                <a:solidFill>
                  <a:schemeClr val="accent3"/>
                </a:solidFill>
              </a:rPr>
              <a:t>tool results become observations, episodes and state transitions, then the next iteration</a:t>
            </a:r>
            <a:endParaRPr lang="en-US" sz="1200" dirty="0"/>
          </a:p>
        </p:txBody>
      </p:sp>
      <p:sp>
        <p:nvSpPr>
          <p:cNvPr id="27" name="Text 24"/>
          <p:cNvSpPr txBox="1"/>
          <p:nvPr/>
        </p:nvSpPr>
        <p:spPr>
          <a:xfrm>
            <a:off x="548640" y="3931920"/>
            <a:ext cx="274320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Exits</a:t>
            </a:r>
            <a:endParaRPr lang="en-US" sz="1800" dirty="0"/>
          </a:p>
        </p:txBody>
      </p:sp>
      <p:sp>
        <p:nvSpPr>
          <p:cNvPr id="28" name="Shape 25"/>
          <p:cNvSpPr/>
          <p:nvPr/>
        </p:nvSpPr>
        <p:spPr>
          <a:xfrm>
            <a:off x="548640" y="4434840"/>
            <a:ext cx="2606040" cy="1508760"/>
          </a:xfrm>
          <a:prstGeom prst="roundRect">
            <a:avLst>
              <a:gd name="adj" fmla="val 3636"/>
            </a:avLst>
          </a:prstGeom>
          <a:solidFill>
            <a:schemeClr val="bg2"/>
          </a:solidFill>
          <a:ln w="12700">
            <a:solidFill>
              <a:schemeClr val="bg2"/>
            </a:solidFill>
            <a:prstDash val="solid"/>
          </a:ln>
        </p:spPr>
      </p:sp>
      <p:sp>
        <p:nvSpPr>
          <p:cNvPr id="29" name="Shape 26"/>
          <p:cNvSpPr/>
          <p:nvPr/>
        </p:nvSpPr>
        <p:spPr>
          <a:xfrm>
            <a:off x="731520" y="4617720"/>
            <a:ext cx="228600" cy="228600"/>
          </a:xfrm>
          <a:prstGeom prst="ellipse">
            <a:avLst/>
          </a:prstGeom>
          <a:solidFill>
            <a:schemeClr val="accent1"/>
          </a:solidFill>
          <a:ln w="12700">
            <a:solidFill>
              <a:schemeClr val="accent1"/>
            </a:solidFill>
            <a:prstDash val="solid"/>
          </a:ln>
        </p:spPr>
      </p:sp>
      <p:sp>
        <p:nvSpPr>
          <p:cNvPr id="30" name="Text 27"/>
          <p:cNvSpPr txBox="1"/>
          <p:nvPr/>
        </p:nvSpPr>
        <p:spPr>
          <a:xfrm>
            <a:off x="1051560" y="4590288"/>
            <a:ext cx="2011680" cy="274320"/>
          </a:xfrm>
          <a:prstGeom prst="rect">
            <a:avLst/>
          </a:prstGeom>
          <a:noFill/>
          <a:ln/>
        </p:spPr>
        <p:txBody>
          <a:bodyPr wrap="square" lIns="0" tIns="0" rIns="0" bIns="0" rtlCol="0" anchor="t"/>
          <a:lstStyle/>
          <a:p>
            <a:pPr indent="0" marL="0">
              <a:buNone/>
            </a:pPr>
            <a:r>
              <a:rPr lang="en-US" sz="1400" b="1" dirty="0">
                <a:solidFill>
                  <a:schemeClr val="tx1"/>
                </a:solidFill>
              </a:rPr>
              <a:t>COMPLETED</a:t>
            </a:r>
            <a:endParaRPr lang="en-US" sz="1400" dirty="0"/>
          </a:p>
        </p:txBody>
      </p:sp>
      <p:sp>
        <p:nvSpPr>
          <p:cNvPr id="31" name="Text 28"/>
          <p:cNvSpPr txBox="1"/>
          <p:nvPr/>
        </p:nvSpPr>
        <p:spPr>
          <a:xfrm>
            <a:off x="731520" y="4983480"/>
            <a:ext cx="2286000" cy="914400"/>
          </a:xfrm>
          <a:prstGeom prst="rect">
            <a:avLst/>
          </a:prstGeom>
          <a:noFill/>
          <a:ln/>
        </p:spPr>
        <p:txBody>
          <a:bodyPr wrap="square" lIns="0" tIns="0" rIns="0" bIns="0" rtlCol="0" anchor="t"/>
          <a:lstStyle/>
          <a:p>
            <a:pPr indent="0" marL="0">
              <a:buNone/>
            </a:pPr>
            <a:r>
              <a:rPr lang="en-US" sz="1200" dirty="0">
                <a:solidFill>
                  <a:schemeClr val="tx1"/>
                </a:solidFill>
              </a:rPr>
              <a:t>output schema ok and the registered verification gate accepts</a:t>
            </a:r>
            <a:endParaRPr lang="en-US" sz="1200" dirty="0"/>
          </a:p>
        </p:txBody>
      </p:sp>
      <p:sp>
        <p:nvSpPr>
          <p:cNvPr id="32" name="Shape 29"/>
          <p:cNvSpPr/>
          <p:nvPr/>
        </p:nvSpPr>
        <p:spPr>
          <a:xfrm>
            <a:off x="3337560" y="4434840"/>
            <a:ext cx="2606040" cy="1508760"/>
          </a:xfrm>
          <a:prstGeom prst="roundRect">
            <a:avLst>
              <a:gd name="adj" fmla="val 3636"/>
            </a:avLst>
          </a:prstGeom>
          <a:solidFill>
            <a:schemeClr val="bg2"/>
          </a:solidFill>
          <a:ln w="12700">
            <a:solidFill>
              <a:schemeClr val="bg2"/>
            </a:solidFill>
            <a:prstDash val="solid"/>
          </a:ln>
        </p:spPr>
      </p:sp>
      <p:sp>
        <p:nvSpPr>
          <p:cNvPr id="33" name="Shape 30"/>
          <p:cNvSpPr/>
          <p:nvPr/>
        </p:nvSpPr>
        <p:spPr>
          <a:xfrm>
            <a:off x="3520440" y="4617720"/>
            <a:ext cx="228600" cy="228600"/>
          </a:xfrm>
          <a:prstGeom prst="ellipse">
            <a:avLst/>
          </a:prstGeom>
          <a:solidFill>
            <a:schemeClr val="accent2"/>
          </a:solidFill>
          <a:ln w="12700">
            <a:solidFill>
              <a:schemeClr val="accent2"/>
            </a:solidFill>
            <a:prstDash val="solid"/>
          </a:ln>
        </p:spPr>
      </p:sp>
      <p:sp>
        <p:nvSpPr>
          <p:cNvPr id="34" name="Text 31"/>
          <p:cNvSpPr txBox="1"/>
          <p:nvPr/>
        </p:nvSpPr>
        <p:spPr>
          <a:xfrm>
            <a:off x="3840480" y="4590288"/>
            <a:ext cx="2011680" cy="274320"/>
          </a:xfrm>
          <a:prstGeom prst="rect">
            <a:avLst/>
          </a:prstGeom>
          <a:noFill/>
          <a:ln/>
        </p:spPr>
        <p:txBody>
          <a:bodyPr wrap="square" lIns="0" tIns="0" rIns="0" bIns="0" rtlCol="0" anchor="t"/>
          <a:lstStyle/>
          <a:p>
            <a:pPr indent="0" marL="0">
              <a:buNone/>
            </a:pPr>
            <a:r>
              <a:rPr lang="en-US" sz="1400" b="1" dirty="0">
                <a:solidFill>
                  <a:schemeClr val="tx1"/>
                </a:solidFill>
              </a:rPr>
              <a:t>BLOCKED</a:t>
            </a:r>
            <a:endParaRPr lang="en-US" sz="1400" dirty="0"/>
          </a:p>
        </p:txBody>
      </p:sp>
      <p:sp>
        <p:nvSpPr>
          <p:cNvPr id="35" name="Text 32"/>
          <p:cNvSpPr txBox="1"/>
          <p:nvPr/>
        </p:nvSpPr>
        <p:spPr>
          <a:xfrm>
            <a:off x="3520440" y="4983480"/>
            <a:ext cx="2286000" cy="914400"/>
          </a:xfrm>
          <a:prstGeom prst="rect">
            <a:avLst/>
          </a:prstGeom>
          <a:noFill/>
          <a:ln/>
        </p:spPr>
        <p:txBody>
          <a:bodyPr wrap="square" lIns="0" tIns="0" rIns="0" bIns="0" rtlCol="0" anchor="t"/>
          <a:lstStyle/>
          <a:p>
            <a:pPr indent="0" marL="0">
              <a:buNone/>
            </a:pPr>
            <a:r>
              <a:rPr lang="en-US" sz="1200" dirty="0">
                <a:solidFill>
                  <a:schemeClr val="tx1"/>
                </a:solidFill>
              </a:rPr>
              <a:t>a guard, a denied or pending approval, or the model said blocked</a:t>
            </a:r>
            <a:endParaRPr lang="en-US" sz="1200" dirty="0"/>
          </a:p>
        </p:txBody>
      </p:sp>
      <p:sp>
        <p:nvSpPr>
          <p:cNvPr id="36" name="Shape 33"/>
          <p:cNvSpPr/>
          <p:nvPr/>
        </p:nvSpPr>
        <p:spPr>
          <a:xfrm>
            <a:off x="6126480" y="4434840"/>
            <a:ext cx="2606040" cy="1508760"/>
          </a:xfrm>
          <a:prstGeom prst="roundRect">
            <a:avLst>
              <a:gd name="adj" fmla="val 3636"/>
            </a:avLst>
          </a:prstGeom>
          <a:solidFill>
            <a:schemeClr val="bg2"/>
          </a:solidFill>
          <a:ln w="12700">
            <a:solidFill>
              <a:schemeClr val="bg2"/>
            </a:solidFill>
            <a:prstDash val="solid"/>
          </a:ln>
        </p:spPr>
      </p:sp>
      <p:sp>
        <p:nvSpPr>
          <p:cNvPr id="37" name="Shape 34"/>
          <p:cNvSpPr/>
          <p:nvPr/>
        </p:nvSpPr>
        <p:spPr>
          <a:xfrm>
            <a:off x="6309360" y="4617720"/>
            <a:ext cx="228600" cy="228600"/>
          </a:xfrm>
          <a:prstGeom prst="ellipse">
            <a:avLst/>
          </a:prstGeom>
          <a:solidFill>
            <a:schemeClr val="accent4"/>
          </a:solidFill>
          <a:ln w="12700">
            <a:solidFill>
              <a:schemeClr val="accent4"/>
            </a:solidFill>
            <a:prstDash val="solid"/>
          </a:ln>
        </p:spPr>
      </p:sp>
      <p:sp>
        <p:nvSpPr>
          <p:cNvPr id="38" name="Text 35"/>
          <p:cNvSpPr txBox="1"/>
          <p:nvPr/>
        </p:nvSpPr>
        <p:spPr>
          <a:xfrm>
            <a:off x="6629400" y="4590288"/>
            <a:ext cx="2011680" cy="274320"/>
          </a:xfrm>
          <a:prstGeom prst="rect">
            <a:avLst/>
          </a:prstGeom>
          <a:noFill/>
          <a:ln/>
        </p:spPr>
        <p:txBody>
          <a:bodyPr wrap="square" lIns="0" tIns="0" rIns="0" bIns="0" rtlCol="0" anchor="t"/>
          <a:lstStyle/>
          <a:p>
            <a:pPr indent="0" marL="0">
              <a:buNone/>
            </a:pPr>
            <a:r>
              <a:rPr lang="en-US" sz="1400" b="1" dirty="0">
                <a:solidFill>
                  <a:schemeClr val="tx1"/>
                </a:solidFill>
              </a:rPr>
              <a:t>FAILED</a:t>
            </a:r>
            <a:endParaRPr lang="en-US" sz="1400" dirty="0"/>
          </a:p>
        </p:txBody>
      </p:sp>
      <p:sp>
        <p:nvSpPr>
          <p:cNvPr id="39" name="Text 36"/>
          <p:cNvSpPr txBox="1"/>
          <p:nvPr/>
        </p:nvSpPr>
        <p:spPr>
          <a:xfrm>
            <a:off x="6309360" y="4983480"/>
            <a:ext cx="2286000" cy="914400"/>
          </a:xfrm>
          <a:prstGeom prst="rect">
            <a:avLst/>
          </a:prstGeom>
          <a:noFill/>
          <a:ln/>
        </p:spPr>
        <p:txBody>
          <a:bodyPr wrap="square" lIns="0" tIns="0" rIns="0" bIns="0" rtlCol="0" anchor="t"/>
          <a:lstStyle/>
          <a:p>
            <a:pPr indent="0" marL="0">
              <a:buNone/>
            </a:pPr>
            <a:r>
              <a:rPr lang="en-US" sz="1200" dirty="0">
                <a:solidFill>
                  <a:schemeClr val="tx1"/>
                </a:solidFill>
              </a:rPr>
              <a:t>deadline, invalid turn, undeclared tool, gate rejection; typed code with numbers</a:t>
            </a:r>
            <a:endParaRPr lang="en-US" sz="1200" dirty="0"/>
          </a:p>
        </p:txBody>
      </p:sp>
      <p:sp>
        <p:nvSpPr>
          <p:cNvPr id="40" name="Shape 37"/>
          <p:cNvSpPr/>
          <p:nvPr/>
        </p:nvSpPr>
        <p:spPr>
          <a:xfrm>
            <a:off x="8915400" y="4434840"/>
            <a:ext cx="2606040" cy="1508760"/>
          </a:xfrm>
          <a:prstGeom prst="roundRect">
            <a:avLst>
              <a:gd name="adj" fmla="val 3636"/>
            </a:avLst>
          </a:prstGeom>
          <a:solidFill>
            <a:schemeClr val="bg2"/>
          </a:solidFill>
          <a:ln w="12700">
            <a:solidFill>
              <a:schemeClr val="bg2"/>
            </a:solidFill>
            <a:prstDash val="solid"/>
          </a:ln>
        </p:spPr>
      </p:sp>
      <p:sp>
        <p:nvSpPr>
          <p:cNvPr id="41" name="Shape 38"/>
          <p:cNvSpPr/>
          <p:nvPr/>
        </p:nvSpPr>
        <p:spPr>
          <a:xfrm>
            <a:off x="9098280" y="4617720"/>
            <a:ext cx="228600" cy="228600"/>
          </a:xfrm>
          <a:prstGeom prst="ellipse">
            <a:avLst/>
          </a:prstGeom>
          <a:solidFill>
            <a:schemeClr val="accent3"/>
          </a:solidFill>
          <a:ln w="12700">
            <a:solidFill>
              <a:schemeClr val="accent3"/>
            </a:solidFill>
            <a:prstDash val="solid"/>
          </a:ln>
        </p:spPr>
      </p:sp>
      <p:sp>
        <p:nvSpPr>
          <p:cNvPr id="42" name="Text 39"/>
          <p:cNvSpPr txBox="1"/>
          <p:nvPr/>
        </p:nvSpPr>
        <p:spPr>
          <a:xfrm>
            <a:off x="9418320" y="4590288"/>
            <a:ext cx="2011680" cy="274320"/>
          </a:xfrm>
          <a:prstGeom prst="rect">
            <a:avLst/>
          </a:prstGeom>
          <a:noFill/>
          <a:ln/>
        </p:spPr>
        <p:txBody>
          <a:bodyPr wrap="square" lIns="0" tIns="0" rIns="0" bIns="0" rtlCol="0" anchor="t"/>
          <a:lstStyle/>
          <a:p>
            <a:pPr indent="0" marL="0">
              <a:buNone/>
            </a:pPr>
            <a:r>
              <a:rPr lang="en-US" sz="1400" b="1" dirty="0">
                <a:solidFill>
                  <a:schemeClr val="tx1"/>
                </a:solidFill>
              </a:rPr>
              <a:t>CANCELLED</a:t>
            </a:r>
            <a:endParaRPr lang="en-US" sz="1400" dirty="0"/>
          </a:p>
        </p:txBody>
      </p:sp>
      <p:sp>
        <p:nvSpPr>
          <p:cNvPr id="43" name="Text 40"/>
          <p:cNvSpPr txBox="1"/>
          <p:nvPr/>
        </p:nvSpPr>
        <p:spPr>
          <a:xfrm>
            <a:off x="9098280" y="4983480"/>
            <a:ext cx="2286000" cy="914400"/>
          </a:xfrm>
          <a:prstGeom prst="rect">
            <a:avLst/>
          </a:prstGeom>
          <a:noFill/>
          <a:ln/>
        </p:spPr>
        <p:txBody>
          <a:bodyPr wrap="square" lIns="0" tIns="0" rIns="0" bIns="0" rtlCol="0" anchor="t"/>
          <a:lstStyle/>
          <a:p>
            <a:pPr indent="0" marL="0">
              <a:buNone/>
            </a:pPr>
            <a:r>
              <a:rPr lang="en-US" sz="1200" dirty="0">
                <a:solidFill>
                  <a:schemeClr val="tx1"/>
                </a:solidFill>
              </a:rPr>
              <a:t>caller cancelled; the in-flight model or tool call is interrupted</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3000" b="1" dirty="0">
                <a:solidFill>
                  <a:schemeClr val="tx1"/>
                </a:solidFill>
              </a:rPr>
              <a:t>Memory 1/3: from a growing transcript to episodes, and what is still missing</a:t>
            </a:r>
            <a:endParaRPr lang="en-US" sz="3000" dirty="0"/>
          </a:p>
        </p:txBody>
      </p:sp>
      <p:sp>
        <p:nvSpPr>
          <p:cNvPr id="4" name="Shape 1"/>
          <p:cNvSpPr/>
          <p:nvPr/>
        </p:nvSpPr>
        <p:spPr>
          <a:xfrm>
            <a:off x="548640" y="1463040"/>
            <a:ext cx="3566160" cy="3520440"/>
          </a:xfrm>
          <a:prstGeom prst="roundRect">
            <a:avLst>
              <a:gd name="adj" fmla="val 2078"/>
            </a:avLst>
          </a:prstGeom>
          <a:solidFill>
            <a:schemeClr val="bg2"/>
          </a:solidFill>
          <a:ln w="12700">
            <a:solidFill>
              <a:schemeClr val="bg2"/>
            </a:solidFill>
            <a:prstDash val="solid"/>
          </a:ln>
        </p:spPr>
      </p:sp>
      <p:sp>
        <p:nvSpPr>
          <p:cNvPr id="5" name="Shape 2"/>
          <p:cNvSpPr/>
          <p:nvPr/>
        </p:nvSpPr>
        <p:spPr>
          <a:xfrm>
            <a:off x="777240" y="1645920"/>
            <a:ext cx="457200" cy="457200"/>
          </a:xfrm>
          <a:prstGeom prst="ellipse">
            <a:avLst/>
          </a:prstGeom>
          <a:solidFill>
            <a:schemeClr val="accent3"/>
          </a:solidFill>
          <a:ln w="12700">
            <a:solidFill>
              <a:schemeClr val="accent3"/>
            </a:solidFill>
            <a:prstDash val="solid"/>
          </a:ln>
        </p:spPr>
      </p:sp>
      <p:sp>
        <p:nvSpPr>
          <p:cNvPr id="6" name="Text 3"/>
          <p:cNvSpPr txBox="1"/>
          <p:nvPr/>
        </p:nvSpPr>
        <p:spPr>
          <a:xfrm>
            <a:off x="777240"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645920"/>
            <a:ext cx="265176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Textual context</a:t>
            </a:r>
            <a:endParaRPr lang="en-US" sz="2000" dirty="0"/>
          </a:p>
        </p:txBody>
      </p:sp>
      <p:sp>
        <p:nvSpPr>
          <p:cNvPr id="8" name="Text 5"/>
          <p:cNvSpPr txBox="1"/>
          <p:nvPr/>
        </p:nvSpPr>
        <p:spPr>
          <a:xfrm>
            <a:off x="777240" y="2331720"/>
            <a:ext cx="3108960" cy="228600"/>
          </a:xfrm>
          <a:prstGeom prst="rect">
            <a:avLst/>
          </a:prstGeom>
          <a:noFill/>
          <a:ln/>
        </p:spPr>
        <p:txBody>
          <a:bodyPr wrap="square" lIns="0" tIns="0" rIns="0" bIns="0" rtlCol="0" anchor="t"/>
          <a:lstStyle/>
          <a:p>
            <a:pPr indent="0" marL="0">
              <a:buNone/>
            </a:pPr>
            <a:r>
              <a:rPr lang="en-US" sz="1100" b="1" dirty="0">
                <a:solidFill>
                  <a:schemeClr val="accent3"/>
                </a:solidFill>
              </a:rPr>
              <a:t>What it does</a:t>
            </a:r>
            <a:endParaRPr lang="en-US" sz="1100" dirty="0"/>
          </a:p>
        </p:txBody>
      </p:sp>
      <p:sp>
        <p:nvSpPr>
          <p:cNvPr id="9" name="Text 6"/>
          <p:cNvSpPr txBox="1"/>
          <p:nvPr/>
        </p:nvSpPr>
        <p:spPr>
          <a:xfrm>
            <a:off x="777240" y="2606040"/>
            <a:ext cx="3108960" cy="914400"/>
          </a:xfrm>
          <a:prstGeom prst="rect">
            <a:avLst/>
          </a:prstGeom>
          <a:noFill/>
          <a:ln/>
        </p:spPr>
        <p:txBody>
          <a:bodyPr wrap="square" lIns="0" tIns="0" rIns="0" bIns="0" rtlCol="0" anchor="t"/>
          <a:lstStyle/>
          <a:p>
            <a:pPr indent="0" marL="0">
              <a:buNone/>
            </a:pPr>
            <a:r>
              <a:rPr lang="en-US" sz="1300" dirty="0">
                <a:solidFill>
                  <a:schemeClr val="tx1"/>
                </a:solidFill>
              </a:rPr>
              <a:t>Everything in the prompt; when full, truncate or let a model rewrite the older part as a paragraph.</a:t>
            </a:r>
            <a:endParaRPr lang="en-US" sz="1300" dirty="0"/>
          </a:p>
        </p:txBody>
      </p:sp>
      <p:sp>
        <p:nvSpPr>
          <p:cNvPr id="10" name="Text 7"/>
          <p:cNvSpPr txBox="1"/>
          <p:nvPr/>
        </p:nvSpPr>
        <p:spPr>
          <a:xfrm>
            <a:off x="777240" y="3611880"/>
            <a:ext cx="3108960" cy="228600"/>
          </a:xfrm>
          <a:prstGeom prst="rect">
            <a:avLst/>
          </a:prstGeom>
          <a:noFill/>
          <a:ln/>
        </p:spPr>
        <p:txBody>
          <a:bodyPr wrap="square" lIns="0" tIns="0" rIns="0" bIns="0" rtlCol="0" anchor="t"/>
          <a:lstStyle/>
          <a:p>
            <a:pPr indent="0" marL="0">
              <a:buNone/>
            </a:pPr>
            <a:r>
              <a:rPr lang="en-US" sz="1100" b="1" dirty="0">
                <a:solidFill>
                  <a:schemeClr val="accent4"/>
                </a:solidFill>
              </a:rPr>
              <a:t>Where it breaks</a:t>
            </a:r>
            <a:endParaRPr lang="en-US" sz="1100" dirty="0"/>
          </a:p>
        </p:txBody>
      </p:sp>
      <p:sp>
        <p:nvSpPr>
          <p:cNvPr id="11" name="Text 8"/>
          <p:cNvSpPr txBox="1"/>
          <p:nvPr/>
        </p:nvSpPr>
        <p:spPr>
          <a:xfrm>
            <a:off x="777240" y="3886200"/>
            <a:ext cx="3108960" cy="1005840"/>
          </a:xfrm>
          <a:prstGeom prst="rect">
            <a:avLst/>
          </a:prstGeom>
          <a:noFill/>
          <a:ln/>
        </p:spPr>
        <p:txBody>
          <a:bodyPr wrap="square" lIns="0" tIns="0" rIns="0" bIns="0" rtlCol="0" anchor="t"/>
          <a:lstStyle/>
          <a:p>
            <a:pPr indent="0" marL="0">
              <a:buNone/>
            </a:pPr>
            <a:r>
              <a:rPr lang="en-US" sz="1300" dirty="0">
                <a:solidFill>
                  <a:schemeClr val="tx1"/>
                </a:solidFill>
              </a:rPr>
              <a:t>Lossy and unverifiable. The original is gone, so a wrong summary and a right one look the same.</a:t>
            </a:r>
            <a:endParaRPr lang="en-US" sz="1300" dirty="0"/>
          </a:p>
        </p:txBody>
      </p:sp>
      <p:sp>
        <p:nvSpPr>
          <p:cNvPr id="12" name="Shape 9"/>
          <p:cNvSpPr/>
          <p:nvPr/>
        </p:nvSpPr>
        <p:spPr>
          <a:xfrm>
            <a:off x="4114800" y="3200400"/>
            <a:ext cx="228600" cy="0"/>
          </a:xfrm>
          <a:prstGeom prst="line">
            <a:avLst/>
          </a:prstGeom>
          <a:noFill/>
          <a:ln w="22225">
            <a:solidFill>
              <a:schemeClr val="accent3"/>
            </a:solidFill>
            <a:prstDash val="solid"/>
            <a:tailEnd type="triangle"/>
          </a:ln>
        </p:spPr>
      </p:sp>
      <p:sp>
        <p:nvSpPr>
          <p:cNvPr id="13" name="Shape 10"/>
          <p:cNvSpPr/>
          <p:nvPr/>
        </p:nvSpPr>
        <p:spPr>
          <a:xfrm>
            <a:off x="4343400" y="1463040"/>
            <a:ext cx="3566160" cy="3520440"/>
          </a:xfrm>
          <a:prstGeom prst="roundRect">
            <a:avLst>
              <a:gd name="adj" fmla="val 2078"/>
            </a:avLst>
          </a:prstGeom>
          <a:solidFill>
            <a:schemeClr val="bg2"/>
          </a:solidFill>
          <a:ln w="12700">
            <a:solidFill>
              <a:schemeClr val="bg2"/>
            </a:solidFill>
            <a:prstDash val="solid"/>
          </a:ln>
        </p:spPr>
      </p:sp>
      <p:sp>
        <p:nvSpPr>
          <p:cNvPr id="14" name="Shape 11"/>
          <p:cNvSpPr/>
          <p:nvPr/>
        </p:nvSpPr>
        <p:spPr>
          <a:xfrm>
            <a:off x="4572000" y="1645920"/>
            <a:ext cx="457200" cy="457200"/>
          </a:xfrm>
          <a:prstGeom prst="ellipse">
            <a:avLst/>
          </a:prstGeom>
          <a:solidFill>
            <a:schemeClr val="accent5"/>
          </a:solidFill>
          <a:ln w="12700">
            <a:solidFill>
              <a:schemeClr val="accent5"/>
            </a:solidFill>
            <a:prstDash val="solid"/>
          </a:ln>
        </p:spPr>
      </p:sp>
      <p:sp>
        <p:nvSpPr>
          <p:cNvPr id="15" name="Text 12"/>
          <p:cNvSpPr txBox="1"/>
          <p:nvPr/>
        </p:nvSpPr>
        <p:spPr>
          <a:xfrm>
            <a:off x="4572000"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6" name="Text 13"/>
          <p:cNvSpPr txBox="1"/>
          <p:nvPr/>
        </p:nvSpPr>
        <p:spPr>
          <a:xfrm>
            <a:off x="5166360" y="1645920"/>
            <a:ext cx="265176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Retrieval memory</a:t>
            </a:r>
            <a:endParaRPr lang="en-US" sz="2000" dirty="0"/>
          </a:p>
        </p:txBody>
      </p:sp>
      <p:sp>
        <p:nvSpPr>
          <p:cNvPr id="17" name="Text 14"/>
          <p:cNvSpPr txBox="1"/>
          <p:nvPr/>
        </p:nvSpPr>
        <p:spPr>
          <a:xfrm>
            <a:off x="4572000" y="2331720"/>
            <a:ext cx="3108960" cy="228600"/>
          </a:xfrm>
          <a:prstGeom prst="rect">
            <a:avLst/>
          </a:prstGeom>
          <a:noFill/>
          <a:ln/>
        </p:spPr>
        <p:txBody>
          <a:bodyPr wrap="square" lIns="0" tIns="0" rIns="0" bIns="0" rtlCol="0" anchor="t"/>
          <a:lstStyle/>
          <a:p>
            <a:pPr indent="0" marL="0">
              <a:buNone/>
            </a:pPr>
            <a:r>
              <a:rPr lang="en-US" sz="1100" b="1" dirty="0">
                <a:solidFill>
                  <a:schemeClr val="accent3"/>
                </a:solidFill>
              </a:rPr>
              <a:t>What it does</a:t>
            </a:r>
            <a:endParaRPr lang="en-US" sz="1100" dirty="0"/>
          </a:p>
        </p:txBody>
      </p:sp>
      <p:sp>
        <p:nvSpPr>
          <p:cNvPr id="18" name="Text 15"/>
          <p:cNvSpPr txBox="1"/>
          <p:nvPr/>
        </p:nvSpPr>
        <p:spPr>
          <a:xfrm>
            <a:off x="4572000" y="2606040"/>
            <a:ext cx="3108960" cy="914400"/>
          </a:xfrm>
          <a:prstGeom prst="rect">
            <a:avLst/>
          </a:prstGeom>
          <a:noFill/>
          <a:ln/>
        </p:spPr>
        <p:txBody>
          <a:bodyPr wrap="square" lIns="0" tIns="0" rIns="0" bIns="0" rtlCol="0" anchor="t"/>
          <a:lstStyle/>
          <a:p>
            <a:pPr indent="0" marL="0">
              <a:buNone/>
            </a:pPr>
            <a:r>
              <a:rPr lang="en-US" sz="1300" dirty="0">
                <a:solidFill>
                  <a:schemeClr val="tx1"/>
                </a:solidFill>
              </a:rPr>
              <a:t>Chunks in a vector store, fetched by similarity to the current query.</a:t>
            </a:r>
            <a:endParaRPr lang="en-US" sz="1300" dirty="0"/>
          </a:p>
        </p:txBody>
      </p:sp>
      <p:sp>
        <p:nvSpPr>
          <p:cNvPr id="19" name="Text 16"/>
          <p:cNvSpPr txBox="1"/>
          <p:nvPr/>
        </p:nvSpPr>
        <p:spPr>
          <a:xfrm>
            <a:off x="4572000" y="3611880"/>
            <a:ext cx="3108960" cy="228600"/>
          </a:xfrm>
          <a:prstGeom prst="rect">
            <a:avLst/>
          </a:prstGeom>
          <a:noFill/>
          <a:ln/>
        </p:spPr>
        <p:txBody>
          <a:bodyPr wrap="square" lIns="0" tIns="0" rIns="0" bIns="0" rtlCol="0" anchor="t"/>
          <a:lstStyle/>
          <a:p>
            <a:pPr indent="0" marL="0">
              <a:buNone/>
            </a:pPr>
            <a:r>
              <a:rPr lang="en-US" sz="1100" b="1" dirty="0">
                <a:solidFill>
                  <a:schemeClr val="accent4"/>
                </a:solidFill>
              </a:rPr>
              <a:t>Where it breaks</a:t>
            </a:r>
            <a:endParaRPr lang="en-US" sz="1100" dirty="0"/>
          </a:p>
        </p:txBody>
      </p:sp>
      <p:sp>
        <p:nvSpPr>
          <p:cNvPr id="20" name="Text 17"/>
          <p:cNvSpPr txBox="1"/>
          <p:nvPr/>
        </p:nvSpPr>
        <p:spPr>
          <a:xfrm>
            <a:off x="4572000" y="3886200"/>
            <a:ext cx="3108960" cy="1005840"/>
          </a:xfrm>
          <a:prstGeom prst="rect">
            <a:avLst/>
          </a:prstGeom>
          <a:noFill/>
          <a:ln/>
        </p:spPr>
        <p:txBody>
          <a:bodyPr wrap="square" lIns="0" tIns="0" rIns="0" bIns="0" rtlCol="0" anchor="t"/>
          <a:lstStyle/>
          <a:p>
            <a:pPr indent="0" marL="0">
              <a:buNone/>
            </a:pPr>
            <a:r>
              <a:rPr lang="en-US" sz="1300" dirty="0">
                <a:solidFill>
                  <a:schemeClr val="tx1"/>
                </a:solidFill>
              </a:rPr>
              <a:t>Chunks carry no structure: what was observed, what was done because of it, and what depended on what is lost.</a:t>
            </a:r>
            <a:endParaRPr lang="en-US" sz="1300" dirty="0"/>
          </a:p>
        </p:txBody>
      </p:sp>
      <p:sp>
        <p:nvSpPr>
          <p:cNvPr id="21" name="Shape 18"/>
          <p:cNvSpPr/>
          <p:nvPr/>
        </p:nvSpPr>
        <p:spPr>
          <a:xfrm>
            <a:off x="7909560" y="3200400"/>
            <a:ext cx="228600" cy="0"/>
          </a:xfrm>
          <a:prstGeom prst="line">
            <a:avLst/>
          </a:prstGeom>
          <a:noFill/>
          <a:ln w="22225">
            <a:solidFill>
              <a:schemeClr val="accent3"/>
            </a:solidFill>
            <a:prstDash val="solid"/>
            <a:tailEnd type="triangle"/>
          </a:ln>
        </p:spPr>
      </p:sp>
      <p:sp>
        <p:nvSpPr>
          <p:cNvPr id="22" name="Shape 19"/>
          <p:cNvSpPr/>
          <p:nvPr/>
        </p:nvSpPr>
        <p:spPr>
          <a:xfrm>
            <a:off x="8138160" y="1463040"/>
            <a:ext cx="3566160" cy="3520440"/>
          </a:xfrm>
          <a:prstGeom prst="roundRect">
            <a:avLst>
              <a:gd name="adj" fmla="val 2078"/>
            </a:avLst>
          </a:prstGeom>
          <a:solidFill>
            <a:schemeClr val="bg2"/>
          </a:solidFill>
          <a:ln w="12700">
            <a:solidFill>
              <a:schemeClr val="bg2"/>
            </a:solidFill>
            <a:prstDash val="solid"/>
          </a:ln>
        </p:spPr>
      </p:sp>
      <p:sp>
        <p:nvSpPr>
          <p:cNvPr id="23" name="Shape 20"/>
          <p:cNvSpPr/>
          <p:nvPr/>
        </p:nvSpPr>
        <p:spPr>
          <a:xfrm>
            <a:off x="8366760" y="1645920"/>
            <a:ext cx="457200" cy="457200"/>
          </a:xfrm>
          <a:prstGeom prst="ellipse">
            <a:avLst/>
          </a:prstGeom>
          <a:solidFill>
            <a:schemeClr val="accent1"/>
          </a:solidFill>
          <a:ln w="12700">
            <a:solidFill>
              <a:schemeClr val="accent1"/>
            </a:solidFill>
            <a:prstDash val="solid"/>
          </a:ln>
        </p:spPr>
      </p:sp>
      <p:sp>
        <p:nvSpPr>
          <p:cNvPr id="24" name="Text 21"/>
          <p:cNvSpPr txBox="1"/>
          <p:nvPr/>
        </p:nvSpPr>
        <p:spPr>
          <a:xfrm>
            <a:off x="8366760"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5" name="Text 22"/>
          <p:cNvSpPr txBox="1"/>
          <p:nvPr/>
        </p:nvSpPr>
        <p:spPr>
          <a:xfrm>
            <a:off x="8961120" y="1645920"/>
            <a:ext cx="265176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Episodic memory</a:t>
            </a:r>
            <a:endParaRPr lang="en-US" sz="2000" dirty="0"/>
          </a:p>
        </p:txBody>
      </p:sp>
      <p:sp>
        <p:nvSpPr>
          <p:cNvPr id="26" name="Text 23"/>
          <p:cNvSpPr txBox="1"/>
          <p:nvPr/>
        </p:nvSpPr>
        <p:spPr>
          <a:xfrm>
            <a:off x="8366760" y="2331720"/>
            <a:ext cx="3108960" cy="228600"/>
          </a:xfrm>
          <a:prstGeom prst="rect">
            <a:avLst/>
          </a:prstGeom>
          <a:noFill/>
          <a:ln/>
        </p:spPr>
        <p:txBody>
          <a:bodyPr wrap="square" lIns="0" tIns="0" rIns="0" bIns="0" rtlCol="0" anchor="t"/>
          <a:lstStyle/>
          <a:p>
            <a:pPr indent="0" marL="0">
              <a:buNone/>
            </a:pPr>
            <a:r>
              <a:rPr lang="en-US" sz="1100" b="1" dirty="0">
                <a:solidFill>
                  <a:schemeClr val="accent3"/>
                </a:solidFill>
              </a:rPr>
              <a:t>What it does</a:t>
            </a:r>
            <a:endParaRPr lang="en-US" sz="1100" dirty="0"/>
          </a:p>
        </p:txBody>
      </p:sp>
      <p:sp>
        <p:nvSpPr>
          <p:cNvPr id="27" name="Text 24"/>
          <p:cNvSpPr txBox="1"/>
          <p:nvPr/>
        </p:nvSpPr>
        <p:spPr>
          <a:xfrm>
            <a:off x="8366760" y="2606040"/>
            <a:ext cx="3108960" cy="914400"/>
          </a:xfrm>
          <a:prstGeom prst="rect">
            <a:avLst/>
          </a:prstGeom>
          <a:noFill/>
          <a:ln/>
        </p:spPr>
        <p:txBody>
          <a:bodyPr wrap="square" lIns="0" tIns="0" rIns="0" bIns="0" rtlCol="0" anchor="t"/>
          <a:lstStyle/>
          <a:p>
            <a:pPr indent="0" marL="0">
              <a:buNone/>
            </a:pPr>
            <a:r>
              <a:rPr lang="en-US" sz="1300" dirty="0">
                <a:solidFill>
                  <a:schemeClr val="tx1"/>
                </a:solidFill>
              </a:rPr>
              <a:t>The unit is an experience: one step with its context and outcome (Generative Agents, MemGPT, Reflexion).</a:t>
            </a:r>
            <a:endParaRPr lang="en-US" sz="1300" dirty="0"/>
          </a:p>
        </p:txBody>
      </p:sp>
      <p:sp>
        <p:nvSpPr>
          <p:cNvPr id="28" name="Text 25"/>
          <p:cNvSpPr txBox="1"/>
          <p:nvPr/>
        </p:nvSpPr>
        <p:spPr>
          <a:xfrm>
            <a:off x="8366760" y="3611880"/>
            <a:ext cx="3108960" cy="228600"/>
          </a:xfrm>
          <a:prstGeom prst="rect">
            <a:avLst/>
          </a:prstGeom>
          <a:noFill/>
          <a:ln/>
        </p:spPr>
        <p:txBody>
          <a:bodyPr wrap="square" lIns="0" tIns="0" rIns="0" bIns="0" rtlCol="0" anchor="t"/>
          <a:lstStyle/>
          <a:p>
            <a:pPr indent="0" marL="0">
              <a:buNone/>
            </a:pPr>
            <a:r>
              <a:rPr lang="en-US" sz="1100" b="1" dirty="0">
                <a:solidFill>
                  <a:schemeClr val="accent4"/>
                </a:solidFill>
              </a:rPr>
              <a:t>Where it breaks</a:t>
            </a:r>
            <a:endParaRPr lang="en-US" sz="1100" dirty="0"/>
          </a:p>
        </p:txBody>
      </p:sp>
      <p:sp>
        <p:nvSpPr>
          <p:cNvPr id="29" name="Text 26"/>
          <p:cNvSpPr txBox="1"/>
          <p:nvPr/>
        </p:nvSpPr>
        <p:spPr>
          <a:xfrm>
            <a:off x="8366760" y="3886200"/>
            <a:ext cx="3108960" cy="1005840"/>
          </a:xfrm>
          <a:prstGeom prst="rect">
            <a:avLst/>
          </a:prstGeom>
          <a:noFill/>
          <a:ln/>
        </p:spPr>
        <p:txBody>
          <a:bodyPr wrap="square" lIns="0" tIns="0" rIns="0" bIns="0" rtlCol="0" anchor="t"/>
          <a:lstStyle/>
          <a:p>
            <a:pPr indent="0" marL="0">
              <a:buNone/>
            </a:pPr>
            <a:r>
              <a:rPr lang="en-US" sz="1300" dirty="0">
                <a:solidFill>
                  <a:schemeClr val="tx1"/>
                </a:solidFill>
              </a:rPr>
              <a:t>Right unit, but selection and summarisation are still heuristic or model-decided, and not checkable.</a:t>
            </a:r>
            <a:endParaRPr lang="en-US" sz="1300" dirty="0"/>
          </a:p>
        </p:txBody>
      </p:sp>
      <p:sp>
        <p:nvSpPr>
          <p:cNvPr id="30" name="Shape 27"/>
          <p:cNvSpPr/>
          <p:nvPr/>
        </p:nvSpPr>
        <p:spPr>
          <a:xfrm>
            <a:off x="548640" y="5257800"/>
            <a:ext cx="11064240" cy="868680"/>
          </a:xfrm>
          <a:prstGeom prst="roundRect">
            <a:avLst>
              <a:gd name="adj" fmla="val 6316"/>
            </a:avLst>
          </a:prstGeom>
          <a:solidFill>
            <a:schemeClr val="tx1"/>
          </a:solidFill>
          <a:ln w="12700">
            <a:solidFill>
              <a:schemeClr val="tx1"/>
            </a:solidFill>
            <a:prstDash val="solid"/>
          </a:ln>
        </p:spPr>
      </p:sp>
      <p:sp>
        <p:nvSpPr>
          <p:cNvPr id="31" name="Text 28"/>
          <p:cNvSpPr txBox="1"/>
          <p:nvPr/>
        </p:nvSpPr>
        <p:spPr>
          <a:xfrm>
            <a:off x="822960" y="5303520"/>
            <a:ext cx="10515600" cy="777240"/>
          </a:xfrm>
          <a:prstGeom prst="rect">
            <a:avLst/>
          </a:prstGeom>
          <a:noFill/>
          <a:ln/>
        </p:spPr>
        <p:txBody>
          <a:bodyPr wrap="square" lIns="0" tIns="0" rIns="0" bIns="0" rtlCol="0" anchor="ctr"/>
          <a:lstStyle/>
          <a:p>
            <a:pPr indent="0" marL="0">
              <a:buNone/>
            </a:pPr>
            <a:r>
              <a:rPr lang="en-US" sz="1600" dirty="0">
                <a:solidFill>
                  <a:schemeClr val="bg1"/>
                </a:solidFill>
              </a:rPr>
              <a:t>The gap: even with the right unit, nothing makes the choice of what to keep, or the summary that replaces the rest, checkable after the fact.</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3000" b="1" dirty="0">
                <a:solidFill>
                  <a:schemeClr val="tx1"/>
                </a:solidFill>
              </a:rPr>
              <a:t>Memory 2/3: our representation separates what is kept from what the model sees</a:t>
            </a:r>
            <a:endParaRPr lang="en-US" sz="3000" dirty="0"/>
          </a:p>
        </p:txBody>
      </p:sp>
      <p:sp>
        <p:nvSpPr>
          <p:cNvPr id="4" name="Text 1"/>
          <p:cNvSpPr txBox="1"/>
          <p:nvPr/>
        </p:nvSpPr>
        <p:spPr>
          <a:xfrm>
            <a:off x="548640" y="1371600"/>
            <a:ext cx="2926080" cy="274320"/>
          </a:xfrm>
          <a:prstGeom prst="rect">
            <a:avLst/>
          </a:prstGeom>
          <a:noFill/>
          <a:ln/>
        </p:spPr>
        <p:txBody>
          <a:bodyPr wrap="square" lIns="0" tIns="0" rIns="0" bIns="0" rtlCol="0" anchor="t"/>
          <a:lstStyle/>
          <a:p>
            <a:pPr indent="0" marL="0">
              <a:buNone/>
            </a:pPr>
            <a:r>
              <a:rPr lang="en-US" sz="1300" b="1" dirty="0">
                <a:solidFill>
                  <a:schemeClr val="accent3"/>
                </a:solidFill>
              </a:rPr>
              <a:t>Durable, harness-owned</a:t>
            </a:r>
            <a:endParaRPr lang="en-US" sz="1300" dirty="0"/>
          </a:p>
        </p:txBody>
      </p:sp>
      <p:sp>
        <p:nvSpPr>
          <p:cNvPr id="5" name="Text 2"/>
          <p:cNvSpPr/>
          <p:nvPr/>
        </p:nvSpPr>
        <p:spPr>
          <a:xfrm>
            <a:off x="548640" y="1691640"/>
            <a:ext cx="3017520" cy="914400"/>
          </a:xfrm>
          <a:prstGeom prst="roundRect">
            <a:avLst>
              <a:gd name="adj" fmla="val 6000"/>
            </a:avLst>
          </a:prstGeom>
          <a:solidFill>
            <a:schemeClr val="bg2"/>
          </a:solidFill>
          <a:ln w="19050">
            <a:solidFill>
              <a:schemeClr val="accent1"/>
            </a:solidFill>
          </a:ln>
        </p:spPr>
        <p:txBody>
          <a:bodyPr wrap="square" lIns="762" tIns="762" rIns="762" bIns="762" rtlCol="0" anchor="ctr"/>
          <a:lstStyle/>
          <a:p>
            <a:pPr algn="ctr" indent="0" marL="0">
              <a:buNone/>
            </a:pPr>
            <a:endParaRPr lang="en-US" sz="1300" dirty="0"/>
          </a:p>
        </p:txBody>
      </p:sp>
      <p:sp>
        <p:nvSpPr>
          <p:cNvPr id="6" name="Text 3"/>
          <p:cNvSpPr txBox="1"/>
          <p:nvPr/>
        </p:nvSpPr>
        <p:spPr>
          <a:xfrm>
            <a:off x="685800" y="1764792"/>
            <a:ext cx="2743200" cy="274320"/>
          </a:xfrm>
          <a:prstGeom prst="rect">
            <a:avLst/>
          </a:prstGeom>
          <a:noFill/>
          <a:ln/>
        </p:spPr>
        <p:txBody>
          <a:bodyPr wrap="square" lIns="0" tIns="0" rIns="0" bIns="0" rtlCol="0" anchor="t"/>
          <a:lstStyle/>
          <a:p>
            <a:pPr indent="0" marL="0">
              <a:buNone/>
            </a:pPr>
            <a:r>
              <a:rPr lang="en-US" sz="1400" b="1" dirty="0">
                <a:solidFill>
                  <a:schemeClr val="accent1"/>
                </a:solidFill>
              </a:rPr>
              <a:t>ProjectState</a:t>
            </a:r>
            <a:endParaRPr lang="en-US" sz="1400" dirty="0"/>
          </a:p>
        </p:txBody>
      </p:sp>
      <p:sp>
        <p:nvSpPr>
          <p:cNvPr id="7" name="Text 4"/>
          <p:cNvSpPr txBox="1"/>
          <p:nvPr/>
        </p:nvSpPr>
        <p:spPr>
          <a:xfrm>
            <a:off x="685800" y="2057400"/>
            <a:ext cx="2743200" cy="502920"/>
          </a:xfrm>
          <a:prstGeom prst="rect">
            <a:avLst/>
          </a:prstGeom>
          <a:noFill/>
          <a:ln/>
        </p:spPr>
        <p:txBody>
          <a:bodyPr wrap="square" lIns="0" tIns="0" rIns="0" bIns="0" rtlCol="0" anchor="t"/>
          <a:lstStyle/>
          <a:p>
            <a:pPr indent="0" marL="0">
              <a:buNone/>
            </a:pPr>
            <a:r>
              <a:rPr lang="en-US" sz="1100" dirty="0">
                <a:solidFill>
                  <a:schemeClr val="tx1"/>
                </a:solidFill>
              </a:rPr>
              <a:t>decisions, artifacts, work items,</a:t>
            </a:r>
            <a:endParaRPr lang="en-US" sz="1100" dirty="0"/>
          </a:p>
          <a:p>
            <a:pPr indent="0" marL="0">
              <a:buNone/>
            </a:pPr>
            <a:r>
              <a:rPr lang="en-US" sz="1100" dirty="0">
                <a:solidFill>
                  <a:schemeClr val="tx1"/>
                </a:solidFill>
              </a:rPr>
              <a:t>questions; evidence-linked</a:t>
            </a:r>
            <a:endParaRPr lang="en-US" sz="1100" dirty="0"/>
          </a:p>
        </p:txBody>
      </p:sp>
      <p:sp>
        <p:nvSpPr>
          <p:cNvPr id="8" name="Text 5"/>
          <p:cNvSpPr/>
          <p:nvPr/>
        </p:nvSpPr>
        <p:spPr>
          <a:xfrm>
            <a:off x="548640" y="2743200"/>
            <a:ext cx="3017520" cy="914400"/>
          </a:xfrm>
          <a:prstGeom prst="roundRect">
            <a:avLst>
              <a:gd name="adj" fmla="val 6000"/>
            </a:avLst>
          </a:prstGeom>
          <a:solidFill>
            <a:schemeClr val="bg2"/>
          </a:solidFill>
          <a:ln w="19050">
            <a:solidFill>
              <a:schemeClr val="accent1"/>
            </a:solidFill>
          </a:ln>
        </p:spPr>
        <p:txBody>
          <a:bodyPr wrap="square" lIns="762" tIns="762" rIns="762" bIns="762" rtlCol="0" anchor="ctr"/>
          <a:lstStyle/>
          <a:p>
            <a:pPr algn="ctr" indent="0" marL="0">
              <a:buNone/>
            </a:pPr>
            <a:endParaRPr lang="en-US" sz="1300" dirty="0"/>
          </a:p>
        </p:txBody>
      </p:sp>
      <p:sp>
        <p:nvSpPr>
          <p:cNvPr id="9" name="Text 6"/>
          <p:cNvSpPr txBox="1"/>
          <p:nvPr/>
        </p:nvSpPr>
        <p:spPr>
          <a:xfrm>
            <a:off x="685800" y="2816352"/>
            <a:ext cx="2743200" cy="274320"/>
          </a:xfrm>
          <a:prstGeom prst="rect">
            <a:avLst/>
          </a:prstGeom>
          <a:noFill/>
          <a:ln/>
        </p:spPr>
        <p:txBody>
          <a:bodyPr wrap="square" lIns="0" tIns="0" rIns="0" bIns="0" rtlCol="0" anchor="t"/>
          <a:lstStyle/>
          <a:p>
            <a:pPr indent="0" marL="0">
              <a:buNone/>
            </a:pPr>
            <a:r>
              <a:rPr lang="en-US" sz="1400" b="1" dirty="0">
                <a:solidFill>
                  <a:schemeClr val="accent1"/>
                </a:solidFill>
              </a:rPr>
              <a:t>Episode graph</a:t>
            </a:r>
            <a:endParaRPr lang="en-US" sz="1400" dirty="0"/>
          </a:p>
        </p:txBody>
      </p:sp>
      <p:sp>
        <p:nvSpPr>
          <p:cNvPr id="10" name="Text 7"/>
          <p:cNvSpPr txBox="1"/>
          <p:nvPr/>
        </p:nvSpPr>
        <p:spPr>
          <a:xfrm>
            <a:off x="685800" y="3108960"/>
            <a:ext cx="2743200" cy="502920"/>
          </a:xfrm>
          <a:prstGeom prst="rect">
            <a:avLst/>
          </a:prstGeom>
          <a:noFill/>
          <a:ln/>
        </p:spPr>
        <p:txBody>
          <a:bodyPr wrap="square" lIns="0" tIns="0" rIns="0" bIns="0" rtlCol="0" anchor="t"/>
          <a:lstStyle/>
          <a:p>
            <a:pPr indent="0" marL="0">
              <a:buNone/>
            </a:pPr>
            <a:r>
              <a:rPr lang="en-US" sz="1100" dirty="0">
                <a:solidFill>
                  <a:schemeClr val="tx1"/>
                </a:solidFill>
              </a:rPr>
              <a:t>one per tool call; exploratory or</a:t>
            </a:r>
            <a:endParaRPr lang="en-US" sz="1100" dirty="0"/>
          </a:p>
          <a:p>
            <a:pPr indent="0" marL="0">
              <a:buNone/>
            </a:pPr>
            <a:r>
              <a:rPr lang="en-US" sz="1100" dirty="0">
                <a:solidFill>
                  <a:schemeClr val="tx1"/>
                </a:solidFill>
              </a:rPr>
              <a:t>action; OPEN, CLOSED, COMPACTED</a:t>
            </a:r>
            <a:endParaRPr lang="en-US" sz="1100" dirty="0"/>
          </a:p>
        </p:txBody>
      </p:sp>
      <p:sp>
        <p:nvSpPr>
          <p:cNvPr id="11" name="Text 8"/>
          <p:cNvSpPr/>
          <p:nvPr/>
        </p:nvSpPr>
        <p:spPr>
          <a:xfrm>
            <a:off x="548640" y="3794760"/>
            <a:ext cx="3017520" cy="914400"/>
          </a:xfrm>
          <a:prstGeom prst="roundRect">
            <a:avLst>
              <a:gd name="adj" fmla="val 6000"/>
            </a:avLst>
          </a:prstGeom>
          <a:solidFill>
            <a:schemeClr val="bg2"/>
          </a:solidFill>
          <a:ln w="19050">
            <a:solidFill>
              <a:schemeClr val="accent1"/>
            </a:solidFill>
          </a:ln>
        </p:spPr>
        <p:txBody>
          <a:bodyPr wrap="square" lIns="762" tIns="762" rIns="762" bIns="762" rtlCol="0" anchor="ctr"/>
          <a:lstStyle/>
          <a:p>
            <a:pPr algn="ctr" indent="0" marL="0">
              <a:buNone/>
            </a:pPr>
            <a:endParaRPr lang="en-US" sz="1300" dirty="0"/>
          </a:p>
        </p:txBody>
      </p:sp>
      <p:sp>
        <p:nvSpPr>
          <p:cNvPr id="12" name="Text 9"/>
          <p:cNvSpPr txBox="1"/>
          <p:nvPr/>
        </p:nvSpPr>
        <p:spPr>
          <a:xfrm>
            <a:off x="685800" y="3867912"/>
            <a:ext cx="2743200" cy="274320"/>
          </a:xfrm>
          <a:prstGeom prst="rect">
            <a:avLst/>
          </a:prstGeom>
          <a:noFill/>
          <a:ln/>
        </p:spPr>
        <p:txBody>
          <a:bodyPr wrap="square" lIns="0" tIns="0" rIns="0" bIns="0" rtlCol="0" anchor="t"/>
          <a:lstStyle/>
          <a:p>
            <a:pPr indent="0" marL="0">
              <a:buNone/>
            </a:pPr>
            <a:r>
              <a:rPr lang="en-US" sz="1400" b="1" dirty="0">
                <a:solidFill>
                  <a:schemeClr val="accent1"/>
                </a:solidFill>
              </a:rPr>
              <a:t>Result journal</a:t>
            </a:r>
            <a:endParaRPr lang="en-US" sz="1400" dirty="0"/>
          </a:p>
        </p:txBody>
      </p:sp>
      <p:sp>
        <p:nvSpPr>
          <p:cNvPr id="13" name="Text 10"/>
          <p:cNvSpPr txBox="1"/>
          <p:nvPr/>
        </p:nvSpPr>
        <p:spPr>
          <a:xfrm>
            <a:off x="685800" y="4160520"/>
            <a:ext cx="2743200" cy="502920"/>
          </a:xfrm>
          <a:prstGeom prst="rect">
            <a:avLst/>
          </a:prstGeom>
          <a:noFill/>
          <a:ln/>
        </p:spPr>
        <p:txBody>
          <a:bodyPr wrap="square" lIns="0" tIns="0" rIns="0" bIns="0" rtlCol="0" anchor="t"/>
          <a:lstStyle/>
          <a:p>
            <a:pPr indent="0" marL="0">
              <a:buNone/>
            </a:pPr>
            <a:r>
              <a:rPr lang="en-US" sz="1100" dirty="0">
                <a:solidFill>
                  <a:schemeClr val="tx1"/>
                </a:solidFill>
              </a:rPr>
              <a:t>full output behind a</a:t>
            </a:r>
            <a:endParaRPr lang="en-US" sz="1100" dirty="0"/>
          </a:p>
          <a:p>
            <a:pPr indent="0" marL="0">
              <a:buNone/>
            </a:pPr>
            <a:r>
              <a:rPr lang="en-US" sz="1100" dirty="0">
                <a:solidFill>
                  <a:schemeClr val="tx1"/>
                </a:solidFill>
              </a:rPr>
              <a:t>content-hash handle</a:t>
            </a:r>
            <a:endParaRPr lang="en-US" sz="1100" dirty="0"/>
          </a:p>
        </p:txBody>
      </p:sp>
      <p:sp>
        <p:nvSpPr>
          <p:cNvPr id="14" name="Text 11"/>
          <p:cNvSpPr/>
          <p:nvPr/>
        </p:nvSpPr>
        <p:spPr>
          <a:xfrm>
            <a:off x="548640" y="4846320"/>
            <a:ext cx="3017520" cy="914400"/>
          </a:xfrm>
          <a:prstGeom prst="roundRect">
            <a:avLst>
              <a:gd name="adj" fmla="val 6000"/>
            </a:avLst>
          </a:prstGeom>
          <a:solidFill>
            <a:schemeClr val="bg2"/>
          </a:solidFill>
          <a:ln w="19050">
            <a:solidFill>
              <a:schemeClr val="accent1"/>
            </a:solidFill>
          </a:ln>
        </p:spPr>
        <p:txBody>
          <a:bodyPr wrap="square" lIns="762" tIns="762" rIns="762" bIns="762" rtlCol="0" anchor="ctr"/>
          <a:lstStyle/>
          <a:p>
            <a:pPr algn="ctr" indent="0" marL="0">
              <a:buNone/>
            </a:pPr>
            <a:endParaRPr lang="en-US" sz="1300" dirty="0"/>
          </a:p>
        </p:txBody>
      </p:sp>
      <p:sp>
        <p:nvSpPr>
          <p:cNvPr id="15" name="Text 12"/>
          <p:cNvSpPr txBox="1"/>
          <p:nvPr/>
        </p:nvSpPr>
        <p:spPr>
          <a:xfrm>
            <a:off x="685800" y="4919472"/>
            <a:ext cx="2743200" cy="274320"/>
          </a:xfrm>
          <a:prstGeom prst="rect">
            <a:avLst/>
          </a:prstGeom>
          <a:noFill/>
          <a:ln/>
        </p:spPr>
        <p:txBody>
          <a:bodyPr wrap="square" lIns="0" tIns="0" rIns="0" bIns="0" rtlCol="0" anchor="t"/>
          <a:lstStyle/>
          <a:p>
            <a:pPr indent="0" marL="0">
              <a:buNone/>
            </a:pPr>
            <a:r>
              <a:rPr lang="en-US" sz="1400" b="1" dirty="0">
                <a:solidFill>
                  <a:schemeClr val="accent1"/>
                </a:solidFill>
              </a:rPr>
              <a:t>Episode archive</a:t>
            </a:r>
            <a:endParaRPr lang="en-US" sz="1400" dirty="0"/>
          </a:p>
        </p:txBody>
      </p:sp>
      <p:sp>
        <p:nvSpPr>
          <p:cNvPr id="16" name="Text 13"/>
          <p:cNvSpPr txBox="1"/>
          <p:nvPr/>
        </p:nvSpPr>
        <p:spPr>
          <a:xfrm>
            <a:off x="685800" y="5212080"/>
            <a:ext cx="2743200" cy="502920"/>
          </a:xfrm>
          <a:prstGeom prst="rect">
            <a:avLst/>
          </a:prstGeom>
          <a:noFill/>
          <a:ln/>
        </p:spPr>
        <p:txBody>
          <a:bodyPr wrap="square" lIns="0" tIns="0" rIns="0" bIns="0" rtlCol="0" anchor="t"/>
          <a:lstStyle/>
          <a:p>
            <a:pPr indent="0" marL="0">
              <a:buNone/>
            </a:pPr>
            <a:r>
              <a:rPr lang="en-US" sz="1100" dirty="0">
                <a:solidFill>
                  <a:schemeClr val="tx1"/>
                </a:solidFill>
              </a:rPr>
              <a:t>content-addressed snapshots,</a:t>
            </a:r>
            <a:endParaRPr lang="en-US" sz="1100" dirty="0"/>
          </a:p>
          <a:p>
            <a:pPr indent="0" marL="0">
              <a:buNone/>
            </a:pPr>
            <a:r>
              <a:rPr lang="en-US" sz="1100" dirty="0">
                <a:solidFill>
                  <a:schemeClr val="tx1"/>
                </a:solidFill>
              </a:rPr>
              <a:t>read back before release</a:t>
            </a:r>
            <a:endParaRPr lang="en-US" sz="1100" dirty="0"/>
          </a:p>
        </p:txBody>
      </p:sp>
      <p:sp>
        <p:nvSpPr>
          <p:cNvPr id="17" name="Text 14"/>
          <p:cNvSpPr txBox="1"/>
          <p:nvPr/>
        </p:nvSpPr>
        <p:spPr>
          <a:xfrm>
            <a:off x="4480560" y="1371600"/>
            <a:ext cx="3017520" cy="274320"/>
          </a:xfrm>
          <a:prstGeom prst="rect">
            <a:avLst/>
          </a:prstGeom>
          <a:noFill/>
          <a:ln/>
        </p:spPr>
        <p:txBody>
          <a:bodyPr wrap="square" lIns="0" tIns="0" rIns="0" bIns="0" rtlCol="0" anchor="t"/>
          <a:lstStyle/>
          <a:p>
            <a:pPr indent="0" marL="0">
              <a:buNone/>
            </a:pPr>
            <a:r>
              <a:rPr lang="en-US" sz="1300" b="1" dirty="0">
                <a:solidFill>
                  <a:schemeClr val="accent3"/>
                </a:solidFill>
              </a:rPr>
              <a:t>Per-turn projection</a:t>
            </a:r>
            <a:endParaRPr lang="en-US" sz="1300" dirty="0"/>
          </a:p>
        </p:txBody>
      </p:sp>
      <p:sp>
        <p:nvSpPr>
          <p:cNvPr id="18" name="Text 15"/>
          <p:cNvSpPr/>
          <p:nvPr/>
        </p:nvSpPr>
        <p:spPr>
          <a:xfrm>
            <a:off x="4480560" y="2697480"/>
            <a:ext cx="3017520" cy="868680"/>
          </a:xfrm>
          <a:prstGeom prst="roundRect">
            <a:avLst>
              <a:gd name="adj" fmla="val 6316"/>
            </a:avLst>
          </a:prstGeom>
          <a:solidFill>
            <a:schemeClr val="accent2"/>
          </a:solidFill>
          <a:ln>
            <a:solidFill>
              <a:schemeClr val="accent2"/>
            </a:solidFill>
          </a:ln>
        </p:spPr>
        <p:txBody>
          <a:bodyPr wrap="square" lIns="762" tIns="762" rIns="762" bIns="762" rtlCol="0" anchor="ctr"/>
          <a:lstStyle/>
          <a:p>
            <a:pPr algn="ctr" indent="0" marL="0">
              <a:buNone/>
            </a:pPr>
            <a:r>
              <a:rPr lang="en-US" sz="1300" b="1" dirty="0">
                <a:solidFill>
                  <a:schemeClr val="bg1"/>
                </a:solidFill>
              </a:rPr>
              <a:t>PCKP compaction</a:t>
            </a:r>
            <a:endParaRPr lang="en-US" sz="1300" dirty="0"/>
          </a:p>
          <a:p>
            <a:pPr algn="ctr" indent="0" marL="0">
              <a:buNone/>
            </a:pPr>
            <a:r>
              <a:rPr lang="en-US" sz="1300" b="1" dirty="0">
                <a:solidFill>
                  <a:schemeClr val="bg1"/>
                </a:solidFill>
              </a:rPr>
              <a:t>exact, dependency-closed</a:t>
            </a:r>
            <a:endParaRPr lang="en-US" sz="1300" dirty="0"/>
          </a:p>
        </p:txBody>
      </p:sp>
      <p:sp>
        <p:nvSpPr>
          <p:cNvPr id="19" name="Text 16"/>
          <p:cNvSpPr/>
          <p:nvPr/>
        </p:nvSpPr>
        <p:spPr>
          <a:xfrm>
            <a:off x="4480560" y="3749040"/>
            <a:ext cx="3017520" cy="868680"/>
          </a:xfrm>
          <a:prstGeom prst="roundRect">
            <a:avLst>
              <a:gd name="adj" fmla="val 6316"/>
            </a:avLst>
          </a:prstGeom>
          <a:solidFill>
            <a:schemeClr val="accent2"/>
          </a:solidFill>
          <a:ln>
            <a:solidFill>
              <a:schemeClr val="accent2"/>
            </a:solidFill>
          </a:ln>
        </p:spPr>
        <p:txBody>
          <a:bodyPr wrap="square" lIns="762" tIns="762" rIns="762" bIns="762" rtlCol="0" anchor="ctr"/>
          <a:lstStyle/>
          <a:p>
            <a:pPr algn="ctr" indent="0" marL="0">
              <a:buNone/>
            </a:pPr>
            <a:r>
              <a:rPr lang="en-US" sz="1300" b="1" dirty="0">
                <a:solidFill>
                  <a:schemeClr val="bg1"/>
                </a:solidFill>
              </a:rPr>
              <a:t>Verified semantic summaries</a:t>
            </a:r>
            <a:endParaRPr lang="en-US" sz="1300" dirty="0"/>
          </a:p>
          <a:p>
            <a:pPr algn="ctr" indent="0" marL="0">
              <a:buNone/>
            </a:pPr>
            <a:r>
              <a:rPr lang="en-US" sz="1300" b="1" dirty="0">
                <a:solidFill>
                  <a:schemeClr val="bg1"/>
                </a:solidFill>
              </a:rPr>
              <a:t>only for episodes not kept</a:t>
            </a:r>
            <a:endParaRPr lang="en-US" sz="1300" dirty="0"/>
          </a:p>
        </p:txBody>
      </p:sp>
      <p:sp>
        <p:nvSpPr>
          <p:cNvPr id="20" name="Text 17"/>
          <p:cNvSpPr/>
          <p:nvPr/>
        </p:nvSpPr>
        <p:spPr>
          <a:xfrm>
            <a:off x="4480560" y="4800600"/>
            <a:ext cx="3017520" cy="868680"/>
          </a:xfrm>
          <a:prstGeom prst="roundRect">
            <a:avLst>
              <a:gd name="adj" fmla="val 6316"/>
            </a:avLst>
          </a:prstGeom>
          <a:solidFill>
            <a:schemeClr val="accent2"/>
          </a:solidFill>
          <a:ln>
            <a:solidFill>
              <a:schemeClr val="accent2"/>
            </a:solidFill>
          </a:ln>
        </p:spPr>
        <p:txBody>
          <a:bodyPr wrap="square" lIns="762" tIns="762" rIns="762" bIns="762" rtlCol="0" anchor="ctr"/>
          <a:lstStyle/>
          <a:p>
            <a:pPr algn="ctr" indent="0" marL="0">
              <a:buNone/>
            </a:pPr>
            <a:r>
              <a:rPr lang="en-US" sz="1300" b="1" dirty="0">
                <a:solidFill>
                  <a:schemeClr val="bg1"/>
                </a:solidFill>
              </a:rPr>
              <a:t>Stubs: one line + handle</a:t>
            </a:r>
            <a:endParaRPr lang="en-US" sz="1300" dirty="0"/>
          </a:p>
          <a:p>
            <a:pPr algn="ctr" indent="0" marL="0">
              <a:buNone/>
            </a:pPr>
            <a:r>
              <a:rPr lang="en-US" sz="1300" b="1" dirty="0">
                <a:solidFill>
                  <a:schemeClr val="bg1"/>
                </a:solidFill>
              </a:rPr>
              <a:t>for dropped content</a:t>
            </a:r>
            <a:endParaRPr lang="en-US" sz="1300" dirty="0"/>
          </a:p>
        </p:txBody>
      </p:sp>
      <p:sp>
        <p:nvSpPr>
          <p:cNvPr id="21" name="Shape 18"/>
          <p:cNvSpPr/>
          <p:nvPr/>
        </p:nvSpPr>
        <p:spPr>
          <a:xfrm flipV="1">
            <a:off x="3566160" y="3108960"/>
            <a:ext cx="914400" cy="91440"/>
          </a:xfrm>
          <a:prstGeom prst="line">
            <a:avLst/>
          </a:prstGeom>
          <a:noFill/>
          <a:ln w="22225">
            <a:solidFill>
              <a:schemeClr val="accent3"/>
            </a:solidFill>
            <a:prstDash val="solid"/>
            <a:tailEnd type="triangle"/>
          </a:ln>
        </p:spPr>
      </p:sp>
      <p:sp>
        <p:nvSpPr>
          <p:cNvPr id="22" name="Shape 19"/>
          <p:cNvSpPr/>
          <p:nvPr/>
        </p:nvSpPr>
        <p:spPr>
          <a:xfrm flipV="1">
            <a:off x="3566160" y="4206240"/>
            <a:ext cx="914400" cy="1005840"/>
          </a:xfrm>
          <a:prstGeom prst="line">
            <a:avLst/>
          </a:prstGeom>
          <a:noFill/>
          <a:ln w="22225">
            <a:solidFill>
              <a:schemeClr val="accent3"/>
            </a:solidFill>
            <a:prstDash val="solid"/>
            <a:tailEnd type="triangle"/>
          </a:ln>
        </p:spPr>
      </p:sp>
      <p:sp>
        <p:nvSpPr>
          <p:cNvPr id="23" name="Shape 20"/>
          <p:cNvSpPr/>
          <p:nvPr/>
        </p:nvSpPr>
        <p:spPr>
          <a:xfrm>
            <a:off x="5989320" y="3566160"/>
            <a:ext cx="0" cy="182880"/>
          </a:xfrm>
          <a:prstGeom prst="line">
            <a:avLst/>
          </a:prstGeom>
          <a:noFill/>
          <a:ln w="22225">
            <a:solidFill>
              <a:schemeClr val="accent3"/>
            </a:solidFill>
            <a:prstDash val="solid"/>
            <a:tailEnd type="triangle"/>
          </a:ln>
        </p:spPr>
      </p:sp>
      <p:sp>
        <p:nvSpPr>
          <p:cNvPr id="24" name="Shape 21"/>
          <p:cNvSpPr/>
          <p:nvPr/>
        </p:nvSpPr>
        <p:spPr>
          <a:xfrm>
            <a:off x="5989320" y="4617720"/>
            <a:ext cx="0" cy="182880"/>
          </a:xfrm>
          <a:prstGeom prst="line">
            <a:avLst/>
          </a:prstGeom>
          <a:noFill/>
          <a:ln w="22225">
            <a:solidFill>
              <a:schemeClr val="accent3"/>
            </a:solidFill>
            <a:prstDash val="solid"/>
            <a:tailEnd type="triangle"/>
          </a:ln>
        </p:spPr>
      </p:sp>
      <p:sp>
        <p:nvSpPr>
          <p:cNvPr id="25" name="Text 22"/>
          <p:cNvSpPr txBox="1"/>
          <p:nvPr/>
        </p:nvSpPr>
        <p:spPr>
          <a:xfrm>
            <a:off x="8412480" y="1371600"/>
            <a:ext cx="3291840" cy="274320"/>
          </a:xfrm>
          <a:prstGeom prst="rect">
            <a:avLst/>
          </a:prstGeom>
          <a:noFill/>
          <a:ln/>
        </p:spPr>
        <p:txBody>
          <a:bodyPr wrap="square" lIns="0" tIns="0" rIns="0" bIns="0" rtlCol="0" anchor="t"/>
          <a:lstStyle/>
          <a:p>
            <a:pPr indent="0" marL="0">
              <a:buNone/>
            </a:pPr>
            <a:r>
              <a:rPr lang="en-US" sz="1300" b="1" dirty="0">
                <a:solidFill>
                  <a:schemeClr val="accent3"/>
                </a:solidFill>
              </a:rPr>
              <a:t>ModelContext  (12,000 est. tokens)</a:t>
            </a:r>
            <a:endParaRPr lang="en-US" sz="1300" dirty="0"/>
          </a:p>
        </p:txBody>
      </p:sp>
      <p:sp>
        <p:nvSpPr>
          <p:cNvPr id="26" name="Text 23"/>
          <p:cNvSpPr/>
          <p:nvPr/>
        </p:nvSpPr>
        <p:spPr>
          <a:xfrm>
            <a:off x="8412480" y="1691640"/>
            <a:ext cx="3200400" cy="640080"/>
          </a:xfrm>
          <a:prstGeom prst="roundRect">
            <a:avLst>
              <a:gd name="adj" fmla="val 8571"/>
            </a:avLst>
          </a:prstGeom>
          <a:solidFill>
            <a:schemeClr val="bg1"/>
          </a:solidFill>
          <a:ln w="15875">
            <a:solidFill>
              <a:schemeClr val="accent4"/>
            </a:solidFill>
          </a:ln>
        </p:spPr>
        <p:txBody>
          <a:bodyPr wrap="square" lIns="762" tIns="762" rIns="762" bIns="762" rtlCol="0" anchor="ctr"/>
          <a:lstStyle/>
          <a:p>
            <a:pPr algn="ctr" indent="0" marL="0">
              <a:buNone/>
            </a:pPr>
            <a:endParaRPr lang="en-US" sz="1300" dirty="0"/>
          </a:p>
        </p:txBody>
      </p:sp>
      <p:sp>
        <p:nvSpPr>
          <p:cNvPr id="27" name="Text 24"/>
          <p:cNvSpPr txBox="1"/>
          <p:nvPr/>
        </p:nvSpPr>
        <p:spPr>
          <a:xfrm>
            <a:off x="8503920" y="1755648"/>
            <a:ext cx="3017520" cy="274320"/>
          </a:xfrm>
          <a:prstGeom prst="rect">
            <a:avLst/>
          </a:prstGeom>
          <a:noFill/>
          <a:ln/>
        </p:spPr>
        <p:txBody>
          <a:bodyPr wrap="square" lIns="0" tIns="0" rIns="0" bIns="0" rtlCol="0" anchor="t"/>
          <a:lstStyle/>
          <a:p>
            <a:pPr indent="0" marL="0">
              <a:buNone/>
            </a:pPr>
            <a:r>
              <a:rPr lang="en-US" sz="1200" b="1" dirty="0">
                <a:solidFill>
                  <a:schemeClr val="tx1"/>
                </a:solidFill>
              </a:rPr>
              <a:t>Project state view</a:t>
            </a:r>
            <a:endParaRPr lang="en-US" sz="1200" dirty="0"/>
          </a:p>
        </p:txBody>
      </p:sp>
      <p:sp>
        <p:nvSpPr>
          <p:cNvPr id="28" name="Text 25"/>
          <p:cNvSpPr txBox="1"/>
          <p:nvPr/>
        </p:nvSpPr>
        <p:spPr>
          <a:xfrm>
            <a:off x="8503920" y="2039112"/>
            <a:ext cx="3017520" cy="228600"/>
          </a:xfrm>
          <a:prstGeom prst="rect">
            <a:avLst/>
          </a:prstGeom>
          <a:noFill/>
          <a:ln/>
        </p:spPr>
        <p:txBody>
          <a:bodyPr wrap="square" lIns="0" tIns="0" rIns="0" bIns="0" rtlCol="0" anchor="t"/>
          <a:lstStyle/>
          <a:p>
            <a:pPr indent="0" marL="0">
              <a:buNone/>
            </a:pPr>
            <a:r>
              <a:rPr lang="en-US" sz="1100" dirty="0">
                <a:solidFill>
                  <a:schemeClr val="accent3"/>
                </a:solidFill>
              </a:rPr>
              <a:t>&lt;= 2,000</a:t>
            </a:r>
            <a:endParaRPr lang="en-US" sz="1100" dirty="0"/>
          </a:p>
        </p:txBody>
      </p:sp>
      <p:sp>
        <p:nvSpPr>
          <p:cNvPr id="29" name="Text 26"/>
          <p:cNvSpPr/>
          <p:nvPr/>
        </p:nvSpPr>
        <p:spPr>
          <a:xfrm>
            <a:off x="8412480" y="2468880"/>
            <a:ext cx="3200400" cy="640080"/>
          </a:xfrm>
          <a:prstGeom prst="roundRect">
            <a:avLst>
              <a:gd name="adj" fmla="val 8571"/>
            </a:avLst>
          </a:prstGeom>
          <a:solidFill>
            <a:schemeClr val="bg1"/>
          </a:solidFill>
          <a:ln w="15875">
            <a:solidFill>
              <a:schemeClr val="accent4"/>
            </a:solidFill>
          </a:ln>
        </p:spPr>
        <p:txBody>
          <a:bodyPr wrap="square" lIns="762" tIns="762" rIns="762" bIns="762" rtlCol="0" anchor="ctr"/>
          <a:lstStyle/>
          <a:p>
            <a:pPr algn="ctr" indent="0" marL="0">
              <a:buNone/>
            </a:pPr>
            <a:endParaRPr lang="en-US" sz="1300" dirty="0"/>
          </a:p>
        </p:txBody>
      </p:sp>
      <p:sp>
        <p:nvSpPr>
          <p:cNvPr id="30" name="Text 27"/>
          <p:cNvSpPr txBox="1"/>
          <p:nvPr/>
        </p:nvSpPr>
        <p:spPr>
          <a:xfrm>
            <a:off x="8503920" y="2532888"/>
            <a:ext cx="3017520" cy="274320"/>
          </a:xfrm>
          <a:prstGeom prst="rect">
            <a:avLst/>
          </a:prstGeom>
          <a:noFill/>
          <a:ln/>
        </p:spPr>
        <p:txBody>
          <a:bodyPr wrap="square" lIns="0" tIns="0" rIns="0" bIns="0" rtlCol="0" anchor="t"/>
          <a:lstStyle/>
          <a:p>
            <a:pPr indent="0" marL="0">
              <a:buNone/>
            </a:pPr>
            <a:r>
              <a:rPr lang="en-US" sz="1200" b="1" dirty="0">
                <a:solidFill>
                  <a:schemeClr val="tx1"/>
                </a:solidFill>
              </a:rPr>
              <a:t>Stable prefix: prompt, schema</a:t>
            </a:r>
            <a:endParaRPr lang="en-US" sz="1200" dirty="0"/>
          </a:p>
        </p:txBody>
      </p:sp>
      <p:sp>
        <p:nvSpPr>
          <p:cNvPr id="31" name="Text 28"/>
          <p:cNvSpPr txBox="1"/>
          <p:nvPr/>
        </p:nvSpPr>
        <p:spPr>
          <a:xfrm>
            <a:off x="8503920" y="2816352"/>
            <a:ext cx="3017520" cy="228600"/>
          </a:xfrm>
          <a:prstGeom prst="rect">
            <a:avLst/>
          </a:prstGeom>
          <a:noFill/>
          <a:ln/>
        </p:spPr>
        <p:txBody>
          <a:bodyPr wrap="square" lIns="0" tIns="0" rIns="0" bIns="0" rtlCol="0" anchor="t"/>
          <a:lstStyle/>
          <a:p>
            <a:pPr indent="0" marL="0">
              <a:buNone/>
            </a:pPr>
            <a:r>
              <a:rPr lang="en-US" sz="1100" dirty="0">
                <a:solidFill>
                  <a:schemeClr val="accent3"/>
                </a:solidFill>
              </a:rPr>
              <a:t>cache-friendly, byte-identical</a:t>
            </a:r>
            <a:endParaRPr lang="en-US" sz="1100" dirty="0"/>
          </a:p>
        </p:txBody>
      </p:sp>
      <p:sp>
        <p:nvSpPr>
          <p:cNvPr id="32" name="Text 29"/>
          <p:cNvSpPr/>
          <p:nvPr/>
        </p:nvSpPr>
        <p:spPr>
          <a:xfrm>
            <a:off x="8412480" y="3246120"/>
            <a:ext cx="3200400" cy="640080"/>
          </a:xfrm>
          <a:prstGeom prst="roundRect">
            <a:avLst>
              <a:gd name="adj" fmla="val 8571"/>
            </a:avLst>
          </a:prstGeom>
          <a:solidFill>
            <a:schemeClr val="bg1"/>
          </a:solidFill>
          <a:ln w="15875">
            <a:solidFill>
              <a:schemeClr val="accent4"/>
            </a:solidFill>
          </a:ln>
        </p:spPr>
        <p:txBody>
          <a:bodyPr wrap="square" lIns="762" tIns="762" rIns="762" bIns="762" rtlCol="0" anchor="ctr"/>
          <a:lstStyle/>
          <a:p>
            <a:pPr algn="ctr" indent="0" marL="0">
              <a:buNone/>
            </a:pPr>
            <a:endParaRPr lang="en-US" sz="1300" dirty="0"/>
          </a:p>
        </p:txBody>
      </p:sp>
      <p:sp>
        <p:nvSpPr>
          <p:cNvPr id="33" name="Text 30"/>
          <p:cNvSpPr txBox="1"/>
          <p:nvPr/>
        </p:nvSpPr>
        <p:spPr>
          <a:xfrm>
            <a:off x="8503920" y="3310128"/>
            <a:ext cx="3017520" cy="274320"/>
          </a:xfrm>
          <a:prstGeom prst="rect">
            <a:avLst/>
          </a:prstGeom>
          <a:noFill/>
          <a:ln/>
        </p:spPr>
        <p:txBody>
          <a:bodyPr wrap="square" lIns="0" tIns="0" rIns="0" bIns="0" rtlCol="0" anchor="t"/>
          <a:lstStyle/>
          <a:p>
            <a:pPr indent="0" marL="0">
              <a:buNone/>
            </a:pPr>
            <a:r>
              <a:rPr lang="en-US" sz="1200" b="1" dirty="0">
                <a:solidFill>
                  <a:schemeClr val="tx1"/>
                </a:solidFill>
              </a:rPr>
              <a:t>Recent observations</a:t>
            </a:r>
            <a:endParaRPr lang="en-US" sz="1200" dirty="0"/>
          </a:p>
        </p:txBody>
      </p:sp>
      <p:sp>
        <p:nvSpPr>
          <p:cNvPr id="34" name="Text 31"/>
          <p:cNvSpPr txBox="1"/>
          <p:nvPr/>
        </p:nvSpPr>
        <p:spPr>
          <a:xfrm>
            <a:off x="8503920" y="3593592"/>
            <a:ext cx="3017520" cy="228600"/>
          </a:xfrm>
          <a:prstGeom prst="rect">
            <a:avLst/>
          </a:prstGeom>
          <a:noFill/>
          <a:ln/>
        </p:spPr>
        <p:txBody>
          <a:bodyPr wrap="square" lIns="0" tIns="0" rIns="0" bIns="0" rtlCol="0" anchor="t"/>
          <a:lstStyle/>
          <a:p>
            <a:pPr indent="0" marL="0">
              <a:buNone/>
            </a:pPr>
            <a:r>
              <a:rPr lang="en-US" sz="1100" dirty="0">
                <a:solidFill>
                  <a:schemeClr val="accent3"/>
                </a:solidFill>
              </a:rPr>
              <a:t>newest that fit</a:t>
            </a:r>
            <a:endParaRPr lang="en-US" sz="1100" dirty="0"/>
          </a:p>
        </p:txBody>
      </p:sp>
      <p:sp>
        <p:nvSpPr>
          <p:cNvPr id="35" name="Text 32"/>
          <p:cNvSpPr/>
          <p:nvPr/>
        </p:nvSpPr>
        <p:spPr>
          <a:xfrm>
            <a:off x="8412480" y="4023360"/>
            <a:ext cx="3200400" cy="640080"/>
          </a:xfrm>
          <a:prstGeom prst="roundRect">
            <a:avLst>
              <a:gd name="adj" fmla="val 8571"/>
            </a:avLst>
          </a:prstGeom>
          <a:solidFill>
            <a:schemeClr val="bg1"/>
          </a:solidFill>
          <a:ln w="15875">
            <a:solidFill>
              <a:schemeClr val="accent4"/>
            </a:solidFill>
          </a:ln>
        </p:spPr>
        <p:txBody>
          <a:bodyPr wrap="square" lIns="762" tIns="762" rIns="762" bIns="762" rtlCol="0" anchor="ctr"/>
          <a:lstStyle/>
          <a:p>
            <a:pPr algn="ctr" indent="0" marL="0">
              <a:buNone/>
            </a:pPr>
            <a:endParaRPr lang="en-US" sz="1300" dirty="0"/>
          </a:p>
        </p:txBody>
      </p:sp>
      <p:sp>
        <p:nvSpPr>
          <p:cNvPr id="36" name="Text 33"/>
          <p:cNvSpPr txBox="1"/>
          <p:nvPr/>
        </p:nvSpPr>
        <p:spPr>
          <a:xfrm>
            <a:off x="8503920" y="4087368"/>
            <a:ext cx="3017520" cy="274320"/>
          </a:xfrm>
          <a:prstGeom prst="rect">
            <a:avLst/>
          </a:prstGeom>
          <a:noFill/>
          <a:ln/>
        </p:spPr>
        <p:txBody>
          <a:bodyPr wrap="square" lIns="0" tIns="0" rIns="0" bIns="0" rtlCol="0" anchor="t"/>
          <a:lstStyle/>
          <a:p>
            <a:pPr indent="0" marL="0">
              <a:buNone/>
            </a:pPr>
            <a:r>
              <a:rPr lang="en-US" sz="1200" b="1" dirty="0">
                <a:solidFill>
                  <a:schemeClr val="tx1"/>
                </a:solidFill>
              </a:rPr>
              <a:t>Semantic summaries + sources</a:t>
            </a:r>
            <a:endParaRPr lang="en-US" sz="1200" dirty="0"/>
          </a:p>
        </p:txBody>
      </p:sp>
      <p:sp>
        <p:nvSpPr>
          <p:cNvPr id="37" name="Text 34"/>
          <p:cNvSpPr txBox="1"/>
          <p:nvPr/>
        </p:nvSpPr>
        <p:spPr>
          <a:xfrm>
            <a:off x="8503920" y="4370832"/>
            <a:ext cx="3017520" cy="228600"/>
          </a:xfrm>
          <a:prstGeom prst="rect">
            <a:avLst/>
          </a:prstGeom>
          <a:noFill/>
          <a:ln/>
        </p:spPr>
        <p:txBody>
          <a:bodyPr wrap="square" lIns="0" tIns="0" rIns="0" bIns="0" rtlCol="0" anchor="t"/>
          <a:lstStyle/>
          <a:p>
            <a:pPr indent="0" marL="0">
              <a:buNone/>
            </a:pPr>
            <a:r>
              <a:rPr lang="en-US" sz="1100" dirty="0">
                <a:solidFill>
                  <a:schemeClr val="accent3"/>
                </a:solidFill>
              </a:rPr>
              <a:t>&lt;= 1,200</a:t>
            </a:r>
            <a:endParaRPr lang="en-US" sz="1100" dirty="0"/>
          </a:p>
        </p:txBody>
      </p:sp>
      <p:sp>
        <p:nvSpPr>
          <p:cNvPr id="38" name="Text 35"/>
          <p:cNvSpPr/>
          <p:nvPr/>
        </p:nvSpPr>
        <p:spPr>
          <a:xfrm>
            <a:off x="8412480" y="4800600"/>
            <a:ext cx="3200400" cy="640080"/>
          </a:xfrm>
          <a:prstGeom prst="roundRect">
            <a:avLst>
              <a:gd name="adj" fmla="val 8571"/>
            </a:avLst>
          </a:prstGeom>
          <a:solidFill>
            <a:schemeClr val="bg1"/>
          </a:solidFill>
          <a:ln w="15875">
            <a:solidFill>
              <a:schemeClr val="accent4"/>
            </a:solidFill>
          </a:ln>
        </p:spPr>
        <p:txBody>
          <a:bodyPr wrap="square" lIns="762" tIns="762" rIns="762" bIns="762" rtlCol="0" anchor="ctr"/>
          <a:lstStyle/>
          <a:p>
            <a:pPr algn="ctr" indent="0" marL="0">
              <a:buNone/>
            </a:pPr>
            <a:endParaRPr lang="en-US" sz="1300" dirty="0"/>
          </a:p>
        </p:txBody>
      </p:sp>
      <p:sp>
        <p:nvSpPr>
          <p:cNvPr id="39" name="Text 36"/>
          <p:cNvSpPr txBox="1"/>
          <p:nvPr/>
        </p:nvSpPr>
        <p:spPr>
          <a:xfrm>
            <a:off x="8503920" y="4864608"/>
            <a:ext cx="3017520" cy="274320"/>
          </a:xfrm>
          <a:prstGeom prst="rect">
            <a:avLst/>
          </a:prstGeom>
          <a:noFill/>
          <a:ln/>
        </p:spPr>
        <p:txBody>
          <a:bodyPr wrap="square" lIns="0" tIns="0" rIns="0" bIns="0" rtlCol="0" anchor="t"/>
          <a:lstStyle/>
          <a:p>
            <a:pPr indent="0" marL="0">
              <a:buNone/>
            </a:pPr>
            <a:r>
              <a:rPr lang="en-US" sz="1200" b="1" dirty="0">
                <a:solidFill>
                  <a:schemeClr val="tx1"/>
                </a:solidFill>
              </a:rPr>
              <a:t>Stubs</a:t>
            </a:r>
            <a:endParaRPr lang="en-US" sz="1200" dirty="0"/>
          </a:p>
        </p:txBody>
      </p:sp>
      <p:sp>
        <p:nvSpPr>
          <p:cNvPr id="40" name="Text 37"/>
          <p:cNvSpPr txBox="1"/>
          <p:nvPr/>
        </p:nvSpPr>
        <p:spPr>
          <a:xfrm>
            <a:off x="8503920" y="5148072"/>
            <a:ext cx="3017520" cy="228600"/>
          </a:xfrm>
          <a:prstGeom prst="rect">
            <a:avLst/>
          </a:prstGeom>
          <a:noFill/>
          <a:ln/>
        </p:spPr>
        <p:txBody>
          <a:bodyPr wrap="square" lIns="0" tIns="0" rIns="0" bIns="0" rtlCol="0" anchor="t"/>
          <a:lstStyle/>
          <a:p>
            <a:pPr indent="0" marL="0">
              <a:buNone/>
            </a:pPr>
            <a:r>
              <a:rPr lang="en-US" sz="1100" dirty="0">
                <a:solidFill>
                  <a:schemeClr val="accent3"/>
                </a:solidFill>
              </a:rPr>
              <a:t>&lt;= 1,500</a:t>
            </a:r>
            <a:endParaRPr lang="en-US" sz="1100" dirty="0"/>
          </a:p>
        </p:txBody>
      </p:sp>
      <p:sp>
        <p:nvSpPr>
          <p:cNvPr id="41" name="Shape 38"/>
          <p:cNvSpPr/>
          <p:nvPr/>
        </p:nvSpPr>
        <p:spPr>
          <a:xfrm>
            <a:off x="3566160" y="2011680"/>
            <a:ext cx="4846320" cy="0"/>
          </a:xfrm>
          <a:prstGeom prst="line">
            <a:avLst/>
          </a:prstGeom>
          <a:noFill/>
          <a:ln w="22225">
            <a:solidFill>
              <a:schemeClr val="accent5"/>
            </a:solidFill>
            <a:prstDash val="dash"/>
            <a:tailEnd type="triangle"/>
          </a:ln>
        </p:spPr>
      </p:sp>
      <p:sp>
        <p:nvSpPr>
          <p:cNvPr id="42" name="Shape 39"/>
          <p:cNvSpPr/>
          <p:nvPr/>
        </p:nvSpPr>
        <p:spPr>
          <a:xfrm>
            <a:off x="7498080" y="3108960"/>
            <a:ext cx="914400" cy="457200"/>
          </a:xfrm>
          <a:prstGeom prst="line">
            <a:avLst/>
          </a:prstGeom>
          <a:noFill/>
          <a:ln w="22225">
            <a:solidFill>
              <a:schemeClr val="accent3"/>
            </a:solidFill>
            <a:prstDash val="solid"/>
            <a:tailEnd type="triangle"/>
          </a:ln>
        </p:spPr>
      </p:sp>
      <p:sp>
        <p:nvSpPr>
          <p:cNvPr id="43" name="Shape 40"/>
          <p:cNvSpPr/>
          <p:nvPr/>
        </p:nvSpPr>
        <p:spPr>
          <a:xfrm>
            <a:off x="7498080" y="4206240"/>
            <a:ext cx="914400" cy="137160"/>
          </a:xfrm>
          <a:prstGeom prst="line">
            <a:avLst/>
          </a:prstGeom>
          <a:noFill/>
          <a:ln w="22225">
            <a:solidFill>
              <a:schemeClr val="accent3"/>
            </a:solidFill>
            <a:prstDash val="solid"/>
            <a:tailEnd type="triangle"/>
          </a:ln>
        </p:spPr>
      </p:sp>
      <p:sp>
        <p:nvSpPr>
          <p:cNvPr id="44" name="Shape 41"/>
          <p:cNvSpPr/>
          <p:nvPr/>
        </p:nvSpPr>
        <p:spPr>
          <a:xfrm flipV="1">
            <a:off x="7498080" y="5120640"/>
            <a:ext cx="914400" cy="91440"/>
          </a:xfrm>
          <a:prstGeom prst="line">
            <a:avLst/>
          </a:prstGeom>
          <a:noFill/>
          <a:ln w="22225">
            <a:solidFill>
              <a:schemeClr val="accent3"/>
            </a:solidFill>
            <a:prstDash val="solid"/>
            <a:tailEnd type="triangle"/>
          </a:ln>
        </p:spPr>
      </p:sp>
      <p:sp>
        <p:nvSpPr>
          <p:cNvPr id="45" name="Text 42"/>
          <p:cNvSpPr txBox="1"/>
          <p:nvPr/>
        </p:nvSpPr>
        <p:spPr>
          <a:xfrm>
            <a:off x="4480560" y="5760720"/>
            <a:ext cx="7132320" cy="320040"/>
          </a:xfrm>
          <a:prstGeom prst="rect">
            <a:avLst/>
          </a:prstGeom>
          <a:noFill/>
          <a:ln/>
        </p:spPr>
        <p:txBody>
          <a:bodyPr wrap="square" lIns="0" tIns="0" rIns="0" bIns="0" rtlCol="0" anchor="t"/>
          <a:lstStyle/>
          <a:p>
            <a:pPr indent="0" marL="0">
              <a:buNone/>
            </a:pPr>
            <a:r>
              <a:rPr lang="en-US" sz="1200" i="1" dirty="0">
                <a:solidFill>
                  <a:schemeClr val="accent3"/>
                </a:solidFill>
              </a:rPr>
              <a:t>journal handle: the model can ask for the original (get_tool_result)</a:t>
            </a:r>
            <a:endParaRPr lang="en-US" sz="1200" dirty="0"/>
          </a:p>
        </p:txBody>
      </p:sp>
      <p:sp>
        <p:nvSpPr>
          <p:cNvPr id="46" name="Text 43"/>
          <p:cNvSpPr txBox="1"/>
          <p:nvPr/>
        </p:nvSpPr>
        <p:spPr>
          <a:xfrm>
            <a:off x="4480560" y="6080760"/>
            <a:ext cx="7132320" cy="365760"/>
          </a:xfrm>
          <a:prstGeom prst="rect">
            <a:avLst/>
          </a:prstGeom>
          <a:noFill/>
          <a:ln/>
        </p:spPr>
        <p:txBody>
          <a:bodyPr wrap="square" lIns="0" tIns="0" rIns="0" bIns="0" rtlCol="0" anchor="t"/>
          <a:lstStyle/>
          <a:p>
            <a:pPr indent="0" marL="0">
              <a:buNone/>
            </a:pPr>
            <a:r>
              <a:rPr lang="en-US" sz="1200" b="1" dirty="0">
                <a:solidFill>
                  <a:schemeClr val="tx1"/>
                </a:solidFill>
              </a:rPr>
              <a:t>Summaries are derived text. They name their source episodes and are never evidence in themselves.</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3000" b="1" dirty="0">
                <a:solidFill>
                  <a:schemeClr val="tx1"/>
                </a:solidFill>
              </a:rPr>
              <a:t>Memory 3/3: why we chose it: a wrong answer can be traced to a layer</a:t>
            </a:r>
            <a:endParaRPr lang="en-US" sz="3000" dirty="0"/>
          </a:p>
        </p:txBody>
      </p:sp>
      <p:sp>
        <p:nvSpPr>
          <p:cNvPr id="4" name="Text 1"/>
          <p:cNvSpPr txBox="1"/>
          <p:nvPr/>
        </p:nvSpPr>
        <p:spPr>
          <a:xfrm>
            <a:off x="548640" y="1371600"/>
            <a:ext cx="548640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Same failure, two memories</a:t>
            </a:r>
            <a:endParaRPr lang="en-US" sz="1800" dirty="0"/>
          </a:p>
        </p:txBody>
      </p:sp>
      <p:sp>
        <p:nvSpPr>
          <p:cNvPr id="5" name="Text 2"/>
          <p:cNvSpPr txBox="1"/>
          <p:nvPr/>
        </p:nvSpPr>
        <p:spPr>
          <a:xfrm>
            <a:off x="548640" y="1737360"/>
            <a:ext cx="6400800" cy="320040"/>
          </a:xfrm>
          <a:prstGeom prst="rect">
            <a:avLst/>
          </a:prstGeom>
          <a:noFill/>
          <a:ln/>
        </p:spPr>
        <p:txBody>
          <a:bodyPr wrap="square" lIns="0" tIns="0" rIns="0" bIns="0" rtlCol="0" anchor="t"/>
          <a:lstStyle/>
          <a:p>
            <a:pPr indent="0" marL="0">
              <a:buNone/>
            </a:pPr>
            <a:r>
              <a:rPr lang="en-US" sz="1400" i="1" dirty="0">
                <a:solidFill>
                  <a:schemeClr val="tx1"/>
                </a:solidFill>
              </a:rPr>
              <a:t>Iteration 37: the agent reports a wrong file checksum.</a:t>
            </a:r>
            <a:endParaRPr lang="en-US" sz="1400" dirty="0"/>
          </a:p>
        </p:txBody>
      </p:sp>
      <p:sp>
        <p:nvSpPr>
          <p:cNvPr id="6" name="Shape 3"/>
          <p:cNvSpPr/>
          <p:nvPr/>
        </p:nvSpPr>
        <p:spPr>
          <a:xfrm>
            <a:off x="548640" y="2286000"/>
            <a:ext cx="3291840" cy="3840480"/>
          </a:xfrm>
          <a:prstGeom prst="roundRect">
            <a:avLst>
              <a:gd name="adj" fmla="val 2222"/>
            </a:avLst>
          </a:prstGeom>
          <a:solidFill>
            <a:schemeClr val="bg2"/>
          </a:solidFill>
          <a:ln w="12700">
            <a:solidFill>
              <a:schemeClr val="bg2"/>
            </a:solidFill>
            <a:prstDash val="solid"/>
          </a:ln>
        </p:spPr>
      </p:sp>
      <p:sp>
        <p:nvSpPr>
          <p:cNvPr id="7" name="Text 4"/>
          <p:cNvSpPr txBox="1"/>
          <p:nvPr/>
        </p:nvSpPr>
        <p:spPr>
          <a:xfrm>
            <a:off x="731520" y="2395728"/>
            <a:ext cx="2926080" cy="320040"/>
          </a:xfrm>
          <a:prstGeom prst="rect">
            <a:avLst/>
          </a:prstGeom>
          <a:noFill/>
          <a:ln/>
        </p:spPr>
        <p:txBody>
          <a:bodyPr wrap="square" lIns="0" tIns="0" rIns="0" bIns="0" rtlCol="0" anchor="t"/>
          <a:lstStyle/>
          <a:p>
            <a:pPr indent="0" marL="0">
              <a:buNone/>
            </a:pPr>
            <a:r>
              <a:rPr lang="en-US" sz="1500" b="1" dirty="0">
                <a:solidFill>
                  <a:schemeClr val="accent4"/>
                </a:solidFill>
              </a:rPr>
              <a:t>Rolling text summary</a:t>
            </a:r>
            <a:endParaRPr lang="en-US" sz="1500" dirty="0"/>
          </a:p>
        </p:txBody>
      </p:sp>
      <p:sp>
        <p:nvSpPr>
          <p:cNvPr id="8" name="Text 5"/>
          <p:cNvSpPr txBox="1"/>
          <p:nvPr/>
        </p:nvSpPr>
        <p:spPr>
          <a:xfrm>
            <a:off x="731520" y="2834640"/>
            <a:ext cx="292608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Older turns are one model-written paragraph</a:t>
            </a:r>
            <a:endParaRPr lang="en-US" sz="1300" dirty="0"/>
          </a:p>
          <a:p>
            <a:pPr marL="342900" indent="-342900">
              <a:spcAft>
                <a:spcPts val="800"/>
              </a:spcAft>
              <a:buSzPct val="100000"/>
              <a:buChar char="•"/>
            </a:pPr>
            <a:r>
              <a:rPr lang="en-US" sz="1300" dirty="0">
                <a:solidFill>
                  <a:schemeClr val="tx1"/>
                </a:solidFill>
              </a:rPr>
              <a:t>The original text is gone</a:t>
            </a:r>
            <a:endParaRPr lang="en-US" sz="1300" dirty="0"/>
          </a:p>
          <a:p>
            <a:pPr marL="342900" indent="-342900">
              <a:spcAft>
                <a:spcPts val="800"/>
              </a:spcAft>
              <a:buSzPct val="100000"/>
              <a:buChar char="•"/>
            </a:pPr>
            <a:r>
              <a:rPr lang="en-US" sz="1300" dirty="0">
                <a:solidFill>
                  <a:schemeClr val="tx1"/>
                </a:solidFill>
              </a:rPr>
              <a:t>Tool error, summariser loss and model misread look identical</a:t>
            </a:r>
            <a:endParaRPr lang="en-US" sz="1300" dirty="0"/>
          </a:p>
          <a:p>
            <a:pPr marL="342900" indent="-342900">
              <a:spcAft>
                <a:spcPts val="800"/>
              </a:spcAft>
              <a:buSzPct val="100000"/>
              <a:buChar char="•"/>
            </a:pPr>
            <a:r>
              <a:rPr lang="en-US" sz="1300" dirty="0">
                <a:solidFill>
                  <a:schemeClr val="tx1"/>
                </a:solidFill>
              </a:rPr>
              <a:t>Fix is a guess</a:t>
            </a:r>
            <a:endParaRPr lang="en-US" sz="1300" dirty="0"/>
          </a:p>
        </p:txBody>
      </p:sp>
      <p:sp>
        <p:nvSpPr>
          <p:cNvPr id="9" name="Shape 6"/>
          <p:cNvSpPr/>
          <p:nvPr/>
        </p:nvSpPr>
        <p:spPr>
          <a:xfrm>
            <a:off x="4023360" y="2286000"/>
            <a:ext cx="3749040" cy="3840480"/>
          </a:xfrm>
          <a:prstGeom prst="roundRect">
            <a:avLst>
              <a:gd name="adj" fmla="val 1951"/>
            </a:avLst>
          </a:prstGeom>
          <a:solidFill>
            <a:schemeClr val="bg2"/>
          </a:solidFill>
          <a:ln w="25400">
            <a:solidFill>
              <a:schemeClr val="accent1"/>
            </a:solidFill>
            <a:prstDash val="solid"/>
          </a:ln>
        </p:spPr>
      </p:sp>
      <p:sp>
        <p:nvSpPr>
          <p:cNvPr id="10" name="Text 7"/>
          <p:cNvSpPr txBox="1"/>
          <p:nvPr/>
        </p:nvSpPr>
        <p:spPr>
          <a:xfrm>
            <a:off x="4206240" y="2395728"/>
            <a:ext cx="3383280" cy="320040"/>
          </a:xfrm>
          <a:prstGeom prst="rect">
            <a:avLst/>
          </a:prstGeom>
          <a:noFill/>
          <a:ln/>
        </p:spPr>
        <p:txBody>
          <a:bodyPr wrap="square" lIns="0" tIns="0" rIns="0" bIns="0" rtlCol="0" anchor="t"/>
          <a:lstStyle/>
          <a:p>
            <a:pPr indent="0" marL="0">
              <a:buNone/>
            </a:pPr>
            <a:r>
              <a:rPr lang="en-US" sz="1500" b="1" dirty="0">
                <a:solidFill>
                  <a:schemeClr val="accent1"/>
                </a:solidFill>
              </a:rPr>
              <a:t>This architecture</a:t>
            </a:r>
            <a:endParaRPr lang="en-US" sz="1500" dirty="0"/>
          </a:p>
        </p:txBody>
      </p:sp>
      <p:sp>
        <p:nvSpPr>
          <p:cNvPr id="11" name="Shape 8"/>
          <p:cNvSpPr/>
          <p:nvPr/>
        </p:nvSpPr>
        <p:spPr>
          <a:xfrm>
            <a:off x="4206240" y="285292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206240" y="285292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3" name="Text 10"/>
          <p:cNvSpPr txBox="1"/>
          <p:nvPr/>
        </p:nvSpPr>
        <p:spPr>
          <a:xfrm>
            <a:off x="4663440" y="2834640"/>
            <a:ext cx="2971800" cy="594360"/>
          </a:xfrm>
          <a:prstGeom prst="rect">
            <a:avLst/>
          </a:prstGeom>
          <a:noFill/>
          <a:ln/>
        </p:spPr>
        <p:txBody>
          <a:bodyPr wrap="square" lIns="0" tIns="0" rIns="0" bIns="0" rtlCol="0" anchor="t"/>
          <a:lstStyle/>
          <a:p>
            <a:pPr indent="0" marL="0">
              <a:buNone/>
            </a:pPr>
            <a:r>
              <a:rPr lang="en-US" sz="1200" dirty="0">
                <a:solidFill>
                  <a:schemeClr val="tx1"/>
                </a:solidFill>
              </a:rPr>
              <a:t>Open the context-projected event for turn 37: what the model saw</a:t>
            </a:r>
            <a:endParaRPr lang="en-US" sz="1200" dirty="0"/>
          </a:p>
        </p:txBody>
      </p:sp>
      <p:sp>
        <p:nvSpPr>
          <p:cNvPr id="14" name="Shape 11"/>
          <p:cNvSpPr/>
          <p:nvPr/>
        </p:nvSpPr>
        <p:spPr>
          <a:xfrm>
            <a:off x="4206240" y="349300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4206240" y="34930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6" name="Text 13"/>
          <p:cNvSpPr txBox="1"/>
          <p:nvPr/>
        </p:nvSpPr>
        <p:spPr>
          <a:xfrm>
            <a:off x="4663440" y="3474720"/>
            <a:ext cx="2971800" cy="594360"/>
          </a:xfrm>
          <a:prstGeom prst="rect">
            <a:avLst/>
          </a:prstGeom>
          <a:noFill/>
          <a:ln/>
        </p:spPr>
        <p:txBody>
          <a:bodyPr wrap="square" lIns="0" tIns="0" rIns="0" bIns="0" rtlCol="0" anchor="t"/>
          <a:lstStyle/>
          <a:p>
            <a:pPr indent="0" marL="0">
              <a:buNone/>
            </a:pPr>
            <a:r>
              <a:rPr lang="en-US" sz="1200" dirty="0">
                <a:solidFill>
                  <a:schemeClr val="tx1"/>
                </a:solidFill>
              </a:rPr>
              <a:t>Read the summary's source episode ids and handles</a:t>
            </a:r>
            <a:endParaRPr lang="en-US" sz="1200" dirty="0"/>
          </a:p>
        </p:txBody>
      </p:sp>
      <p:sp>
        <p:nvSpPr>
          <p:cNvPr id="17" name="Shape 14"/>
          <p:cNvSpPr/>
          <p:nvPr/>
        </p:nvSpPr>
        <p:spPr>
          <a:xfrm>
            <a:off x="4206240" y="413308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4206240" y="413308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9" name="Text 16"/>
          <p:cNvSpPr txBox="1"/>
          <p:nvPr/>
        </p:nvSpPr>
        <p:spPr>
          <a:xfrm>
            <a:off x="4663440" y="4114800"/>
            <a:ext cx="2971800" cy="594360"/>
          </a:xfrm>
          <a:prstGeom prst="rect">
            <a:avLst/>
          </a:prstGeom>
          <a:noFill/>
          <a:ln/>
        </p:spPr>
        <p:txBody>
          <a:bodyPr wrap="square" lIns="0" tIns="0" rIns="0" bIns="0" rtlCol="0" anchor="t"/>
          <a:lstStyle/>
          <a:p>
            <a:pPr indent="0" marL="0">
              <a:buNone/>
            </a:pPr>
            <a:r>
              <a:rPr lang="en-US" sz="1200" dirty="0">
                <a:solidFill>
                  <a:schemeClr val="tx1"/>
                </a:solidFill>
              </a:rPr>
              <a:t>Read its verification record: which check passed</a:t>
            </a:r>
            <a:endParaRPr lang="en-US" sz="1200" dirty="0"/>
          </a:p>
        </p:txBody>
      </p:sp>
      <p:sp>
        <p:nvSpPr>
          <p:cNvPr id="20" name="Shape 17"/>
          <p:cNvSpPr/>
          <p:nvPr/>
        </p:nvSpPr>
        <p:spPr>
          <a:xfrm>
            <a:off x="4206240" y="4773168"/>
            <a:ext cx="329184" cy="329184"/>
          </a:xfrm>
          <a:prstGeom prst="ellipse">
            <a:avLst/>
          </a:prstGeom>
          <a:solidFill>
            <a:schemeClr val="accent1"/>
          </a:solidFill>
          <a:ln w="12700">
            <a:solidFill>
              <a:schemeClr val="accent1"/>
            </a:solidFill>
            <a:prstDash val="solid"/>
          </a:ln>
        </p:spPr>
      </p:sp>
      <p:sp>
        <p:nvSpPr>
          <p:cNvPr id="21" name="Text 18"/>
          <p:cNvSpPr txBox="1"/>
          <p:nvPr/>
        </p:nvSpPr>
        <p:spPr>
          <a:xfrm>
            <a:off x="4206240" y="477316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2" name="Text 19"/>
          <p:cNvSpPr txBox="1"/>
          <p:nvPr/>
        </p:nvSpPr>
        <p:spPr>
          <a:xfrm>
            <a:off x="4663440" y="4754880"/>
            <a:ext cx="2971800" cy="594360"/>
          </a:xfrm>
          <a:prstGeom prst="rect">
            <a:avLst/>
          </a:prstGeom>
          <a:noFill/>
          <a:ln/>
        </p:spPr>
        <p:txBody>
          <a:bodyPr wrap="square" lIns="0" tIns="0" rIns="0" bIns="0" rtlCol="0" anchor="t"/>
          <a:lstStyle/>
          <a:p>
            <a:pPr indent="0" marL="0">
              <a:buNone/>
            </a:pPr>
            <a:r>
              <a:rPr lang="en-US" sz="1200" dirty="0">
                <a:solidFill>
                  <a:schemeClr val="tx1"/>
                </a:solidFill>
              </a:rPr>
              <a:t>Rehydrate the source from the archive and compare</a:t>
            </a:r>
            <a:endParaRPr lang="en-US" sz="1200" dirty="0"/>
          </a:p>
        </p:txBody>
      </p:sp>
      <p:sp>
        <p:nvSpPr>
          <p:cNvPr id="23" name="Shape 20"/>
          <p:cNvSpPr/>
          <p:nvPr/>
        </p:nvSpPr>
        <p:spPr>
          <a:xfrm>
            <a:off x="4206240" y="5413248"/>
            <a:ext cx="329184" cy="329184"/>
          </a:xfrm>
          <a:prstGeom prst="ellipse">
            <a:avLst/>
          </a:prstGeom>
          <a:solidFill>
            <a:schemeClr val="accent1"/>
          </a:solidFill>
          <a:ln w="12700">
            <a:solidFill>
              <a:schemeClr val="accent1"/>
            </a:solidFill>
            <a:prstDash val="solid"/>
          </a:ln>
        </p:spPr>
      </p:sp>
      <p:sp>
        <p:nvSpPr>
          <p:cNvPr id="24" name="Text 21"/>
          <p:cNvSpPr txBox="1"/>
          <p:nvPr/>
        </p:nvSpPr>
        <p:spPr>
          <a:xfrm>
            <a:off x="4206240" y="541324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5" name="Text 22"/>
          <p:cNvSpPr txBox="1"/>
          <p:nvPr/>
        </p:nvSpPr>
        <p:spPr>
          <a:xfrm>
            <a:off x="4663440" y="5394960"/>
            <a:ext cx="2971800" cy="594360"/>
          </a:xfrm>
          <a:prstGeom prst="rect">
            <a:avLst/>
          </a:prstGeom>
          <a:noFill/>
          <a:ln/>
        </p:spPr>
        <p:txBody>
          <a:bodyPr wrap="square" lIns="0" tIns="0" rIns="0" bIns="0" rtlCol="0" anchor="t"/>
          <a:lstStyle/>
          <a:p>
            <a:pPr indent="0" marL="0">
              <a:buNone/>
            </a:pPr>
            <a:r>
              <a:rPr lang="en-US" sz="1200" dirty="0">
                <a:solidFill>
                  <a:schemeClr val="tx1"/>
                </a:solidFill>
              </a:rPr>
              <a:t>Name the layer: tool, selection, summary or model</a:t>
            </a:r>
            <a:endParaRPr lang="en-US" sz="1200" dirty="0"/>
          </a:p>
        </p:txBody>
      </p:sp>
      <p:sp>
        <p:nvSpPr>
          <p:cNvPr id="26" name="Text 23"/>
          <p:cNvSpPr txBox="1"/>
          <p:nvPr/>
        </p:nvSpPr>
        <p:spPr>
          <a:xfrm>
            <a:off x="8138160" y="2286000"/>
            <a:ext cx="3566160" cy="320040"/>
          </a:xfrm>
          <a:prstGeom prst="rect">
            <a:avLst/>
          </a:prstGeom>
          <a:noFill/>
          <a:ln/>
        </p:spPr>
        <p:txBody>
          <a:bodyPr wrap="square" lIns="0" tIns="0" rIns="0" bIns="0" rtlCol="0" anchor="t"/>
          <a:lstStyle/>
          <a:p>
            <a:pPr indent="0" marL="0">
              <a:buNone/>
            </a:pPr>
            <a:r>
              <a:rPr lang="en-US" sz="1500" b="1" dirty="0">
                <a:solidFill>
                  <a:schemeClr val="tx1"/>
                </a:solidFill>
              </a:rPr>
              <a:t>What each choice buys</a:t>
            </a:r>
            <a:endParaRPr lang="en-US" sz="1500" dirty="0"/>
          </a:p>
        </p:txBody>
      </p:sp>
      <p:sp>
        <p:nvSpPr>
          <p:cNvPr id="27" name="Text 24"/>
          <p:cNvSpPr txBox="1"/>
          <p:nvPr/>
        </p:nvSpPr>
        <p:spPr>
          <a:xfrm>
            <a:off x="8138160" y="2743200"/>
            <a:ext cx="2743200" cy="274320"/>
          </a:xfrm>
          <a:prstGeom prst="rect">
            <a:avLst/>
          </a:prstGeom>
          <a:noFill/>
          <a:ln/>
        </p:spPr>
        <p:txBody>
          <a:bodyPr wrap="square" lIns="0" tIns="0" rIns="0" bIns="0" rtlCol="0" anchor="t"/>
          <a:lstStyle/>
          <a:p>
            <a:pPr indent="0" marL="0">
              <a:buNone/>
            </a:pPr>
            <a:r>
              <a:rPr lang="en-US" sz="1300" b="1" dirty="0">
                <a:solidFill>
                  <a:schemeClr val="accent1"/>
                </a:solidFill>
              </a:rPr>
              <a:t>Typed episodes</a:t>
            </a:r>
            <a:endParaRPr lang="en-US" sz="1300" dirty="0"/>
          </a:p>
        </p:txBody>
      </p:sp>
      <p:sp>
        <p:nvSpPr>
          <p:cNvPr id="28" name="Text 25"/>
          <p:cNvSpPr txBox="1"/>
          <p:nvPr/>
        </p:nvSpPr>
        <p:spPr>
          <a:xfrm>
            <a:off x="8138160" y="3017520"/>
            <a:ext cx="2834640" cy="502920"/>
          </a:xfrm>
          <a:prstGeom prst="rect">
            <a:avLst/>
          </a:prstGeom>
          <a:noFill/>
          <a:ln/>
        </p:spPr>
        <p:txBody>
          <a:bodyPr wrap="square" lIns="0" tIns="0" rIns="0" bIns="0" rtlCol="0" anchor="t"/>
          <a:lstStyle/>
          <a:p>
            <a:pPr indent="0" marL="0">
              <a:buNone/>
            </a:pPr>
            <a:r>
              <a:rPr lang="en-US" sz="1200" dirty="0">
                <a:solidFill>
                  <a:schemeClr val="tx1"/>
                </a:solidFill>
              </a:rPr>
              <a:t>dependencies can be enforced and followed</a:t>
            </a:r>
            <a:endParaRPr lang="en-US" sz="1200" dirty="0"/>
          </a:p>
        </p:txBody>
      </p:sp>
      <p:sp>
        <p:nvSpPr>
          <p:cNvPr id="29" name="Text 26"/>
          <p:cNvSpPr txBox="1"/>
          <p:nvPr/>
        </p:nvSpPr>
        <p:spPr>
          <a:xfrm>
            <a:off x="11018520" y="2743200"/>
            <a:ext cx="640080" cy="274320"/>
          </a:xfrm>
          <a:prstGeom prst="rect">
            <a:avLst/>
          </a:prstGeom>
          <a:noFill/>
          <a:ln/>
        </p:spPr>
        <p:txBody>
          <a:bodyPr wrap="square" lIns="0" tIns="0" rIns="0" bIns="0" rtlCol="0" anchor="t"/>
          <a:lstStyle/>
          <a:p>
            <a:pPr algn="r" indent="0" marL="0">
              <a:buNone/>
            </a:pPr>
            <a:r>
              <a:rPr lang="en-US" sz="1200" b="1" dirty="0">
                <a:solidFill>
                  <a:schemeClr val="accent2"/>
                </a:solidFill>
              </a:rPr>
              <a:t>R3</a:t>
            </a:r>
            <a:endParaRPr lang="en-US" sz="1200" dirty="0"/>
          </a:p>
        </p:txBody>
      </p:sp>
      <p:sp>
        <p:nvSpPr>
          <p:cNvPr id="30" name="Text 27"/>
          <p:cNvSpPr txBox="1"/>
          <p:nvPr/>
        </p:nvSpPr>
        <p:spPr>
          <a:xfrm>
            <a:off x="8138160" y="3611880"/>
            <a:ext cx="2743200" cy="274320"/>
          </a:xfrm>
          <a:prstGeom prst="rect">
            <a:avLst/>
          </a:prstGeom>
          <a:noFill/>
          <a:ln/>
        </p:spPr>
        <p:txBody>
          <a:bodyPr wrap="square" lIns="0" tIns="0" rIns="0" bIns="0" rtlCol="0" anchor="t"/>
          <a:lstStyle/>
          <a:p>
            <a:pPr indent="0" marL="0">
              <a:buNone/>
            </a:pPr>
            <a:r>
              <a:rPr lang="en-US" sz="1300" b="1" dirty="0">
                <a:solidFill>
                  <a:schemeClr val="accent1"/>
                </a:solidFill>
              </a:rPr>
              <a:t>Journal + archive</a:t>
            </a:r>
            <a:endParaRPr lang="en-US" sz="1300" dirty="0"/>
          </a:p>
        </p:txBody>
      </p:sp>
      <p:sp>
        <p:nvSpPr>
          <p:cNvPr id="31" name="Text 28"/>
          <p:cNvSpPr txBox="1"/>
          <p:nvPr/>
        </p:nvSpPr>
        <p:spPr>
          <a:xfrm>
            <a:off x="8138160" y="3886200"/>
            <a:ext cx="2834640" cy="502920"/>
          </a:xfrm>
          <a:prstGeom prst="rect">
            <a:avLst/>
          </a:prstGeom>
          <a:noFill/>
          <a:ln/>
        </p:spPr>
        <p:txBody>
          <a:bodyPr wrap="square" lIns="0" tIns="0" rIns="0" bIns="0" rtlCol="0" anchor="t"/>
          <a:lstStyle/>
          <a:p>
            <a:pPr indent="0" marL="0">
              <a:buNone/>
            </a:pPr>
            <a:r>
              <a:rPr lang="en-US" sz="1200" dirty="0">
                <a:solidFill>
                  <a:schemeClr val="tx1"/>
                </a:solidFill>
              </a:rPr>
              <a:t>nothing dropped is unrecoverable</a:t>
            </a:r>
            <a:endParaRPr lang="en-US" sz="1200" dirty="0"/>
          </a:p>
        </p:txBody>
      </p:sp>
      <p:sp>
        <p:nvSpPr>
          <p:cNvPr id="32" name="Text 29"/>
          <p:cNvSpPr txBox="1"/>
          <p:nvPr/>
        </p:nvSpPr>
        <p:spPr>
          <a:xfrm>
            <a:off x="11018520" y="3611880"/>
            <a:ext cx="640080" cy="274320"/>
          </a:xfrm>
          <a:prstGeom prst="rect">
            <a:avLst/>
          </a:prstGeom>
          <a:noFill/>
          <a:ln/>
        </p:spPr>
        <p:txBody>
          <a:bodyPr wrap="square" lIns="0" tIns="0" rIns="0" bIns="0" rtlCol="0" anchor="t"/>
          <a:lstStyle/>
          <a:p>
            <a:pPr algn="r" indent="0" marL="0">
              <a:buNone/>
            </a:pPr>
            <a:r>
              <a:rPr lang="en-US" sz="1200" b="1" dirty="0">
                <a:solidFill>
                  <a:schemeClr val="accent2"/>
                </a:solidFill>
              </a:rPr>
              <a:t>R2</a:t>
            </a:r>
            <a:endParaRPr lang="en-US" sz="1200" dirty="0"/>
          </a:p>
        </p:txBody>
      </p:sp>
      <p:sp>
        <p:nvSpPr>
          <p:cNvPr id="33" name="Text 30"/>
          <p:cNvSpPr txBox="1"/>
          <p:nvPr/>
        </p:nvSpPr>
        <p:spPr>
          <a:xfrm>
            <a:off x="8138160" y="4480560"/>
            <a:ext cx="2743200" cy="274320"/>
          </a:xfrm>
          <a:prstGeom prst="rect">
            <a:avLst/>
          </a:prstGeom>
          <a:noFill/>
          <a:ln/>
        </p:spPr>
        <p:txBody>
          <a:bodyPr wrap="square" lIns="0" tIns="0" rIns="0" bIns="0" rtlCol="0" anchor="t"/>
          <a:lstStyle/>
          <a:p>
            <a:pPr indent="0" marL="0">
              <a:buNone/>
            </a:pPr>
            <a:r>
              <a:rPr lang="en-US" sz="1300" b="1" dirty="0">
                <a:solidFill>
                  <a:schemeClr val="accent1"/>
                </a:solidFill>
              </a:rPr>
              <a:t>Exact selection</a:t>
            </a:r>
            <a:endParaRPr lang="en-US" sz="1300" dirty="0"/>
          </a:p>
        </p:txBody>
      </p:sp>
      <p:sp>
        <p:nvSpPr>
          <p:cNvPr id="34" name="Text 31"/>
          <p:cNvSpPr txBox="1"/>
          <p:nvPr/>
        </p:nvSpPr>
        <p:spPr>
          <a:xfrm>
            <a:off x="8138160" y="4754880"/>
            <a:ext cx="2834640" cy="502920"/>
          </a:xfrm>
          <a:prstGeom prst="rect">
            <a:avLst/>
          </a:prstGeom>
          <a:noFill/>
          <a:ln/>
        </p:spPr>
        <p:txBody>
          <a:bodyPr wrap="square" lIns="0" tIns="0" rIns="0" bIns="0" rtlCol="0" anchor="t"/>
          <a:lstStyle/>
          <a:p>
            <a:pPr indent="0" marL="0">
              <a:buNone/>
            </a:pPr>
            <a:r>
              <a:rPr lang="en-US" sz="1200" dirty="0">
                <a:solidFill>
                  <a:schemeClr val="tx1"/>
                </a:solidFill>
              </a:rPr>
              <a:t>the keep/drop decision is reproducible</a:t>
            </a:r>
            <a:endParaRPr lang="en-US" sz="1200" dirty="0"/>
          </a:p>
        </p:txBody>
      </p:sp>
      <p:sp>
        <p:nvSpPr>
          <p:cNvPr id="35" name="Text 32"/>
          <p:cNvSpPr txBox="1"/>
          <p:nvPr/>
        </p:nvSpPr>
        <p:spPr>
          <a:xfrm>
            <a:off x="11018520" y="4480560"/>
            <a:ext cx="640080" cy="274320"/>
          </a:xfrm>
          <a:prstGeom prst="rect">
            <a:avLst/>
          </a:prstGeom>
          <a:noFill/>
          <a:ln/>
        </p:spPr>
        <p:txBody>
          <a:bodyPr wrap="square" lIns="0" tIns="0" rIns="0" bIns="0" rtlCol="0" anchor="t"/>
          <a:lstStyle/>
          <a:p>
            <a:pPr algn="r" indent="0" marL="0">
              <a:buNone/>
            </a:pPr>
            <a:r>
              <a:rPr lang="en-US" sz="1200" b="1" dirty="0">
                <a:solidFill>
                  <a:schemeClr val="accent2"/>
                </a:solidFill>
              </a:rPr>
              <a:t>R1, R3</a:t>
            </a:r>
            <a:endParaRPr lang="en-US" sz="1200" dirty="0"/>
          </a:p>
        </p:txBody>
      </p:sp>
      <p:sp>
        <p:nvSpPr>
          <p:cNvPr id="36" name="Text 33"/>
          <p:cNvSpPr txBox="1"/>
          <p:nvPr/>
        </p:nvSpPr>
        <p:spPr>
          <a:xfrm>
            <a:off x="8138160" y="5349240"/>
            <a:ext cx="2743200" cy="274320"/>
          </a:xfrm>
          <a:prstGeom prst="rect">
            <a:avLst/>
          </a:prstGeom>
          <a:noFill/>
          <a:ln/>
        </p:spPr>
        <p:txBody>
          <a:bodyPr wrap="square" lIns="0" tIns="0" rIns="0" bIns="0" rtlCol="0" anchor="t"/>
          <a:lstStyle/>
          <a:p>
            <a:pPr indent="0" marL="0">
              <a:buNone/>
            </a:pPr>
            <a:r>
              <a:rPr lang="en-US" sz="1300" b="1" dirty="0">
                <a:solidFill>
                  <a:schemeClr val="accent1"/>
                </a:solidFill>
              </a:rPr>
              <a:t>Verified summaries</a:t>
            </a:r>
            <a:endParaRPr lang="en-US" sz="1300" dirty="0"/>
          </a:p>
        </p:txBody>
      </p:sp>
      <p:sp>
        <p:nvSpPr>
          <p:cNvPr id="37" name="Text 34"/>
          <p:cNvSpPr txBox="1"/>
          <p:nvPr/>
        </p:nvSpPr>
        <p:spPr>
          <a:xfrm>
            <a:off x="8138160" y="5623560"/>
            <a:ext cx="2834640" cy="502920"/>
          </a:xfrm>
          <a:prstGeom prst="rect">
            <a:avLst/>
          </a:prstGeom>
          <a:noFill/>
          <a:ln/>
        </p:spPr>
        <p:txBody>
          <a:bodyPr wrap="square" lIns="0" tIns="0" rIns="0" bIns="0" rtlCol="0" anchor="t"/>
          <a:lstStyle/>
          <a:p>
            <a:pPr indent="0" marL="0">
              <a:buNone/>
            </a:pPr>
            <a:r>
              <a:rPr lang="en-US" sz="1200" dirty="0">
                <a:solidFill>
                  <a:schemeClr val="tx1"/>
                </a:solidFill>
              </a:rPr>
              <a:t>a summary either quotes its sources or is rejected</a:t>
            </a:r>
            <a:endParaRPr lang="en-US" sz="1200" dirty="0"/>
          </a:p>
        </p:txBody>
      </p:sp>
      <p:sp>
        <p:nvSpPr>
          <p:cNvPr id="38" name="Text 35"/>
          <p:cNvSpPr txBox="1"/>
          <p:nvPr/>
        </p:nvSpPr>
        <p:spPr>
          <a:xfrm>
            <a:off x="11018520" y="5349240"/>
            <a:ext cx="640080" cy="274320"/>
          </a:xfrm>
          <a:prstGeom prst="rect">
            <a:avLst/>
          </a:prstGeom>
          <a:noFill/>
          <a:ln/>
        </p:spPr>
        <p:txBody>
          <a:bodyPr wrap="square" lIns="0" tIns="0" rIns="0" bIns="0" rtlCol="0" anchor="t"/>
          <a:lstStyle/>
          <a:p>
            <a:pPr algn="r" indent="0" marL="0">
              <a:buNone/>
            </a:pPr>
            <a:r>
              <a:rPr lang="en-US" sz="1200" b="1" dirty="0">
                <a:solidFill>
                  <a:schemeClr val="accent2"/>
                </a:solidFill>
              </a:rPr>
              <a:t>R2, R3</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3000" b="1" dirty="0">
                <a:solidFill>
                  <a:schemeClr val="tx1"/>
                </a:solidFill>
              </a:rPr>
              <a:t>Compaction is a constrained optimisation, not a truncation rule</a:t>
            </a:r>
            <a:endParaRPr lang="en-US" sz="3000" dirty="0"/>
          </a:p>
        </p:txBody>
      </p:sp>
      <p:sp>
        <p:nvSpPr>
          <p:cNvPr id="4" name="Text 1"/>
          <p:cNvSpPr txBox="1"/>
          <p:nvPr/>
        </p:nvSpPr>
        <p:spPr>
          <a:xfrm>
            <a:off x="548640" y="1371600"/>
            <a:ext cx="6400800" cy="320040"/>
          </a:xfrm>
          <a:prstGeom prst="rect">
            <a:avLst/>
          </a:prstGeom>
          <a:noFill/>
          <a:ln/>
        </p:spPr>
        <p:txBody>
          <a:bodyPr wrap="square" lIns="0" tIns="0" rIns="0" bIns="0" rtlCol="0" anchor="t"/>
          <a:lstStyle/>
          <a:p>
            <a:pPr indent="0" marL="0">
              <a:buNone/>
            </a:pPr>
            <a:r>
              <a:rPr lang="en-US" sz="1400" b="1" dirty="0">
                <a:solidFill>
                  <a:schemeClr val="tx1"/>
                </a:solidFill>
              </a:rPr>
              <a:t>Illustrative: budget 3 units; cost / u = utility. Keep what maximises utility, prerequisites included.</a:t>
            </a:r>
            <a:endParaRPr lang="en-US" sz="1400" dirty="0"/>
          </a:p>
        </p:txBody>
      </p:sp>
      <p:sp>
        <p:nvSpPr>
          <p:cNvPr id="5" name="Text 2"/>
          <p:cNvSpPr/>
          <p:nvPr/>
        </p:nvSpPr>
        <p:spPr>
          <a:xfrm>
            <a:off x="731520" y="2103120"/>
            <a:ext cx="1737360" cy="960120"/>
          </a:xfrm>
          <a:prstGeom prst="roundRect">
            <a:avLst>
              <a:gd name="adj" fmla="val 5714"/>
            </a:avLst>
          </a:prstGeom>
          <a:solidFill>
            <a:schemeClr val="accent1"/>
          </a:solidFill>
          <a:ln>
            <a:solidFill>
              <a:schemeClr val="accent1"/>
            </a:solidFill>
          </a:ln>
        </p:spPr>
        <p:txBody>
          <a:bodyPr wrap="square" lIns="762" tIns="762" rIns="762" bIns="762" rtlCol="0" anchor="ctr"/>
          <a:lstStyle/>
          <a:p>
            <a:pPr algn="ctr" indent="0" marL="0">
              <a:buNone/>
            </a:pPr>
            <a:r>
              <a:rPr lang="en-US" sz="1200" b="1" dirty="0">
                <a:solidFill>
                  <a:schemeClr val="bg1"/>
                </a:solidFill>
              </a:rPr>
              <a:t>read config</a:t>
            </a:r>
            <a:endParaRPr lang="en-US" sz="1200" dirty="0"/>
          </a:p>
          <a:p>
            <a:pPr algn="ctr" indent="0" marL="0">
              <a:buNone/>
            </a:pPr>
            <a:r>
              <a:rPr lang="en-US" sz="1200" b="1" dirty="0">
                <a:solidFill>
                  <a:schemeClr val="bg1"/>
                </a:solidFill>
              </a:rPr>
              <a:t>cost 1  u 2</a:t>
            </a:r>
            <a:endParaRPr lang="en-US" sz="1200" dirty="0"/>
          </a:p>
        </p:txBody>
      </p:sp>
      <p:sp>
        <p:nvSpPr>
          <p:cNvPr id="6" name="Text 3"/>
          <p:cNvSpPr/>
          <p:nvPr/>
        </p:nvSpPr>
        <p:spPr>
          <a:xfrm>
            <a:off x="2926080" y="2103120"/>
            <a:ext cx="1737360" cy="960120"/>
          </a:xfrm>
          <a:prstGeom prst="roundRect">
            <a:avLst>
              <a:gd name="adj" fmla="val 5714"/>
            </a:avLst>
          </a:prstGeom>
          <a:solidFill>
            <a:schemeClr val="accent3"/>
          </a:solidFill>
          <a:ln>
            <a:solidFill>
              <a:schemeClr val="accent3"/>
            </a:solidFill>
          </a:ln>
        </p:spPr>
        <p:txBody>
          <a:bodyPr wrap="square" lIns="762" tIns="762" rIns="762" bIns="762" rtlCol="0" anchor="ctr"/>
          <a:lstStyle/>
          <a:p>
            <a:pPr algn="ctr" indent="0" marL="0">
              <a:buNone/>
            </a:pPr>
            <a:r>
              <a:rPr lang="en-US" sz="1200" b="1" dirty="0">
                <a:solidFill>
                  <a:schemeClr val="bg1"/>
                </a:solidFill>
              </a:rPr>
              <a:t>list dir</a:t>
            </a:r>
            <a:endParaRPr lang="en-US" sz="1200" dirty="0"/>
          </a:p>
          <a:p>
            <a:pPr algn="ctr" indent="0" marL="0">
              <a:buNone/>
            </a:pPr>
            <a:r>
              <a:rPr lang="en-US" sz="1200" b="1" dirty="0">
                <a:solidFill>
                  <a:schemeClr val="bg1"/>
                </a:solidFill>
              </a:rPr>
              <a:t>cost 1  u 1</a:t>
            </a:r>
            <a:endParaRPr lang="en-US" sz="1200" dirty="0"/>
          </a:p>
        </p:txBody>
      </p:sp>
      <p:sp>
        <p:nvSpPr>
          <p:cNvPr id="7" name="Text 4"/>
          <p:cNvSpPr/>
          <p:nvPr/>
        </p:nvSpPr>
        <p:spPr>
          <a:xfrm>
            <a:off x="5120640" y="2103120"/>
            <a:ext cx="1737360" cy="960120"/>
          </a:xfrm>
          <a:prstGeom prst="roundRect">
            <a:avLst>
              <a:gd name="adj" fmla="val 5714"/>
            </a:avLst>
          </a:prstGeom>
          <a:solidFill>
            <a:schemeClr val="accent3"/>
          </a:solidFill>
          <a:ln>
            <a:solidFill>
              <a:schemeClr val="accent3"/>
            </a:solidFill>
          </a:ln>
        </p:spPr>
        <p:txBody>
          <a:bodyPr wrap="square" lIns="762" tIns="762" rIns="762" bIns="762" rtlCol="0" anchor="ctr"/>
          <a:lstStyle/>
          <a:p>
            <a:pPr algn="ctr" indent="0" marL="0">
              <a:buNone/>
            </a:pPr>
            <a:r>
              <a:rPr lang="en-US" sz="1200" b="1" dirty="0">
                <a:solidFill>
                  <a:schemeClr val="bg1"/>
                </a:solidFill>
              </a:rPr>
              <a:t>read log</a:t>
            </a:r>
            <a:endParaRPr lang="en-US" sz="1200" dirty="0"/>
          </a:p>
          <a:p>
            <a:pPr algn="ctr" indent="0" marL="0">
              <a:buNone/>
            </a:pPr>
            <a:r>
              <a:rPr lang="en-US" sz="1200" b="1" dirty="0">
                <a:solidFill>
                  <a:schemeClr val="bg1"/>
                </a:solidFill>
              </a:rPr>
              <a:t>cost 2  u 3</a:t>
            </a:r>
            <a:endParaRPr lang="en-US" sz="1200" dirty="0"/>
          </a:p>
        </p:txBody>
      </p:sp>
      <p:sp>
        <p:nvSpPr>
          <p:cNvPr id="8" name="Text 5"/>
          <p:cNvSpPr/>
          <p:nvPr/>
        </p:nvSpPr>
        <p:spPr>
          <a:xfrm>
            <a:off x="731520" y="3931920"/>
            <a:ext cx="1737360" cy="960120"/>
          </a:xfrm>
          <a:prstGeom prst="roundRect">
            <a:avLst>
              <a:gd name="adj" fmla="val 5714"/>
            </a:avLst>
          </a:prstGeom>
          <a:solidFill>
            <a:schemeClr val="accent2"/>
          </a:solidFill>
          <a:ln>
            <a:solidFill>
              <a:schemeClr val="accent2"/>
            </a:solidFill>
          </a:ln>
        </p:spPr>
        <p:txBody>
          <a:bodyPr wrap="square" lIns="762" tIns="762" rIns="762" bIns="762" rtlCol="0" anchor="ctr"/>
          <a:lstStyle/>
          <a:p>
            <a:pPr algn="ctr" indent="0" marL="0">
              <a:buNone/>
            </a:pPr>
            <a:r>
              <a:rPr lang="en-US" sz="1200" b="1" dirty="0">
                <a:solidFill>
                  <a:schemeClr val="bg1"/>
                </a:solidFill>
              </a:rPr>
              <a:t>edit file</a:t>
            </a:r>
            <a:endParaRPr lang="en-US" sz="1200" dirty="0"/>
          </a:p>
          <a:p>
            <a:pPr algn="ctr" indent="0" marL="0">
              <a:buNone/>
            </a:pPr>
            <a:r>
              <a:rPr lang="en-US" sz="1200" b="1" dirty="0">
                <a:solidFill>
                  <a:schemeClr val="bg1"/>
                </a:solidFill>
              </a:rPr>
              <a:t>cost 1  u 4</a:t>
            </a:r>
            <a:endParaRPr lang="en-US" sz="1200" dirty="0"/>
          </a:p>
        </p:txBody>
      </p:sp>
      <p:sp>
        <p:nvSpPr>
          <p:cNvPr id="9" name="Text 6"/>
          <p:cNvSpPr/>
          <p:nvPr/>
        </p:nvSpPr>
        <p:spPr>
          <a:xfrm>
            <a:off x="4023360" y="3931920"/>
            <a:ext cx="1737360" cy="960120"/>
          </a:xfrm>
          <a:prstGeom prst="roundRect">
            <a:avLst>
              <a:gd name="adj" fmla="val 5714"/>
            </a:avLst>
          </a:prstGeom>
          <a:solidFill>
            <a:schemeClr val="accent3"/>
          </a:solidFill>
          <a:ln>
            <a:solidFill>
              <a:schemeClr val="accent3"/>
            </a:solidFill>
          </a:ln>
        </p:spPr>
        <p:txBody>
          <a:bodyPr wrap="square" lIns="762" tIns="762" rIns="762" bIns="762" rtlCol="0" anchor="ctr"/>
          <a:lstStyle/>
          <a:p>
            <a:pPr algn="ctr" indent="0" marL="0">
              <a:buNone/>
            </a:pPr>
            <a:r>
              <a:rPr lang="en-US" sz="1200" b="1" dirty="0">
                <a:solidFill>
                  <a:schemeClr val="bg1"/>
                </a:solidFill>
              </a:rPr>
              <a:t>run tests</a:t>
            </a:r>
            <a:endParaRPr lang="en-US" sz="1200" dirty="0"/>
          </a:p>
          <a:p>
            <a:pPr algn="ctr" indent="0" marL="0">
              <a:buNone/>
            </a:pPr>
            <a:r>
              <a:rPr lang="en-US" sz="1200" b="1" dirty="0">
                <a:solidFill>
                  <a:schemeClr val="bg1"/>
                </a:solidFill>
              </a:rPr>
              <a:t>cost 1  u 2</a:t>
            </a:r>
            <a:endParaRPr lang="en-US" sz="1200" dirty="0"/>
          </a:p>
        </p:txBody>
      </p:sp>
      <p:sp>
        <p:nvSpPr>
          <p:cNvPr id="10" name="Shape 7"/>
          <p:cNvSpPr/>
          <p:nvPr/>
        </p:nvSpPr>
        <p:spPr>
          <a:xfrm flipV="1">
            <a:off x="1600200" y="3063240"/>
            <a:ext cx="0" cy="868680"/>
          </a:xfrm>
          <a:prstGeom prst="line">
            <a:avLst/>
          </a:prstGeom>
          <a:noFill/>
          <a:ln w="22225">
            <a:solidFill>
              <a:schemeClr val="accent3"/>
            </a:solidFill>
            <a:prstDash val="solid"/>
            <a:tailEnd type="triangle"/>
          </a:ln>
        </p:spPr>
      </p:sp>
      <p:sp>
        <p:nvSpPr>
          <p:cNvPr id="11" name="Shape 8"/>
          <p:cNvSpPr/>
          <p:nvPr/>
        </p:nvSpPr>
        <p:spPr>
          <a:xfrm flipV="1">
            <a:off x="4892040" y="3063240"/>
            <a:ext cx="777240" cy="868680"/>
          </a:xfrm>
          <a:prstGeom prst="line">
            <a:avLst/>
          </a:prstGeom>
          <a:noFill/>
          <a:ln w="22225">
            <a:solidFill>
              <a:schemeClr val="accent3"/>
            </a:solidFill>
            <a:prstDash val="solid"/>
            <a:tailEnd type="triangle"/>
          </a:ln>
        </p:spPr>
      </p:sp>
      <p:sp>
        <p:nvSpPr>
          <p:cNvPr id="12" name="Shape 9"/>
          <p:cNvSpPr/>
          <p:nvPr/>
        </p:nvSpPr>
        <p:spPr>
          <a:xfrm flipH="1" flipV="1">
            <a:off x="3794760" y="3063240"/>
            <a:ext cx="1097280" cy="868680"/>
          </a:xfrm>
          <a:prstGeom prst="line">
            <a:avLst/>
          </a:prstGeom>
          <a:noFill/>
          <a:ln w="22225">
            <a:solidFill>
              <a:schemeClr val="accent3"/>
            </a:solidFill>
            <a:prstDash val="solid"/>
            <a:tailEnd type="triangle"/>
          </a:ln>
        </p:spPr>
      </p:sp>
      <p:sp>
        <p:nvSpPr>
          <p:cNvPr id="13" name="Text 10"/>
          <p:cNvSpPr txBox="1"/>
          <p:nvPr/>
        </p:nvSpPr>
        <p:spPr>
          <a:xfrm>
            <a:off x="548640" y="5120640"/>
            <a:ext cx="5486400" cy="274320"/>
          </a:xfrm>
          <a:prstGeom prst="rect">
            <a:avLst/>
          </a:prstGeom>
          <a:noFill/>
          <a:ln/>
        </p:spPr>
        <p:txBody>
          <a:bodyPr wrap="square" lIns="0" tIns="0" rIns="0" bIns="0" rtlCol="0" anchor="t"/>
          <a:lstStyle/>
          <a:p>
            <a:pPr indent="0" marL="0">
              <a:buNone/>
            </a:pPr>
            <a:r>
              <a:rPr lang="en-US" sz="1200" dirty="0">
                <a:solidFill>
                  <a:schemeClr val="accent3"/>
                </a:solidFill>
              </a:rPr>
              <a:t>action  -&gt;  the observation it consumed</a:t>
            </a:r>
            <a:endParaRPr lang="en-US" sz="1200" dirty="0"/>
          </a:p>
        </p:txBody>
      </p:sp>
      <p:sp>
        <p:nvSpPr>
          <p:cNvPr id="14" name="Shape 11"/>
          <p:cNvSpPr/>
          <p:nvPr/>
        </p:nvSpPr>
        <p:spPr>
          <a:xfrm>
            <a:off x="731520" y="5486400"/>
            <a:ext cx="201168" cy="201168"/>
          </a:xfrm>
          <a:prstGeom prst="rect">
            <a:avLst/>
          </a:prstGeom>
          <a:solidFill>
            <a:schemeClr val="accent2"/>
          </a:solidFill>
          <a:ln w="12700">
            <a:solidFill>
              <a:schemeClr val="accent2"/>
            </a:solidFill>
            <a:prstDash val="solid"/>
          </a:ln>
        </p:spPr>
      </p:sp>
      <p:sp>
        <p:nvSpPr>
          <p:cNvPr id="15" name="Text 12"/>
          <p:cNvSpPr txBox="1"/>
          <p:nvPr/>
        </p:nvSpPr>
        <p:spPr>
          <a:xfrm>
            <a:off x="1051560" y="5458968"/>
            <a:ext cx="4572000" cy="256032"/>
          </a:xfrm>
          <a:prstGeom prst="rect">
            <a:avLst/>
          </a:prstGeom>
          <a:noFill/>
          <a:ln/>
        </p:spPr>
        <p:txBody>
          <a:bodyPr wrap="square" lIns="0" tIns="0" rIns="0" bIns="0" rtlCol="0" anchor="t"/>
          <a:lstStyle/>
          <a:p>
            <a:pPr indent="0" marL="0">
              <a:buNone/>
            </a:pPr>
            <a:r>
              <a:rPr lang="en-US" sz="1200" dirty="0">
                <a:solidFill>
                  <a:schemeClr val="tx1"/>
                </a:solidFill>
              </a:rPr>
              <a:t>mandatory: latest batch, open, prerequisites</a:t>
            </a:r>
            <a:endParaRPr lang="en-US" sz="1200" dirty="0"/>
          </a:p>
        </p:txBody>
      </p:sp>
      <p:sp>
        <p:nvSpPr>
          <p:cNvPr id="16" name="Shape 13"/>
          <p:cNvSpPr/>
          <p:nvPr/>
        </p:nvSpPr>
        <p:spPr>
          <a:xfrm>
            <a:off x="731520" y="5779008"/>
            <a:ext cx="201168" cy="201168"/>
          </a:xfrm>
          <a:prstGeom prst="rect">
            <a:avLst/>
          </a:prstGeom>
          <a:solidFill>
            <a:schemeClr val="accent1"/>
          </a:solidFill>
          <a:ln w="12700">
            <a:solidFill>
              <a:schemeClr val="accent1"/>
            </a:solidFill>
            <a:prstDash val="solid"/>
          </a:ln>
        </p:spPr>
      </p:sp>
      <p:sp>
        <p:nvSpPr>
          <p:cNvPr id="17" name="Text 14"/>
          <p:cNvSpPr txBox="1"/>
          <p:nvPr/>
        </p:nvSpPr>
        <p:spPr>
          <a:xfrm>
            <a:off x="1051560" y="5751576"/>
            <a:ext cx="4572000" cy="256032"/>
          </a:xfrm>
          <a:prstGeom prst="rect">
            <a:avLst/>
          </a:prstGeom>
          <a:noFill/>
          <a:ln/>
        </p:spPr>
        <p:txBody>
          <a:bodyPr wrap="square" lIns="0" tIns="0" rIns="0" bIns="0" rtlCol="0" anchor="t"/>
          <a:lstStyle/>
          <a:p>
            <a:pPr indent="0" marL="0">
              <a:buNone/>
            </a:pPr>
            <a:r>
              <a:rPr lang="en-US" sz="1200" dirty="0">
                <a:solidFill>
                  <a:schemeClr val="tx1"/>
                </a:solidFill>
              </a:rPr>
              <a:t>kept by the solver</a:t>
            </a:r>
            <a:endParaRPr lang="en-US" sz="1200" dirty="0"/>
          </a:p>
        </p:txBody>
      </p:sp>
      <p:sp>
        <p:nvSpPr>
          <p:cNvPr id="18" name="Shape 15"/>
          <p:cNvSpPr/>
          <p:nvPr/>
        </p:nvSpPr>
        <p:spPr>
          <a:xfrm>
            <a:off x="731520" y="6071616"/>
            <a:ext cx="201168" cy="201168"/>
          </a:xfrm>
          <a:prstGeom prst="rect">
            <a:avLst/>
          </a:prstGeom>
          <a:solidFill>
            <a:schemeClr val="accent3"/>
          </a:solidFill>
          <a:ln w="12700">
            <a:solidFill>
              <a:schemeClr val="accent3"/>
            </a:solidFill>
            <a:prstDash val="solid"/>
          </a:ln>
        </p:spPr>
      </p:sp>
      <p:sp>
        <p:nvSpPr>
          <p:cNvPr id="19" name="Text 16"/>
          <p:cNvSpPr txBox="1"/>
          <p:nvPr/>
        </p:nvSpPr>
        <p:spPr>
          <a:xfrm>
            <a:off x="1051560" y="6044184"/>
            <a:ext cx="4572000" cy="256032"/>
          </a:xfrm>
          <a:prstGeom prst="rect">
            <a:avLst/>
          </a:prstGeom>
          <a:noFill/>
          <a:ln/>
        </p:spPr>
        <p:txBody>
          <a:bodyPr wrap="square" lIns="0" tIns="0" rIns="0" bIns="0" rtlCol="0" anchor="t"/>
          <a:lstStyle/>
          <a:p>
            <a:pPr indent="0" marL="0">
              <a:buNone/>
            </a:pPr>
            <a:r>
              <a:rPr lang="en-US" sz="1200" dirty="0">
                <a:solidFill>
                  <a:schemeClr val="tx1"/>
                </a:solidFill>
              </a:rPr>
              <a:t>compacted to a stub</a:t>
            </a:r>
            <a:endParaRPr lang="en-US" sz="1200" dirty="0"/>
          </a:p>
        </p:txBody>
      </p:sp>
      <p:sp>
        <p:nvSpPr>
          <p:cNvPr id="20" name="Text 17"/>
          <p:cNvSpPr txBox="1"/>
          <p:nvPr/>
        </p:nvSpPr>
        <p:spPr>
          <a:xfrm>
            <a:off x="7589520" y="1371600"/>
            <a:ext cx="4114800" cy="320040"/>
          </a:xfrm>
          <a:prstGeom prst="rect">
            <a:avLst/>
          </a:prstGeom>
          <a:noFill/>
          <a:ln/>
        </p:spPr>
        <p:txBody>
          <a:bodyPr wrap="square" lIns="0" tIns="0" rIns="0" bIns="0" rtlCol="0" anchor="t"/>
          <a:lstStyle/>
          <a:p>
            <a:pPr indent="0" marL="0">
              <a:buNone/>
            </a:pPr>
            <a:r>
              <a:rPr lang="en-US" sz="1600" b="1" dirty="0">
                <a:solidFill>
                  <a:schemeClr val="accent1"/>
                </a:solidFill>
              </a:rPr>
              <a:t>What the solver returns</a:t>
            </a:r>
            <a:endParaRPr lang="en-US" sz="1600" dirty="0"/>
          </a:p>
        </p:txBody>
      </p:sp>
      <p:sp>
        <p:nvSpPr>
          <p:cNvPr id="21" name="Text 18"/>
          <p:cNvSpPr txBox="1"/>
          <p:nvPr/>
        </p:nvSpPr>
        <p:spPr>
          <a:xfrm>
            <a:off x="7589520" y="1783080"/>
            <a:ext cx="411480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 selection closed under prerequisites</a:t>
            </a:r>
            <a:endParaRPr lang="en-US" sz="1300" dirty="0"/>
          </a:p>
          <a:p>
            <a:pPr marL="342900" indent="-342900">
              <a:spcAft>
                <a:spcPts val="600"/>
              </a:spcAft>
              <a:buSzPct val="100000"/>
              <a:buChar char="•"/>
            </a:pPr>
            <a:r>
              <a:rPr lang="en-US" sz="1300" dirty="0">
                <a:solidFill>
                  <a:schemeClr val="tx1"/>
                </a:solidFill>
              </a:rPr>
              <a:t>Status: optimal, best-effort or infeasible-mandatory</a:t>
            </a:r>
            <a:endParaRPr lang="en-US" sz="1300" dirty="0"/>
          </a:p>
          <a:p>
            <a:pPr marL="342900" indent="-342900">
              <a:spcAft>
                <a:spcPts val="600"/>
              </a:spcAft>
              <a:buSzPct val="100000"/>
              <a:buChar char="•"/>
            </a:pPr>
            <a:r>
              <a:rPr lang="en-US" sz="1300" dirty="0">
                <a:solidFill>
                  <a:schemeClr val="tx1"/>
                </a:solidFill>
              </a:rPr>
              <a:t>Upper bound, optimality gap, branch nodes, problem hash</a:t>
            </a:r>
            <a:endParaRPr lang="en-US" sz="1300" dirty="0"/>
          </a:p>
        </p:txBody>
      </p:sp>
      <p:sp>
        <p:nvSpPr>
          <p:cNvPr id="22" name="Text 19"/>
          <p:cNvSpPr txBox="1"/>
          <p:nvPr/>
        </p:nvSpPr>
        <p:spPr>
          <a:xfrm>
            <a:off x="7589520" y="3657600"/>
            <a:ext cx="4114800" cy="320040"/>
          </a:xfrm>
          <a:prstGeom prst="rect">
            <a:avLst/>
          </a:prstGeom>
          <a:noFill/>
          <a:ln/>
        </p:spPr>
        <p:txBody>
          <a:bodyPr wrap="square" lIns="0" tIns="0" rIns="0" bIns="0" rtlCol="0" anchor="t"/>
          <a:lstStyle/>
          <a:p>
            <a:pPr indent="0" marL="0">
              <a:buNone/>
            </a:pPr>
            <a:r>
              <a:rPr lang="en-US" sz="1600" b="1" dirty="0">
                <a:solidFill>
                  <a:schemeClr val="accent2"/>
                </a:solidFill>
              </a:rPr>
              <a:t>Why exact, and where it stops</a:t>
            </a:r>
            <a:endParaRPr lang="en-US" sz="1600" dirty="0"/>
          </a:p>
        </p:txBody>
      </p:sp>
      <p:sp>
        <p:nvSpPr>
          <p:cNvPr id="23" name="Text 20"/>
          <p:cNvSpPr txBox="1"/>
          <p:nvPr/>
        </p:nvSpPr>
        <p:spPr>
          <a:xfrm>
            <a:off x="7589520" y="4069080"/>
            <a:ext cx="4114800" cy="21031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 greedy rule can keep an action and drop its premise; the closure rules that out</a:t>
            </a:r>
            <a:endParaRPr lang="en-US" sz="1300" dirty="0"/>
          </a:p>
          <a:p>
            <a:pPr marL="342900" indent="-342900">
              <a:spcAft>
                <a:spcPts val="600"/>
              </a:spcAft>
              <a:buSzPct val="100000"/>
              <a:buChar char="•"/>
            </a:pPr>
            <a:r>
              <a:rPr lang="en-US" sz="1300" dirty="0">
                <a:solidFill>
                  <a:schemeClr val="tx1"/>
                </a:solidFill>
              </a:rPr>
              <a:t>The certificate makes the choice reproducible and auditable</a:t>
            </a:r>
            <a:endParaRPr lang="en-US" sz="1300" dirty="0"/>
          </a:p>
          <a:p>
            <a:pPr marL="342900" indent="-342900">
              <a:spcAft>
                <a:spcPts val="600"/>
              </a:spcAft>
              <a:buSzPct val="100000"/>
              <a:buChar char="•"/>
            </a:pPr>
            <a:r>
              <a:rPr lang="en-US" sz="1300" dirty="0">
                <a:solidFill>
                  <a:schemeClr val="tx1"/>
                </a:solidFill>
              </a:rPr>
              <a:t>Limit: utility weights are hand-set, so optimal for a stated utility, not for task success</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3000" b="1" dirty="0">
                <a:solidFill>
                  <a:schemeClr val="tx1"/>
                </a:solidFill>
              </a:rPr>
              <a:t>A summary is a checked claim about episodes, never a replacement for them</a:t>
            </a:r>
            <a:endParaRPr lang="en-US" sz="3000" dirty="0"/>
          </a:p>
        </p:txBody>
      </p:sp>
      <p:sp>
        <p:nvSpPr>
          <p:cNvPr id="4" name="Text 1"/>
          <p:cNvSpPr/>
          <p:nvPr/>
        </p:nvSpPr>
        <p:spPr>
          <a:xfrm>
            <a:off x="548640" y="1737360"/>
            <a:ext cx="1965960" cy="1143000"/>
          </a:xfrm>
          <a:prstGeom prst="roundRect">
            <a:avLst>
              <a:gd name="adj" fmla="val 4800"/>
            </a:avLst>
          </a:prstGeom>
          <a:solidFill>
            <a:schemeClr val="accent5"/>
          </a:solidFill>
          <a:ln>
            <a:solidFill>
              <a:schemeClr val="accent5"/>
            </a:solidFill>
          </a:ln>
        </p:spPr>
        <p:txBody>
          <a:bodyPr wrap="square" lIns="762" tIns="762" rIns="762" bIns="762" rtlCol="0" anchor="ctr"/>
          <a:lstStyle/>
          <a:p>
            <a:pPr algn="ctr" indent="0" marL="0">
              <a:buNone/>
            </a:pPr>
            <a:endParaRPr lang="en-US" sz="1300" dirty="0"/>
          </a:p>
        </p:txBody>
      </p:sp>
      <p:sp>
        <p:nvSpPr>
          <p:cNvPr id="5" name="Text 2"/>
          <p:cNvSpPr txBox="1"/>
          <p:nvPr/>
        </p:nvSpPr>
        <p:spPr>
          <a:xfrm>
            <a:off x="658368" y="1810512"/>
            <a:ext cx="1746504" cy="292608"/>
          </a:xfrm>
          <a:prstGeom prst="rect">
            <a:avLst/>
          </a:prstGeom>
          <a:noFill/>
          <a:ln/>
        </p:spPr>
        <p:txBody>
          <a:bodyPr wrap="square" lIns="0" tIns="0" rIns="0" bIns="0" rtlCol="0" anchor="t"/>
          <a:lstStyle/>
          <a:p>
            <a:pPr indent="0" marL="0">
              <a:buNone/>
            </a:pPr>
            <a:r>
              <a:rPr lang="en-US" sz="1400" b="1" dirty="0">
                <a:solidFill>
                  <a:schemeClr val="bg1"/>
                </a:solidFill>
              </a:rPr>
              <a:t>1  Archive</a:t>
            </a:r>
            <a:endParaRPr lang="en-US" sz="1400" dirty="0"/>
          </a:p>
        </p:txBody>
      </p:sp>
      <p:sp>
        <p:nvSpPr>
          <p:cNvPr id="6" name="Text 3"/>
          <p:cNvSpPr txBox="1"/>
          <p:nvPr/>
        </p:nvSpPr>
        <p:spPr>
          <a:xfrm>
            <a:off x="658368" y="2148840"/>
            <a:ext cx="1746504" cy="731520"/>
          </a:xfrm>
          <a:prstGeom prst="rect">
            <a:avLst/>
          </a:prstGeom>
          <a:noFill/>
          <a:ln/>
        </p:spPr>
        <p:txBody>
          <a:bodyPr wrap="square" lIns="0" tIns="0" rIns="0" bIns="0" rtlCol="0" anchor="t"/>
          <a:lstStyle/>
          <a:p>
            <a:pPr indent="0" marL="0">
              <a:buNone/>
            </a:pPr>
            <a:r>
              <a:rPr lang="en-US" sz="1200" dirty="0">
                <a:solidFill>
                  <a:schemeClr val="bg1"/>
                </a:solidFill>
              </a:rPr>
              <a:t>content-addressed,</a:t>
            </a:r>
            <a:endParaRPr lang="en-US" sz="1200" dirty="0"/>
          </a:p>
          <a:p>
            <a:pPr indent="0" marL="0">
              <a:buNone/>
            </a:pPr>
            <a:r>
              <a:rPr lang="en-US" sz="1200" dirty="0">
                <a:solidFill>
                  <a:schemeClr val="bg1"/>
                </a:solidFill>
              </a:rPr>
              <a:t>read back and</a:t>
            </a:r>
            <a:endParaRPr lang="en-US" sz="1200" dirty="0"/>
          </a:p>
          <a:p>
            <a:pPr indent="0" marL="0">
              <a:buNone/>
            </a:pPr>
            <a:r>
              <a:rPr lang="en-US" sz="1200" dirty="0">
                <a:solidFill>
                  <a:schemeClr val="bg1"/>
                </a:solidFill>
              </a:rPr>
              <a:t>compared</a:t>
            </a:r>
            <a:endParaRPr lang="en-US" sz="1200" dirty="0"/>
          </a:p>
        </p:txBody>
      </p:sp>
      <p:sp>
        <p:nvSpPr>
          <p:cNvPr id="7" name="Shape 4"/>
          <p:cNvSpPr/>
          <p:nvPr/>
        </p:nvSpPr>
        <p:spPr>
          <a:xfrm>
            <a:off x="2514600" y="2308860"/>
            <a:ext cx="320040" cy="0"/>
          </a:xfrm>
          <a:prstGeom prst="line">
            <a:avLst/>
          </a:prstGeom>
          <a:noFill/>
          <a:ln w="22225">
            <a:solidFill>
              <a:schemeClr val="accent3"/>
            </a:solidFill>
            <a:prstDash val="solid"/>
            <a:tailEnd type="triangle"/>
          </a:ln>
        </p:spPr>
      </p:sp>
      <p:sp>
        <p:nvSpPr>
          <p:cNvPr id="8" name="Text 5"/>
          <p:cNvSpPr/>
          <p:nvPr/>
        </p:nvSpPr>
        <p:spPr>
          <a:xfrm>
            <a:off x="2834640" y="1737360"/>
            <a:ext cx="1965960" cy="1143000"/>
          </a:xfrm>
          <a:prstGeom prst="roundRect">
            <a:avLst>
              <a:gd name="adj" fmla="val 4800"/>
            </a:avLst>
          </a:prstGeom>
          <a:solidFill>
            <a:schemeClr val="accent3"/>
          </a:solidFill>
          <a:ln>
            <a:solidFill>
              <a:schemeClr val="accent3"/>
            </a:solidFill>
          </a:ln>
        </p:spPr>
        <p:txBody>
          <a:bodyPr wrap="square" lIns="762" tIns="762" rIns="762" bIns="762" rtlCol="0" anchor="ctr"/>
          <a:lstStyle/>
          <a:p>
            <a:pPr algn="ctr" indent="0" marL="0">
              <a:buNone/>
            </a:pPr>
            <a:endParaRPr lang="en-US" sz="1300" dirty="0"/>
          </a:p>
        </p:txBody>
      </p:sp>
      <p:sp>
        <p:nvSpPr>
          <p:cNvPr id="9" name="Text 6"/>
          <p:cNvSpPr txBox="1"/>
          <p:nvPr/>
        </p:nvSpPr>
        <p:spPr>
          <a:xfrm>
            <a:off x="2944368" y="1810512"/>
            <a:ext cx="1746504" cy="292608"/>
          </a:xfrm>
          <a:prstGeom prst="rect">
            <a:avLst/>
          </a:prstGeom>
          <a:noFill/>
          <a:ln/>
        </p:spPr>
        <p:txBody>
          <a:bodyPr wrap="square" lIns="0" tIns="0" rIns="0" bIns="0" rtlCol="0" anchor="t"/>
          <a:lstStyle/>
          <a:p>
            <a:pPr indent="0" marL="0">
              <a:buNone/>
            </a:pPr>
            <a:r>
              <a:rPr lang="en-US" sz="1400" b="1" dirty="0">
                <a:solidFill>
                  <a:schemeClr val="bg1"/>
                </a:solidFill>
              </a:rPr>
              <a:t>2  Summarise</a:t>
            </a:r>
            <a:endParaRPr lang="en-US" sz="1400" dirty="0"/>
          </a:p>
        </p:txBody>
      </p:sp>
      <p:sp>
        <p:nvSpPr>
          <p:cNvPr id="10" name="Text 7"/>
          <p:cNvSpPr txBox="1"/>
          <p:nvPr/>
        </p:nvSpPr>
        <p:spPr>
          <a:xfrm>
            <a:off x="2944368" y="2148840"/>
            <a:ext cx="1746504" cy="731520"/>
          </a:xfrm>
          <a:prstGeom prst="rect">
            <a:avLst/>
          </a:prstGeom>
          <a:noFill/>
          <a:ln/>
        </p:spPr>
        <p:txBody>
          <a:bodyPr wrap="square" lIns="0" tIns="0" rIns="0" bIns="0" rtlCol="0" anchor="t"/>
          <a:lstStyle/>
          <a:p>
            <a:pPr indent="0" marL="0">
              <a:buNone/>
            </a:pPr>
            <a:r>
              <a:rPr lang="en-US" sz="1200" dirty="0">
                <a:solidFill>
                  <a:schemeClr val="bg1"/>
                </a:solidFill>
              </a:rPr>
              <a:t>extractive by default;</a:t>
            </a:r>
            <a:endParaRPr lang="en-US" sz="1200" dirty="0"/>
          </a:p>
          <a:p>
            <a:pPr indent="0" marL="0">
              <a:buNone/>
            </a:pPr>
            <a:r>
              <a:rPr lang="en-US" sz="1200" dirty="0">
                <a:solidFill>
                  <a:schemeClr val="bg1"/>
                </a:solidFill>
              </a:rPr>
              <a:t>host model optional</a:t>
            </a:r>
            <a:endParaRPr lang="en-US" sz="1200" dirty="0"/>
          </a:p>
        </p:txBody>
      </p:sp>
      <p:sp>
        <p:nvSpPr>
          <p:cNvPr id="11" name="Shape 8"/>
          <p:cNvSpPr/>
          <p:nvPr/>
        </p:nvSpPr>
        <p:spPr>
          <a:xfrm>
            <a:off x="4800600" y="2308860"/>
            <a:ext cx="320040" cy="0"/>
          </a:xfrm>
          <a:prstGeom prst="line">
            <a:avLst/>
          </a:prstGeom>
          <a:noFill/>
          <a:ln w="22225">
            <a:solidFill>
              <a:schemeClr val="accent3"/>
            </a:solidFill>
            <a:prstDash val="solid"/>
            <a:tailEnd type="triangle"/>
          </a:ln>
        </p:spPr>
      </p:sp>
      <p:sp>
        <p:nvSpPr>
          <p:cNvPr id="12" name="Text 9"/>
          <p:cNvSpPr/>
          <p:nvPr/>
        </p:nvSpPr>
        <p:spPr>
          <a:xfrm>
            <a:off x="5120640" y="1737360"/>
            <a:ext cx="1965960" cy="1143000"/>
          </a:xfrm>
          <a:prstGeom prst="roundRect">
            <a:avLst>
              <a:gd name="adj" fmla="val 4800"/>
            </a:avLst>
          </a:prstGeom>
          <a:solidFill>
            <a:schemeClr val="accent1"/>
          </a:solidFill>
          <a:ln>
            <a:solidFill>
              <a:schemeClr val="accent1"/>
            </a:solidFill>
          </a:ln>
        </p:spPr>
        <p:txBody>
          <a:bodyPr wrap="square" lIns="762" tIns="762" rIns="762" bIns="762" rtlCol="0" anchor="ctr"/>
          <a:lstStyle/>
          <a:p>
            <a:pPr algn="ctr" indent="0" marL="0">
              <a:buNone/>
            </a:pPr>
            <a:endParaRPr lang="en-US" sz="1300" dirty="0"/>
          </a:p>
        </p:txBody>
      </p:sp>
      <p:sp>
        <p:nvSpPr>
          <p:cNvPr id="13" name="Text 10"/>
          <p:cNvSpPr txBox="1"/>
          <p:nvPr/>
        </p:nvSpPr>
        <p:spPr>
          <a:xfrm>
            <a:off x="5230368" y="1810512"/>
            <a:ext cx="1746504" cy="292608"/>
          </a:xfrm>
          <a:prstGeom prst="rect">
            <a:avLst/>
          </a:prstGeom>
          <a:noFill/>
          <a:ln/>
        </p:spPr>
        <p:txBody>
          <a:bodyPr wrap="square" lIns="0" tIns="0" rIns="0" bIns="0" rtlCol="0" anchor="t"/>
          <a:lstStyle/>
          <a:p>
            <a:pPr indent="0" marL="0">
              <a:buNone/>
            </a:pPr>
            <a:r>
              <a:rPr lang="en-US" sz="1400" b="1" dirty="0">
                <a:solidFill>
                  <a:schemeClr val="bg1"/>
                </a:solidFill>
              </a:rPr>
              <a:t>3  Verify</a:t>
            </a:r>
            <a:endParaRPr lang="en-US" sz="1400" dirty="0"/>
          </a:p>
        </p:txBody>
      </p:sp>
      <p:sp>
        <p:nvSpPr>
          <p:cNvPr id="14" name="Text 11"/>
          <p:cNvSpPr txBox="1"/>
          <p:nvPr/>
        </p:nvSpPr>
        <p:spPr>
          <a:xfrm>
            <a:off x="5230368" y="2148840"/>
            <a:ext cx="1746504" cy="731520"/>
          </a:xfrm>
          <a:prstGeom prst="rect">
            <a:avLst/>
          </a:prstGeom>
          <a:noFill/>
          <a:ln/>
        </p:spPr>
        <p:txBody>
          <a:bodyPr wrap="square" lIns="0" tIns="0" rIns="0" bIns="0" rtlCol="0" anchor="t"/>
          <a:lstStyle/>
          <a:p>
            <a:pPr indent="0" marL="0">
              <a:buNone/>
            </a:pPr>
            <a:r>
              <a:rPr lang="en-US" sz="1200" dirty="0">
                <a:solidFill>
                  <a:schemeClr val="bg1"/>
                </a:solidFill>
              </a:rPr>
              <a:t>deterministic checks</a:t>
            </a:r>
            <a:endParaRPr lang="en-US" sz="1200" dirty="0"/>
          </a:p>
          <a:p>
            <a:pPr indent="0" marL="0">
              <a:buNone/>
            </a:pPr>
            <a:r>
              <a:rPr lang="en-US" sz="1200" dirty="0">
                <a:solidFill>
                  <a:schemeClr val="bg1"/>
                </a:solidFill>
              </a:rPr>
              <a:t>decide</a:t>
            </a:r>
            <a:endParaRPr lang="en-US" sz="1200" dirty="0"/>
          </a:p>
        </p:txBody>
      </p:sp>
      <p:sp>
        <p:nvSpPr>
          <p:cNvPr id="15" name="Shape 12"/>
          <p:cNvSpPr/>
          <p:nvPr/>
        </p:nvSpPr>
        <p:spPr>
          <a:xfrm>
            <a:off x="7086600" y="2308860"/>
            <a:ext cx="320040" cy="0"/>
          </a:xfrm>
          <a:prstGeom prst="line">
            <a:avLst/>
          </a:prstGeom>
          <a:noFill/>
          <a:ln w="22225">
            <a:solidFill>
              <a:schemeClr val="accent3"/>
            </a:solidFill>
            <a:prstDash val="solid"/>
            <a:tailEnd type="triangle"/>
          </a:ln>
        </p:spPr>
      </p:sp>
      <p:sp>
        <p:nvSpPr>
          <p:cNvPr id="16" name="Text 13"/>
          <p:cNvSpPr/>
          <p:nvPr/>
        </p:nvSpPr>
        <p:spPr>
          <a:xfrm>
            <a:off x="7406640" y="1737360"/>
            <a:ext cx="1965960" cy="1143000"/>
          </a:xfrm>
          <a:prstGeom prst="roundRect">
            <a:avLst>
              <a:gd name="adj" fmla="val 4800"/>
            </a:avLst>
          </a:prstGeom>
          <a:solidFill>
            <a:schemeClr val="accent3"/>
          </a:solidFill>
          <a:ln>
            <a:solidFill>
              <a:schemeClr val="accent3"/>
            </a:solidFill>
          </a:ln>
        </p:spPr>
        <p:txBody>
          <a:bodyPr wrap="square" lIns="762" tIns="762" rIns="762" bIns="762" rtlCol="0" anchor="ctr"/>
          <a:lstStyle/>
          <a:p>
            <a:pPr algn="ctr" indent="0" marL="0">
              <a:buNone/>
            </a:pPr>
            <a:endParaRPr lang="en-US" sz="1300" dirty="0"/>
          </a:p>
        </p:txBody>
      </p:sp>
      <p:sp>
        <p:nvSpPr>
          <p:cNvPr id="17" name="Text 14"/>
          <p:cNvSpPr txBox="1"/>
          <p:nvPr/>
        </p:nvSpPr>
        <p:spPr>
          <a:xfrm>
            <a:off x="7516368" y="1810512"/>
            <a:ext cx="1746504" cy="292608"/>
          </a:xfrm>
          <a:prstGeom prst="rect">
            <a:avLst/>
          </a:prstGeom>
          <a:noFill/>
          <a:ln/>
        </p:spPr>
        <p:txBody>
          <a:bodyPr wrap="square" lIns="0" tIns="0" rIns="0" bIns="0" rtlCol="0" anchor="t"/>
          <a:lstStyle/>
          <a:p>
            <a:pPr indent="0" marL="0">
              <a:buNone/>
            </a:pPr>
            <a:r>
              <a:rPr lang="en-US" sz="1400" b="1" dirty="0">
                <a:solidFill>
                  <a:schemeClr val="bg1"/>
                </a:solidFill>
              </a:rPr>
              <a:t>4  Judges</a:t>
            </a:r>
            <a:endParaRPr lang="en-US" sz="1400" dirty="0"/>
          </a:p>
        </p:txBody>
      </p:sp>
      <p:sp>
        <p:nvSpPr>
          <p:cNvPr id="18" name="Text 15"/>
          <p:cNvSpPr txBox="1"/>
          <p:nvPr/>
        </p:nvSpPr>
        <p:spPr>
          <a:xfrm>
            <a:off x="7516368" y="2148840"/>
            <a:ext cx="1746504" cy="731520"/>
          </a:xfrm>
          <a:prstGeom prst="rect">
            <a:avLst/>
          </a:prstGeom>
          <a:noFill/>
          <a:ln/>
        </p:spPr>
        <p:txBody>
          <a:bodyPr wrap="square" lIns="0" tIns="0" rIns="0" bIns="0" rtlCol="0" anchor="t"/>
          <a:lstStyle/>
          <a:p>
            <a:pPr indent="0" marL="0">
              <a:buNone/>
            </a:pPr>
            <a:r>
              <a:rPr lang="en-US" sz="1200" dirty="0">
                <a:solidFill>
                  <a:schemeClr val="bg1"/>
                </a:solidFill>
              </a:rPr>
              <a:t>may only veto</a:t>
            </a:r>
            <a:endParaRPr lang="en-US" sz="1200" dirty="0"/>
          </a:p>
        </p:txBody>
      </p:sp>
      <p:sp>
        <p:nvSpPr>
          <p:cNvPr id="19" name="Shape 16"/>
          <p:cNvSpPr/>
          <p:nvPr/>
        </p:nvSpPr>
        <p:spPr>
          <a:xfrm>
            <a:off x="9372600" y="2308860"/>
            <a:ext cx="320040" cy="0"/>
          </a:xfrm>
          <a:prstGeom prst="line">
            <a:avLst/>
          </a:prstGeom>
          <a:noFill/>
          <a:ln w="22225">
            <a:solidFill>
              <a:schemeClr val="accent3"/>
            </a:solidFill>
            <a:prstDash val="solid"/>
            <a:tailEnd type="triangle"/>
          </a:ln>
        </p:spPr>
      </p:sp>
      <p:sp>
        <p:nvSpPr>
          <p:cNvPr id="20" name="Text 17"/>
          <p:cNvSpPr/>
          <p:nvPr/>
        </p:nvSpPr>
        <p:spPr>
          <a:xfrm>
            <a:off x="9692640" y="1737360"/>
            <a:ext cx="1965960" cy="1143000"/>
          </a:xfrm>
          <a:prstGeom prst="roundRect">
            <a:avLst>
              <a:gd name="adj" fmla="val 4800"/>
            </a:avLst>
          </a:prstGeom>
          <a:solidFill>
            <a:schemeClr val="accent2"/>
          </a:solidFill>
          <a:ln>
            <a:solidFill>
              <a:schemeClr val="accent2"/>
            </a:solidFill>
          </a:ln>
        </p:spPr>
        <p:txBody>
          <a:bodyPr wrap="square" lIns="762" tIns="762" rIns="762" bIns="762" rtlCol="0" anchor="ctr"/>
          <a:lstStyle/>
          <a:p>
            <a:pPr algn="ctr" indent="0" marL="0">
              <a:buNone/>
            </a:pPr>
            <a:endParaRPr lang="en-US" sz="1300" dirty="0"/>
          </a:p>
        </p:txBody>
      </p:sp>
      <p:sp>
        <p:nvSpPr>
          <p:cNvPr id="21" name="Text 18"/>
          <p:cNvSpPr txBox="1"/>
          <p:nvPr/>
        </p:nvSpPr>
        <p:spPr>
          <a:xfrm>
            <a:off x="9802368" y="1810512"/>
            <a:ext cx="1746504" cy="292608"/>
          </a:xfrm>
          <a:prstGeom prst="rect">
            <a:avLst/>
          </a:prstGeom>
          <a:noFill/>
          <a:ln/>
        </p:spPr>
        <p:txBody>
          <a:bodyPr wrap="square" lIns="0" tIns="0" rIns="0" bIns="0" rtlCol="0" anchor="t"/>
          <a:lstStyle/>
          <a:p>
            <a:pPr indent="0" marL="0">
              <a:buNone/>
            </a:pPr>
            <a:r>
              <a:rPr lang="en-US" sz="1400" b="1" dirty="0">
                <a:solidFill>
                  <a:schemeClr val="bg1"/>
                </a:solidFill>
              </a:rPr>
              <a:t>5  Commit</a:t>
            </a:r>
            <a:endParaRPr lang="en-US" sz="1400" dirty="0"/>
          </a:p>
        </p:txBody>
      </p:sp>
      <p:sp>
        <p:nvSpPr>
          <p:cNvPr id="22" name="Text 19"/>
          <p:cNvSpPr txBox="1"/>
          <p:nvPr/>
        </p:nvSpPr>
        <p:spPr>
          <a:xfrm>
            <a:off x="9802368" y="2148840"/>
            <a:ext cx="1746504" cy="731520"/>
          </a:xfrm>
          <a:prstGeom prst="rect">
            <a:avLst/>
          </a:prstGeom>
          <a:noFill/>
          <a:ln/>
        </p:spPr>
        <p:txBody>
          <a:bodyPr wrap="square" lIns="0" tIns="0" rIns="0" bIns="0" rtlCol="0" anchor="t"/>
          <a:lstStyle/>
          <a:p>
            <a:pPr indent="0" marL="0">
              <a:buNone/>
            </a:pPr>
            <a:r>
              <a:rPr lang="en-US" sz="1200" dirty="0">
                <a:solidFill>
                  <a:schemeClr val="bg1"/>
                </a:solidFill>
              </a:rPr>
              <a:t>release payload,</a:t>
            </a:r>
            <a:endParaRPr lang="en-US" sz="1200" dirty="0"/>
          </a:p>
          <a:p>
            <a:pPr indent="0" marL="0">
              <a:buNone/>
            </a:pPr>
            <a:r>
              <a:rPr lang="en-US" sz="1200" dirty="0">
                <a:solidFill>
                  <a:schemeClr val="bg1"/>
                </a:solidFill>
              </a:rPr>
              <a:t>link summary + archive</a:t>
            </a:r>
            <a:endParaRPr lang="en-US" sz="1200" dirty="0"/>
          </a:p>
        </p:txBody>
      </p:sp>
      <p:sp>
        <p:nvSpPr>
          <p:cNvPr id="23" name="Shape 20"/>
          <p:cNvSpPr/>
          <p:nvPr/>
        </p:nvSpPr>
        <p:spPr>
          <a:xfrm>
            <a:off x="5577840" y="2880360"/>
            <a:ext cx="0" cy="548640"/>
          </a:xfrm>
          <a:prstGeom prst="line">
            <a:avLst/>
          </a:prstGeom>
          <a:noFill/>
          <a:ln w="22225">
            <a:solidFill>
              <a:schemeClr val="accent4"/>
            </a:solidFill>
            <a:prstDash val="dash"/>
            <a:tailEnd type="triangle"/>
          </a:ln>
        </p:spPr>
      </p:sp>
      <p:sp>
        <p:nvSpPr>
          <p:cNvPr id="24" name="Text 21"/>
          <p:cNvSpPr txBox="1"/>
          <p:nvPr/>
        </p:nvSpPr>
        <p:spPr>
          <a:xfrm>
            <a:off x="5760720" y="3200400"/>
            <a:ext cx="5852160" cy="274320"/>
          </a:xfrm>
          <a:prstGeom prst="rect">
            <a:avLst/>
          </a:prstGeom>
          <a:noFill/>
          <a:ln/>
        </p:spPr>
        <p:txBody>
          <a:bodyPr wrap="square" lIns="0" tIns="0" rIns="0" bIns="0" rtlCol="0" anchor="t"/>
          <a:lstStyle/>
          <a:p>
            <a:pPr indent="0" marL="0">
              <a:buNone/>
            </a:pPr>
            <a:r>
              <a:rPr lang="en-US" sz="1200" dirty="0">
                <a:solidFill>
                  <a:schemeClr val="accent4"/>
                </a:solidFill>
              </a:rPr>
              <a:t>any failure: keep originals, name the failing check, retry up to a limit</a:t>
            </a:r>
            <a:endParaRPr lang="en-US" sz="1200" dirty="0"/>
          </a:p>
        </p:txBody>
      </p:sp>
      <p:sp>
        <p:nvSpPr>
          <p:cNvPr id="25" name="Text 22"/>
          <p:cNvSpPr txBox="1"/>
          <p:nvPr/>
        </p:nvSpPr>
        <p:spPr>
          <a:xfrm>
            <a:off x="548640" y="3657600"/>
            <a:ext cx="5486400" cy="320040"/>
          </a:xfrm>
          <a:prstGeom prst="rect">
            <a:avLst/>
          </a:prstGeom>
          <a:noFill/>
          <a:ln/>
        </p:spPr>
        <p:txBody>
          <a:bodyPr wrap="square" lIns="0" tIns="0" rIns="0" bIns="0" rtlCol="0" anchor="t"/>
          <a:lstStyle/>
          <a:p>
            <a:pPr indent="0" marL="0">
              <a:buNone/>
            </a:pPr>
            <a:r>
              <a:rPr lang="en-US" sz="1600" b="1" dirty="0">
                <a:solidFill>
                  <a:schemeClr val="accent1"/>
                </a:solidFill>
              </a:rPr>
              <a:t>What the deterministic checks look at</a:t>
            </a:r>
            <a:endParaRPr lang="en-US" sz="1600" dirty="0"/>
          </a:p>
        </p:txBody>
      </p:sp>
      <p:sp>
        <p:nvSpPr>
          <p:cNvPr id="26" name="Shape 23"/>
          <p:cNvSpPr/>
          <p:nvPr/>
        </p:nvSpPr>
        <p:spPr>
          <a:xfrm>
            <a:off x="548640" y="4123944"/>
            <a:ext cx="182880" cy="182880"/>
          </a:xfrm>
          <a:prstGeom prst="ellipse">
            <a:avLst/>
          </a:prstGeom>
          <a:solidFill>
            <a:schemeClr val="accent1"/>
          </a:solidFill>
          <a:ln w="12700">
            <a:solidFill>
              <a:schemeClr val="accent1"/>
            </a:solidFill>
            <a:prstDash val="solid"/>
          </a:ln>
        </p:spPr>
      </p:sp>
      <p:sp>
        <p:nvSpPr>
          <p:cNvPr id="27" name="Text 24"/>
          <p:cNvSpPr txBox="1"/>
          <p:nvPr/>
        </p:nvSpPr>
        <p:spPr>
          <a:xfrm>
            <a:off x="868680" y="4069080"/>
            <a:ext cx="3291840" cy="457200"/>
          </a:xfrm>
          <a:prstGeom prst="rect">
            <a:avLst/>
          </a:prstGeom>
          <a:noFill/>
          <a:ln/>
        </p:spPr>
        <p:txBody>
          <a:bodyPr wrap="square" lIns="0" tIns="0" rIns="0" bIns="0" rtlCol="0" anchor="t"/>
          <a:lstStyle/>
          <a:p>
            <a:pPr indent="0" marL="0">
              <a:buNone/>
            </a:pPr>
            <a:r>
              <a:rPr lang="en-US" sz="1300" dirty="0">
                <a:solidFill>
                  <a:schemeClr val="tx1"/>
                </a:solidFill>
              </a:rPr>
              <a:t>Archive entries present and unchanged</a:t>
            </a:r>
            <a:endParaRPr lang="en-US" sz="1300" dirty="0"/>
          </a:p>
        </p:txBody>
      </p:sp>
      <p:sp>
        <p:nvSpPr>
          <p:cNvPr id="28" name="Shape 25"/>
          <p:cNvSpPr/>
          <p:nvPr/>
        </p:nvSpPr>
        <p:spPr>
          <a:xfrm>
            <a:off x="4297680" y="4123944"/>
            <a:ext cx="182880" cy="182880"/>
          </a:xfrm>
          <a:prstGeom prst="ellipse">
            <a:avLst/>
          </a:prstGeom>
          <a:solidFill>
            <a:schemeClr val="accent1"/>
          </a:solidFill>
          <a:ln w="12700">
            <a:solidFill>
              <a:schemeClr val="accent1"/>
            </a:solidFill>
            <a:prstDash val="solid"/>
          </a:ln>
        </p:spPr>
      </p:sp>
      <p:sp>
        <p:nvSpPr>
          <p:cNvPr id="29" name="Text 26"/>
          <p:cNvSpPr txBox="1"/>
          <p:nvPr/>
        </p:nvSpPr>
        <p:spPr>
          <a:xfrm>
            <a:off x="4617720" y="4069080"/>
            <a:ext cx="3291840" cy="457200"/>
          </a:xfrm>
          <a:prstGeom prst="rect">
            <a:avLst/>
          </a:prstGeom>
          <a:noFill/>
          <a:ln/>
        </p:spPr>
        <p:txBody>
          <a:bodyPr wrap="square" lIns="0" tIns="0" rIns="0" bIns="0" rtlCol="0" anchor="t"/>
          <a:lstStyle/>
          <a:p>
            <a:pPr indent="0" marL="0">
              <a:buNone/>
            </a:pPr>
            <a:r>
              <a:rPr lang="en-US" sz="1300" dirty="0">
                <a:solidFill>
                  <a:schemeClr val="tx1"/>
                </a:solidFill>
              </a:rPr>
              <a:t>Dependencies resolve in the store</a:t>
            </a:r>
            <a:endParaRPr lang="en-US" sz="1300" dirty="0"/>
          </a:p>
        </p:txBody>
      </p:sp>
      <p:sp>
        <p:nvSpPr>
          <p:cNvPr id="30" name="Shape 27"/>
          <p:cNvSpPr/>
          <p:nvPr/>
        </p:nvSpPr>
        <p:spPr>
          <a:xfrm>
            <a:off x="548640" y="4672584"/>
            <a:ext cx="182880" cy="182880"/>
          </a:xfrm>
          <a:prstGeom prst="ellipse">
            <a:avLst/>
          </a:prstGeom>
          <a:solidFill>
            <a:schemeClr val="accent1"/>
          </a:solidFill>
          <a:ln w="12700">
            <a:solidFill>
              <a:schemeClr val="accent1"/>
            </a:solidFill>
            <a:prstDash val="solid"/>
          </a:ln>
        </p:spPr>
      </p:sp>
      <p:sp>
        <p:nvSpPr>
          <p:cNvPr id="31" name="Text 28"/>
          <p:cNvSpPr txBox="1"/>
          <p:nvPr/>
        </p:nvSpPr>
        <p:spPr>
          <a:xfrm>
            <a:off x="868680" y="4617720"/>
            <a:ext cx="3291840" cy="457200"/>
          </a:xfrm>
          <a:prstGeom prst="rect">
            <a:avLst/>
          </a:prstGeom>
          <a:noFill/>
          <a:ln/>
        </p:spPr>
        <p:txBody>
          <a:bodyPr wrap="square" lIns="0" tIns="0" rIns="0" bIns="0" rtlCol="0" anchor="t"/>
          <a:lstStyle/>
          <a:p>
            <a:pPr indent="0" marL="0">
              <a:buNone/>
            </a:pPr>
            <a:r>
              <a:rPr lang="en-US" sz="1300" dirty="0">
                <a:solidFill>
                  <a:schemeClr val="tx1"/>
                </a:solidFill>
              </a:rPr>
              <a:t>Citations stay inside the group</a:t>
            </a:r>
            <a:endParaRPr lang="en-US" sz="1300" dirty="0"/>
          </a:p>
        </p:txBody>
      </p:sp>
      <p:sp>
        <p:nvSpPr>
          <p:cNvPr id="32" name="Shape 29"/>
          <p:cNvSpPr/>
          <p:nvPr/>
        </p:nvSpPr>
        <p:spPr>
          <a:xfrm>
            <a:off x="4297680" y="4672584"/>
            <a:ext cx="182880" cy="182880"/>
          </a:xfrm>
          <a:prstGeom prst="ellipse">
            <a:avLst/>
          </a:prstGeom>
          <a:solidFill>
            <a:schemeClr val="accent1"/>
          </a:solidFill>
          <a:ln w="12700">
            <a:solidFill>
              <a:schemeClr val="accent1"/>
            </a:solidFill>
            <a:prstDash val="solid"/>
          </a:ln>
        </p:spPr>
      </p:sp>
      <p:sp>
        <p:nvSpPr>
          <p:cNvPr id="33" name="Text 30"/>
          <p:cNvSpPr txBox="1"/>
          <p:nvPr/>
        </p:nvSpPr>
        <p:spPr>
          <a:xfrm>
            <a:off x="4617720" y="4617720"/>
            <a:ext cx="3291840" cy="457200"/>
          </a:xfrm>
          <a:prstGeom prst="rect">
            <a:avLst/>
          </a:prstGeom>
          <a:noFill/>
          <a:ln/>
        </p:spPr>
        <p:txBody>
          <a:bodyPr wrap="square" lIns="0" tIns="0" rIns="0" bIns="0" rtlCol="0" anchor="t"/>
          <a:lstStyle/>
          <a:p>
            <a:pPr indent="0" marL="0">
              <a:buNone/>
            </a:pPr>
            <a:r>
              <a:rPr lang="en-US" sz="1300" dirty="0">
                <a:solidFill>
                  <a:schemeClr val="tx1"/>
                </a:solidFill>
              </a:rPr>
              <a:t>Claims and decisions quote cited text</a:t>
            </a:r>
            <a:endParaRPr lang="en-US" sz="1300" dirty="0"/>
          </a:p>
        </p:txBody>
      </p:sp>
      <p:sp>
        <p:nvSpPr>
          <p:cNvPr id="34" name="Shape 31"/>
          <p:cNvSpPr/>
          <p:nvPr/>
        </p:nvSpPr>
        <p:spPr>
          <a:xfrm>
            <a:off x="548640" y="5221224"/>
            <a:ext cx="182880" cy="182880"/>
          </a:xfrm>
          <a:prstGeom prst="ellipse">
            <a:avLst/>
          </a:prstGeom>
          <a:solidFill>
            <a:schemeClr val="accent1"/>
          </a:solidFill>
          <a:ln w="12700">
            <a:solidFill>
              <a:schemeClr val="accent1"/>
            </a:solidFill>
            <a:prstDash val="solid"/>
          </a:ln>
        </p:spPr>
      </p:sp>
      <p:sp>
        <p:nvSpPr>
          <p:cNvPr id="35" name="Text 32"/>
          <p:cNvSpPr txBox="1"/>
          <p:nvPr/>
        </p:nvSpPr>
        <p:spPr>
          <a:xfrm>
            <a:off x="868680" y="5166360"/>
            <a:ext cx="3291840" cy="457200"/>
          </a:xfrm>
          <a:prstGeom prst="rect">
            <a:avLst/>
          </a:prstGeom>
          <a:noFill/>
          <a:ln/>
        </p:spPr>
        <p:txBody>
          <a:bodyPr wrap="square" lIns="0" tIns="0" rIns="0" bIns="0" rtlCol="0" anchor="t"/>
          <a:lstStyle/>
          <a:p>
            <a:pPr indent="0" marL="0">
              <a:buNone/>
            </a:pPr>
            <a:r>
              <a:rPr lang="en-US" sz="1300" dirty="0">
                <a:solidFill>
                  <a:schemeClr val="tx1"/>
                </a:solidFill>
              </a:rPr>
              <a:t>Every failed or blocked episode appears</a:t>
            </a:r>
            <a:endParaRPr lang="en-US" sz="1300" dirty="0"/>
          </a:p>
        </p:txBody>
      </p:sp>
      <p:sp>
        <p:nvSpPr>
          <p:cNvPr id="36" name="Shape 33"/>
          <p:cNvSpPr/>
          <p:nvPr/>
        </p:nvSpPr>
        <p:spPr>
          <a:xfrm>
            <a:off x="4297680" y="5221224"/>
            <a:ext cx="182880" cy="182880"/>
          </a:xfrm>
          <a:prstGeom prst="ellipse">
            <a:avLst/>
          </a:prstGeom>
          <a:solidFill>
            <a:schemeClr val="accent1"/>
          </a:solidFill>
          <a:ln w="12700">
            <a:solidFill>
              <a:schemeClr val="accent1"/>
            </a:solidFill>
            <a:prstDash val="solid"/>
          </a:ln>
        </p:spPr>
      </p:sp>
      <p:sp>
        <p:nvSpPr>
          <p:cNvPr id="37" name="Text 34"/>
          <p:cNvSpPr txBox="1"/>
          <p:nvPr/>
        </p:nvSpPr>
        <p:spPr>
          <a:xfrm>
            <a:off x="4617720" y="5166360"/>
            <a:ext cx="3291840" cy="457200"/>
          </a:xfrm>
          <a:prstGeom prst="rect">
            <a:avLst/>
          </a:prstGeom>
          <a:noFill/>
          <a:ln/>
        </p:spPr>
        <p:txBody>
          <a:bodyPr wrap="square" lIns="0" tIns="0" rIns="0" bIns="0" rtlCol="0" anchor="t"/>
          <a:lstStyle/>
          <a:p>
            <a:pPr indent="0" marL="0">
              <a:buNone/>
            </a:pPr>
            <a:r>
              <a:rPr lang="en-US" sz="1300" dirty="0">
                <a:solidFill>
                  <a:schemeClr val="tx1"/>
                </a:solidFill>
              </a:rPr>
              <a:t>No number or identifier absent from sources</a:t>
            </a:r>
            <a:endParaRPr lang="en-US" sz="1300" dirty="0"/>
          </a:p>
        </p:txBody>
      </p:sp>
      <p:sp>
        <p:nvSpPr>
          <p:cNvPr id="38" name="Shape 35"/>
          <p:cNvSpPr/>
          <p:nvPr/>
        </p:nvSpPr>
        <p:spPr>
          <a:xfrm>
            <a:off x="548640" y="5769864"/>
            <a:ext cx="182880" cy="182880"/>
          </a:xfrm>
          <a:prstGeom prst="ellipse">
            <a:avLst/>
          </a:prstGeom>
          <a:solidFill>
            <a:schemeClr val="accent1"/>
          </a:solidFill>
          <a:ln w="12700">
            <a:solidFill>
              <a:schemeClr val="accent1"/>
            </a:solidFill>
            <a:prstDash val="solid"/>
          </a:ln>
        </p:spPr>
      </p:sp>
      <p:sp>
        <p:nvSpPr>
          <p:cNvPr id="39" name="Text 36"/>
          <p:cNvSpPr txBox="1"/>
          <p:nvPr/>
        </p:nvSpPr>
        <p:spPr>
          <a:xfrm>
            <a:off x="868680" y="5715000"/>
            <a:ext cx="3291840" cy="457200"/>
          </a:xfrm>
          <a:prstGeom prst="rect">
            <a:avLst/>
          </a:prstGeom>
          <a:noFill/>
          <a:ln/>
        </p:spPr>
        <p:txBody>
          <a:bodyPr wrap="square" lIns="0" tIns="0" rIns="0" bIns="0" rtlCol="0" anchor="t"/>
          <a:lstStyle/>
          <a:p>
            <a:pPr indent="0" marL="0">
              <a:buNone/>
            </a:pPr>
            <a:r>
              <a:rPr lang="en-US" sz="1300" dirty="0">
                <a:solidFill>
                  <a:schemeClr val="tx1"/>
                </a:solidFill>
              </a:rPr>
              <a:t>Compression within token ceiling</a:t>
            </a:r>
            <a:endParaRPr lang="en-US" sz="1300" dirty="0"/>
          </a:p>
        </p:txBody>
      </p:sp>
      <p:sp>
        <p:nvSpPr>
          <p:cNvPr id="40" name="Shape 37"/>
          <p:cNvSpPr/>
          <p:nvPr/>
        </p:nvSpPr>
        <p:spPr>
          <a:xfrm>
            <a:off x="4297680" y="5769864"/>
            <a:ext cx="182880" cy="182880"/>
          </a:xfrm>
          <a:prstGeom prst="ellipse">
            <a:avLst/>
          </a:prstGeom>
          <a:solidFill>
            <a:schemeClr val="accent1"/>
          </a:solidFill>
          <a:ln w="12700">
            <a:solidFill>
              <a:schemeClr val="accent1"/>
            </a:solidFill>
            <a:prstDash val="solid"/>
          </a:ln>
        </p:spPr>
      </p:sp>
      <p:sp>
        <p:nvSpPr>
          <p:cNvPr id="41" name="Text 38"/>
          <p:cNvSpPr txBox="1"/>
          <p:nvPr/>
        </p:nvSpPr>
        <p:spPr>
          <a:xfrm>
            <a:off x="4617720" y="5715000"/>
            <a:ext cx="3291840" cy="457200"/>
          </a:xfrm>
          <a:prstGeom prst="rect">
            <a:avLst/>
          </a:prstGeom>
          <a:noFill/>
          <a:ln/>
        </p:spPr>
        <p:txBody>
          <a:bodyPr wrap="square" lIns="0" tIns="0" rIns="0" bIns="0" rtlCol="0" anchor="t"/>
          <a:lstStyle/>
          <a:p>
            <a:pPr indent="0" marL="0">
              <a:buNone/>
            </a:pPr>
            <a:r>
              <a:rPr lang="en-US" sz="1300" dirty="0">
                <a:solidFill>
                  <a:schemeClr val="tx1"/>
                </a:solidFill>
              </a:rPr>
              <a:t>Hierarchy level bounded (consolidation)</a:t>
            </a:r>
            <a:endParaRPr lang="en-US" sz="1300" dirty="0"/>
          </a:p>
        </p:txBody>
      </p:sp>
      <p:sp>
        <p:nvSpPr>
          <p:cNvPr id="42" name="Text 39"/>
          <p:cNvSpPr txBox="1"/>
          <p:nvPr/>
        </p:nvSpPr>
        <p:spPr>
          <a:xfrm>
            <a:off x="8138160" y="3657600"/>
            <a:ext cx="3566160" cy="320040"/>
          </a:xfrm>
          <a:prstGeom prst="rect">
            <a:avLst/>
          </a:prstGeom>
          <a:noFill/>
          <a:ln/>
        </p:spPr>
        <p:txBody>
          <a:bodyPr wrap="square" lIns="0" tIns="0" rIns="0" bIns="0" rtlCol="0" anchor="t"/>
          <a:lstStyle/>
          <a:p>
            <a:pPr indent="0" marL="0">
              <a:buNone/>
            </a:pPr>
            <a:r>
              <a:rPr lang="en-US" sz="1600" b="1" dirty="0">
                <a:solidFill>
                  <a:schemeClr val="accent2"/>
                </a:solidFill>
              </a:rPr>
              <a:t>Reversible by design</a:t>
            </a:r>
            <a:endParaRPr lang="en-US" sz="1600" dirty="0"/>
          </a:p>
        </p:txBody>
      </p:sp>
      <p:sp>
        <p:nvSpPr>
          <p:cNvPr id="43" name="Text 40"/>
          <p:cNvSpPr txBox="1"/>
          <p:nvPr/>
        </p:nvSpPr>
        <p:spPr>
          <a:xfrm>
            <a:off x="8138160" y="4069080"/>
            <a:ext cx="3474720" cy="2011680"/>
          </a:xfrm>
          <a:prstGeom prst="rect">
            <a:avLst/>
          </a:prstGeom>
          <a:noFill/>
          <a:ln/>
        </p:spPr>
        <p:txBody>
          <a:bodyPr wrap="square" lIns="0" tIns="0" rIns="0" bIns="0" rtlCol="0" anchor="t"/>
          <a:lstStyle/>
          <a:p>
            <a:pPr indent="0" marL="0">
              <a:buNone/>
            </a:pPr>
            <a:r>
              <a:rPr lang="en-US" sz="1300" dirty="0">
                <a:solidFill>
                  <a:schemeClr val="tx1"/>
                </a:solidFill>
              </a:rPr>
              <a:t>Consolidation keeps children for provenance. Eviction only touches archived, summarised records. Rehydration restores originals within a token budget.</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3000" b="1" dirty="0">
                <a:solidFill>
                  <a:schemeClr val="tx1"/>
                </a:solidFill>
              </a:rPr>
              <a:t>The model may name a tool or an outcome; only the harness can make either happen</a:t>
            </a:r>
            <a:endParaRPr lang="en-US" sz="3000" dirty="0"/>
          </a:p>
        </p:txBody>
      </p:sp>
      <p:sp>
        <p:nvSpPr>
          <p:cNvPr id="4" name="Text 1"/>
          <p:cNvSpPr txBox="1"/>
          <p:nvPr/>
        </p:nvSpPr>
        <p:spPr>
          <a:xfrm>
            <a:off x="548640" y="1371600"/>
            <a:ext cx="457200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Governed tool call</a:t>
            </a:r>
            <a:endParaRPr lang="en-US" sz="1800" dirty="0"/>
          </a:p>
        </p:txBody>
      </p:sp>
      <p:sp>
        <p:nvSpPr>
          <p:cNvPr id="5" name="Text 2"/>
          <p:cNvSpPr/>
          <p:nvPr/>
        </p:nvSpPr>
        <p:spPr>
          <a:xfrm>
            <a:off x="548640" y="1828800"/>
            <a:ext cx="4297680" cy="530352"/>
          </a:xfrm>
          <a:prstGeom prst="roundRect">
            <a:avLst>
              <a:gd name="adj" fmla="val 10345"/>
            </a:avLst>
          </a:prstGeom>
          <a:solidFill>
            <a:schemeClr val="bg2"/>
          </a:solidFill>
          <a:ln w="12700">
            <a:solidFill>
              <a:schemeClr val="accent3"/>
            </a:solidFill>
          </a:ln>
        </p:spPr>
        <p:txBody>
          <a:bodyPr wrap="square" lIns="1905" tIns="1905" rIns="1905" bIns="1905" rtlCol="0" anchor="ctr"/>
          <a:lstStyle/>
          <a:p>
            <a:pPr algn="l" indent="0" marL="0">
              <a:buNone/>
            </a:pPr>
            <a:r>
              <a:rPr lang="en-US" sz="1300" dirty="0">
                <a:solidFill>
                  <a:schemeClr val="tx1"/>
                </a:solidFill>
              </a:rPr>
              <a:t>Declared in the definition?</a:t>
            </a:r>
            <a:endParaRPr lang="en-US" sz="1300" dirty="0"/>
          </a:p>
        </p:txBody>
      </p:sp>
      <p:sp>
        <p:nvSpPr>
          <p:cNvPr id="6" name="Shape 3"/>
          <p:cNvSpPr/>
          <p:nvPr/>
        </p:nvSpPr>
        <p:spPr>
          <a:xfrm>
            <a:off x="2697480" y="2359152"/>
            <a:ext cx="0" cy="182880"/>
          </a:xfrm>
          <a:prstGeom prst="line">
            <a:avLst/>
          </a:prstGeom>
          <a:noFill/>
          <a:ln w="22225">
            <a:solidFill>
              <a:schemeClr val="accent3"/>
            </a:solidFill>
            <a:prstDash val="solid"/>
            <a:tailEnd type="triangle"/>
          </a:ln>
        </p:spPr>
      </p:sp>
      <p:sp>
        <p:nvSpPr>
          <p:cNvPr id="7" name="Text 4"/>
          <p:cNvSpPr/>
          <p:nvPr/>
        </p:nvSpPr>
        <p:spPr>
          <a:xfrm>
            <a:off x="548640" y="2542032"/>
            <a:ext cx="4297680" cy="530352"/>
          </a:xfrm>
          <a:prstGeom prst="roundRect">
            <a:avLst>
              <a:gd name="adj" fmla="val 10345"/>
            </a:avLst>
          </a:prstGeom>
          <a:solidFill>
            <a:schemeClr val="bg2"/>
          </a:solidFill>
          <a:ln w="12700">
            <a:solidFill>
              <a:schemeClr val="accent3"/>
            </a:solidFill>
          </a:ln>
        </p:spPr>
        <p:txBody>
          <a:bodyPr wrap="square" lIns="1905" tIns="1905" rIns="1905" bIns="1905" rtlCol="0" anchor="ctr"/>
          <a:lstStyle/>
          <a:p>
            <a:pPr algn="l" indent="0" marL="0">
              <a:buNone/>
            </a:pPr>
            <a:r>
              <a:rPr lang="en-US" sz="1300" dirty="0">
                <a:solidFill>
                  <a:schemeClr val="tx1"/>
                </a:solidFill>
              </a:rPr>
              <a:t>Arguments match the JSON schema?</a:t>
            </a:r>
            <a:endParaRPr lang="en-US" sz="1300" dirty="0"/>
          </a:p>
        </p:txBody>
      </p:sp>
      <p:sp>
        <p:nvSpPr>
          <p:cNvPr id="8" name="Shape 5"/>
          <p:cNvSpPr/>
          <p:nvPr/>
        </p:nvSpPr>
        <p:spPr>
          <a:xfrm>
            <a:off x="2697480" y="3072384"/>
            <a:ext cx="0" cy="182880"/>
          </a:xfrm>
          <a:prstGeom prst="line">
            <a:avLst/>
          </a:prstGeom>
          <a:noFill/>
          <a:ln w="22225">
            <a:solidFill>
              <a:schemeClr val="accent3"/>
            </a:solidFill>
            <a:prstDash val="solid"/>
            <a:tailEnd type="triangle"/>
          </a:ln>
        </p:spPr>
      </p:sp>
      <p:sp>
        <p:nvSpPr>
          <p:cNvPr id="9" name="Text 6"/>
          <p:cNvSpPr/>
          <p:nvPr/>
        </p:nvSpPr>
        <p:spPr>
          <a:xfrm>
            <a:off x="548640" y="3255264"/>
            <a:ext cx="4297680" cy="530352"/>
          </a:xfrm>
          <a:prstGeom prst="roundRect">
            <a:avLst>
              <a:gd name="adj" fmla="val 10345"/>
            </a:avLst>
          </a:prstGeom>
          <a:solidFill>
            <a:schemeClr val="bg2"/>
          </a:solidFill>
          <a:ln w="12700">
            <a:solidFill>
              <a:schemeClr val="accent3"/>
            </a:solidFill>
          </a:ln>
        </p:spPr>
        <p:txBody>
          <a:bodyPr wrap="square" lIns="1905" tIns="1905" rIns="1905" bIns="1905" rtlCol="0" anchor="ctr"/>
          <a:lstStyle/>
          <a:p>
            <a:pPr algn="l" indent="0" marL="0">
              <a:buNone/>
            </a:pPr>
            <a:r>
              <a:rPr lang="en-US" sz="1300" dirty="0">
                <a:solidFill>
                  <a:schemeClr val="tx1"/>
                </a:solidFill>
              </a:rPr>
              <a:t>Pre-tool hooks</a:t>
            </a:r>
            <a:endParaRPr lang="en-US" sz="1300" dirty="0"/>
          </a:p>
        </p:txBody>
      </p:sp>
      <p:sp>
        <p:nvSpPr>
          <p:cNvPr id="10" name="Shape 7"/>
          <p:cNvSpPr/>
          <p:nvPr/>
        </p:nvSpPr>
        <p:spPr>
          <a:xfrm>
            <a:off x="2697480" y="3785616"/>
            <a:ext cx="0" cy="182880"/>
          </a:xfrm>
          <a:prstGeom prst="line">
            <a:avLst/>
          </a:prstGeom>
          <a:noFill/>
          <a:ln w="22225">
            <a:solidFill>
              <a:schemeClr val="accent3"/>
            </a:solidFill>
            <a:prstDash val="solid"/>
            <a:tailEnd type="triangle"/>
          </a:ln>
        </p:spPr>
      </p:sp>
      <p:sp>
        <p:nvSpPr>
          <p:cNvPr id="11" name="Text 8"/>
          <p:cNvSpPr/>
          <p:nvPr/>
        </p:nvSpPr>
        <p:spPr>
          <a:xfrm>
            <a:off x="548640" y="3968496"/>
            <a:ext cx="4297680" cy="530352"/>
          </a:xfrm>
          <a:prstGeom prst="roundRect">
            <a:avLst>
              <a:gd name="adj" fmla="val 10345"/>
            </a:avLst>
          </a:prstGeom>
          <a:solidFill>
            <a:schemeClr val="bg2"/>
          </a:solidFill>
          <a:ln w="12700">
            <a:solidFill>
              <a:schemeClr val="accent3"/>
            </a:solidFill>
          </a:ln>
        </p:spPr>
        <p:txBody>
          <a:bodyPr wrap="square" lIns="1905" tIns="1905" rIns="1905" bIns="1905" rtlCol="0" anchor="ctr"/>
          <a:lstStyle/>
          <a:p>
            <a:pPr algn="l" indent="0" marL="0">
              <a:buNone/>
            </a:pPr>
            <a:r>
              <a:rPr lang="en-US" sz="1300" dirty="0">
                <a:solidFill>
                  <a:schemeClr val="tx1"/>
                </a:solidFill>
              </a:rPr>
              <a:t>Sensitive paths, capability grant, containment</a:t>
            </a:r>
            <a:endParaRPr lang="en-US" sz="1300" dirty="0"/>
          </a:p>
        </p:txBody>
      </p:sp>
      <p:sp>
        <p:nvSpPr>
          <p:cNvPr id="12" name="Shape 9"/>
          <p:cNvSpPr/>
          <p:nvPr/>
        </p:nvSpPr>
        <p:spPr>
          <a:xfrm>
            <a:off x="2697480" y="4498848"/>
            <a:ext cx="0" cy="182880"/>
          </a:xfrm>
          <a:prstGeom prst="line">
            <a:avLst/>
          </a:prstGeom>
          <a:noFill/>
          <a:ln w="22225">
            <a:solidFill>
              <a:schemeClr val="accent3"/>
            </a:solidFill>
            <a:prstDash val="solid"/>
            <a:tailEnd type="triangle"/>
          </a:ln>
        </p:spPr>
      </p:sp>
      <p:sp>
        <p:nvSpPr>
          <p:cNvPr id="13" name="Text 10"/>
          <p:cNvSpPr/>
          <p:nvPr/>
        </p:nvSpPr>
        <p:spPr>
          <a:xfrm>
            <a:off x="548640" y="4681728"/>
            <a:ext cx="4297680" cy="530352"/>
          </a:xfrm>
          <a:prstGeom prst="roundRect">
            <a:avLst>
              <a:gd name="adj" fmla="val 10345"/>
            </a:avLst>
          </a:prstGeom>
          <a:solidFill>
            <a:schemeClr val="bg2"/>
          </a:solidFill>
          <a:ln w="12700">
            <a:solidFill>
              <a:schemeClr val="accent3"/>
            </a:solidFill>
          </a:ln>
        </p:spPr>
        <p:txBody>
          <a:bodyPr wrap="square" lIns="1905" tIns="1905" rIns="1905" bIns="1905" rtlCol="0" anchor="ctr"/>
          <a:lstStyle/>
          <a:p>
            <a:pPr algn="l" indent="0" marL="0">
              <a:buNone/>
            </a:pPr>
            <a:r>
              <a:rPr lang="en-US" sz="1300" dirty="0">
                <a:solidFill>
                  <a:schemeClr val="tx1"/>
                </a:solidFill>
              </a:rPr>
              <a:t>Typed approval, with DecisionSource</a:t>
            </a:r>
            <a:endParaRPr lang="en-US" sz="1300" dirty="0"/>
          </a:p>
        </p:txBody>
      </p:sp>
      <p:sp>
        <p:nvSpPr>
          <p:cNvPr id="14" name="Shape 11"/>
          <p:cNvSpPr/>
          <p:nvPr/>
        </p:nvSpPr>
        <p:spPr>
          <a:xfrm>
            <a:off x="2697480" y="5212080"/>
            <a:ext cx="0" cy="182880"/>
          </a:xfrm>
          <a:prstGeom prst="line">
            <a:avLst/>
          </a:prstGeom>
          <a:noFill/>
          <a:ln w="22225">
            <a:solidFill>
              <a:schemeClr val="accent3"/>
            </a:solidFill>
            <a:prstDash val="solid"/>
            <a:tailEnd type="triangle"/>
          </a:ln>
        </p:spPr>
      </p:sp>
      <p:sp>
        <p:nvSpPr>
          <p:cNvPr id="15" name="Text 12"/>
          <p:cNvSpPr/>
          <p:nvPr/>
        </p:nvSpPr>
        <p:spPr>
          <a:xfrm>
            <a:off x="548640" y="5394960"/>
            <a:ext cx="4297680" cy="530352"/>
          </a:xfrm>
          <a:prstGeom prst="roundRect">
            <a:avLst>
              <a:gd name="adj" fmla="val 10345"/>
            </a:avLst>
          </a:prstGeom>
          <a:solidFill>
            <a:schemeClr val="bg2"/>
          </a:solidFill>
          <a:ln w="12700">
            <a:solidFill>
              <a:schemeClr val="accent3"/>
            </a:solidFill>
          </a:ln>
        </p:spPr>
        <p:txBody>
          <a:bodyPr wrap="square" lIns="1905" tIns="1905" rIns="1905" bIns="1905" rtlCol="0" anchor="ctr"/>
          <a:lstStyle/>
          <a:p>
            <a:pPr algn="l" indent="0" marL="0">
              <a:buNone/>
            </a:pPr>
            <a:r>
              <a:rPr lang="en-US" sz="1300" dirty="0">
                <a:solidFill>
                  <a:schemeClr val="tx1"/>
                </a:solidFill>
              </a:rPr>
              <a:t>Handler under a watchdog</a:t>
            </a:r>
            <a:endParaRPr lang="en-US" sz="1300" dirty="0"/>
          </a:p>
        </p:txBody>
      </p:sp>
      <p:sp>
        <p:nvSpPr>
          <p:cNvPr id="16" name="Text 13"/>
          <p:cNvSpPr txBox="1"/>
          <p:nvPr/>
        </p:nvSpPr>
        <p:spPr>
          <a:xfrm>
            <a:off x="5074920" y="1920240"/>
            <a:ext cx="2011680" cy="2743200"/>
          </a:xfrm>
          <a:prstGeom prst="rect">
            <a:avLst/>
          </a:prstGeom>
          <a:noFill/>
          <a:ln/>
        </p:spPr>
        <p:txBody>
          <a:bodyPr wrap="square" lIns="0" tIns="0" rIns="0" bIns="0" rtlCol="0" anchor="t"/>
          <a:lstStyle/>
          <a:p>
            <a:pPr indent="0" marL="0">
              <a:buNone/>
            </a:pPr>
            <a:r>
              <a:rPr lang="en-US" sz="1200" i="1" dirty="0">
                <a:solidFill>
                  <a:schemeClr val="accent4"/>
                </a:solidFill>
              </a:rPr>
              <a:t>Each refusal is typed: an undeclared tool ends FAILED; bad arguments return to the model as a correctable observation; a denial or pending approval ends BLOCKED.</a:t>
            </a:r>
            <a:endParaRPr lang="en-US" sz="1200" dirty="0"/>
          </a:p>
        </p:txBody>
      </p:sp>
      <p:sp>
        <p:nvSpPr>
          <p:cNvPr id="17" name="Text 14"/>
          <p:cNvSpPr txBox="1"/>
          <p:nvPr/>
        </p:nvSpPr>
        <p:spPr>
          <a:xfrm>
            <a:off x="7315200" y="1371600"/>
            <a:ext cx="457200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Working memory by transition</a:t>
            </a:r>
            <a:endParaRPr lang="en-US" sz="1800" dirty="0"/>
          </a:p>
        </p:txBody>
      </p:sp>
      <p:sp>
        <p:nvSpPr>
          <p:cNvPr id="18" name="Text 15"/>
          <p:cNvSpPr/>
          <p:nvPr/>
        </p:nvSpPr>
        <p:spPr>
          <a:xfrm>
            <a:off x="7315200" y="1920240"/>
            <a:ext cx="4297680" cy="822960"/>
          </a:xfrm>
          <a:prstGeom prst="roundRect">
            <a:avLst>
              <a:gd name="adj" fmla="val 6667"/>
            </a:avLst>
          </a:prstGeom>
          <a:solidFill>
            <a:schemeClr val="accent4"/>
          </a:solidFill>
          <a:ln>
            <a:solidFill>
              <a:schemeClr val="accent4"/>
            </a:solidFill>
          </a:ln>
        </p:spPr>
        <p:txBody>
          <a:bodyPr wrap="square" lIns="762" tIns="762" rIns="762" bIns="762" rtlCol="0" anchor="ctr"/>
          <a:lstStyle/>
          <a:p>
            <a:pPr algn="ctr" indent="0" marL="0">
              <a:buNone/>
            </a:pPr>
            <a:r>
              <a:rPr lang="en-US" sz="1300" b="1" dirty="0">
                <a:solidFill>
                  <a:schemeClr val="bg1"/>
                </a:solidFill>
              </a:rPr>
              <a:t>Model / tool outcome</a:t>
            </a:r>
            <a:endParaRPr lang="en-US" sz="1300" dirty="0"/>
          </a:p>
          <a:p>
            <a:pPr algn="ctr" indent="0" marL="0">
              <a:buNone/>
            </a:pPr>
            <a:r>
              <a:rPr lang="en-US" sz="1300" b="1" dirty="0">
                <a:solidFill>
                  <a:schemeClr val="bg1"/>
                </a:solidFill>
              </a:rPr>
              <a:t>(a proposal)</a:t>
            </a:r>
            <a:endParaRPr lang="en-US" sz="1300" dirty="0"/>
          </a:p>
        </p:txBody>
      </p:sp>
      <p:sp>
        <p:nvSpPr>
          <p:cNvPr id="19" name="Shape 16"/>
          <p:cNvSpPr/>
          <p:nvPr/>
        </p:nvSpPr>
        <p:spPr>
          <a:xfrm>
            <a:off x="9464040" y="2743200"/>
            <a:ext cx="0" cy="365760"/>
          </a:xfrm>
          <a:prstGeom prst="line">
            <a:avLst/>
          </a:prstGeom>
          <a:noFill/>
          <a:ln w="22225">
            <a:solidFill>
              <a:schemeClr val="accent3"/>
            </a:solidFill>
            <a:prstDash val="solid"/>
            <a:tailEnd type="triangle"/>
          </a:ln>
        </p:spPr>
      </p:sp>
      <p:sp>
        <p:nvSpPr>
          <p:cNvPr id="20" name="Text 17"/>
          <p:cNvSpPr/>
          <p:nvPr/>
        </p:nvSpPr>
        <p:spPr>
          <a:xfrm>
            <a:off x="7315200" y="3108960"/>
            <a:ext cx="4297680" cy="731520"/>
          </a:xfrm>
          <a:prstGeom prst="roundRect">
            <a:avLst>
              <a:gd name="adj" fmla="val 7500"/>
            </a:avLst>
          </a:prstGeom>
          <a:solidFill>
            <a:schemeClr val="bg2"/>
          </a:solidFill>
          <a:ln w="19050">
            <a:solidFill>
              <a:schemeClr val="accent1"/>
            </a:solidFill>
          </a:ln>
        </p:spPr>
        <p:txBody>
          <a:bodyPr wrap="square" lIns="762" tIns="762" rIns="762" bIns="762" rtlCol="0" anchor="ctr"/>
          <a:lstStyle/>
          <a:p>
            <a:pPr algn="ctr" indent="0" marL="0">
              <a:buNone/>
            </a:pPr>
            <a:r>
              <a:rPr lang="en-US" sz="1300" dirty="0">
                <a:solidFill>
                  <a:schemeClr val="tx1"/>
                </a:solidFill>
              </a:rPr>
              <a:t>StateTransition: kind + actor + evidence (at least one)</a:t>
            </a:r>
            <a:endParaRPr lang="en-US" sz="1300" dirty="0"/>
          </a:p>
        </p:txBody>
      </p:sp>
      <p:sp>
        <p:nvSpPr>
          <p:cNvPr id="21" name="Shape 18"/>
          <p:cNvSpPr/>
          <p:nvPr/>
        </p:nvSpPr>
        <p:spPr>
          <a:xfrm>
            <a:off x="9464040" y="3840480"/>
            <a:ext cx="0" cy="365760"/>
          </a:xfrm>
          <a:prstGeom prst="line">
            <a:avLst/>
          </a:prstGeom>
          <a:noFill/>
          <a:ln w="22225">
            <a:solidFill>
              <a:schemeClr val="accent3"/>
            </a:solidFill>
            <a:prstDash val="solid"/>
            <a:tailEnd type="triangle"/>
          </a:ln>
        </p:spPr>
      </p:sp>
      <p:sp>
        <p:nvSpPr>
          <p:cNvPr id="22" name="Text 19"/>
          <p:cNvSpPr/>
          <p:nvPr/>
        </p:nvSpPr>
        <p:spPr>
          <a:xfrm>
            <a:off x="7315200" y="4206240"/>
            <a:ext cx="4297680" cy="731520"/>
          </a:xfrm>
          <a:prstGeom prst="roundRect">
            <a:avLst>
              <a:gd name="adj" fmla="val 7500"/>
            </a:avLst>
          </a:prstGeom>
          <a:solidFill>
            <a:schemeClr val="accent1"/>
          </a:solidFill>
          <a:ln>
            <a:solidFill>
              <a:schemeClr val="accent1"/>
            </a:solidFill>
          </a:ln>
        </p:spPr>
        <p:txBody>
          <a:bodyPr wrap="square" lIns="762" tIns="762" rIns="762" bIns="762" rtlCol="0" anchor="ctr"/>
          <a:lstStyle/>
          <a:p>
            <a:pPr algn="ctr" indent="0" marL="0">
              <a:buNone/>
            </a:pPr>
            <a:r>
              <a:rPr lang="en-US" sz="1300" b="1" dirty="0">
                <a:solidFill>
                  <a:schemeClr val="bg1"/>
                </a:solidFill>
              </a:rPr>
              <a:t>Reducer applies it; new revision, hash-chained event</a:t>
            </a:r>
            <a:endParaRPr lang="en-US" sz="1300" dirty="0"/>
          </a:p>
        </p:txBody>
      </p:sp>
      <p:sp>
        <p:nvSpPr>
          <p:cNvPr id="23" name="Text 20"/>
          <p:cNvSpPr txBox="1"/>
          <p:nvPr/>
        </p:nvSpPr>
        <p:spPr>
          <a:xfrm>
            <a:off x="7315200" y="5166360"/>
            <a:ext cx="4297680" cy="914400"/>
          </a:xfrm>
          <a:prstGeom prst="rect">
            <a:avLst/>
          </a:prstGeom>
          <a:noFill/>
          <a:ln/>
        </p:spPr>
        <p:txBody>
          <a:bodyPr wrap="square" lIns="0" tIns="0" rIns="0" bIns="0" rtlCol="0" anchor="t"/>
          <a:lstStyle/>
          <a:p>
            <a:pPr indent="0" marL="0">
              <a:buNone/>
            </a:pPr>
            <a:r>
              <a:rPr lang="en-US" sz="1300" dirty="0">
                <a:solidFill>
                  <a:schemeClr val="tx1"/>
                </a:solidFill>
              </a:rPr>
              <a:t>Nine transition kinds; authority is harness, controller or human. A decision is OPEN, LOCKED or SUPERSEDED.</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3000" b="1" dirty="0">
                <a:solidFill>
                  <a:schemeClr val="tx1"/>
                </a:solidFill>
              </a:rPr>
              <a:t>Evidence is kept as independent records that vouch for each other</a:t>
            </a:r>
            <a:endParaRPr lang="en-US" sz="3000" dirty="0"/>
          </a:p>
        </p:txBody>
      </p:sp>
      <p:sp>
        <p:nvSpPr>
          <p:cNvPr id="4" name="Shape 1"/>
          <p:cNvSpPr/>
          <p:nvPr/>
        </p:nvSpPr>
        <p:spPr>
          <a:xfrm>
            <a:off x="548640" y="1463040"/>
            <a:ext cx="6035040" cy="4206240"/>
          </a:xfrm>
          <a:prstGeom prst="roundRect">
            <a:avLst>
              <a:gd name="adj" fmla="val 1739"/>
            </a:avLst>
          </a:prstGeom>
          <a:solidFill>
            <a:schemeClr val="bg2"/>
          </a:solidFill>
          <a:ln w="12700">
            <a:solidFill>
              <a:schemeClr val="accent3"/>
            </a:solidFill>
            <a:prstDash val="dash"/>
          </a:ln>
        </p:spPr>
      </p:sp>
      <p:sp>
        <p:nvSpPr>
          <p:cNvPr id="5" name="Text 2"/>
          <p:cNvSpPr txBox="1"/>
          <p:nvPr/>
        </p:nvSpPr>
        <p:spPr>
          <a:xfrm>
            <a:off x="731520" y="1554480"/>
            <a:ext cx="3657600" cy="274320"/>
          </a:xfrm>
          <a:prstGeom prst="rect">
            <a:avLst/>
          </a:prstGeom>
          <a:noFill/>
          <a:ln/>
        </p:spPr>
        <p:txBody>
          <a:bodyPr wrap="square" lIns="0" tIns="0" rIns="0" bIns="0" rtlCol="0" anchor="t"/>
          <a:lstStyle/>
          <a:p>
            <a:pPr indent="0" marL="0">
              <a:buNone/>
            </a:pPr>
            <a:r>
              <a:rPr lang="en-US" sz="1300" b="1" dirty="0">
                <a:solidFill>
                  <a:schemeClr val="accent3"/>
                </a:solidFill>
              </a:rPr>
              <a:t>Inside the run root</a:t>
            </a:r>
            <a:endParaRPr lang="en-US" sz="1300" dirty="0"/>
          </a:p>
        </p:txBody>
      </p:sp>
      <p:sp>
        <p:nvSpPr>
          <p:cNvPr id="6" name="Text 3"/>
          <p:cNvSpPr/>
          <p:nvPr/>
        </p:nvSpPr>
        <p:spPr>
          <a:xfrm>
            <a:off x="777240" y="2011680"/>
            <a:ext cx="2606040" cy="914400"/>
          </a:xfrm>
          <a:prstGeom prst="roundRect">
            <a:avLst>
              <a:gd name="adj" fmla="val 6000"/>
            </a:avLst>
          </a:prstGeom>
          <a:solidFill>
            <a:schemeClr val="bg1"/>
          </a:solidFill>
          <a:ln w="12700">
            <a:solidFill>
              <a:schemeClr val="accent3"/>
            </a:solidFill>
          </a:ln>
        </p:spPr>
        <p:txBody>
          <a:bodyPr wrap="square" lIns="762" tIns="762" rIns="762" bIns="762" rtlCol="0" anchor="ctr"/>
          <a:lstStyle/>
          <a:p>
            <a:pPr algn="ctr" indent="0" marL="0">
              <a:buNone/>
            </a:pPr>
            <a:r>
              <a:rPr lang="en-US" sz="1300" dirty="0">
                <a:solidFill>
                  <a:schemeClr val="tx1"/>
                </a:solidFill>
              </a:rPr>
              <a:t>Telemetry ledger</a:t>
            </a:r>
            <a:endParaRPr lang="en-US" sz="1300" dirty="0"/>
          </a:p>
          <a:p>
            <a:pPr algn="ctr" indent="0" marL="0">
              <a:buNone/>
            </a:pPr>
            <a:r>
              <a:rPr lang="en-US" sz="1300" dirty="0">
                <a:solidFill>
                  <a:schemeClr val="tx1"/>
                </a:solidFill>
              </a:rPr>
              <a:t>SQLite, per-run hash chain</a:t>
            </a:r>
            <a:endParaRPr lang="en-US" sz="1300" dirty="0"/>
          </a:p>
        </p:txBody>
      </p:sp>
      <p:sp>
        <p:nvSpPr>
          <p:cNvPr id="7" name="Text 4"/>
          <p:cNvSpPr/>
          <p:nvPr/>
        </p:nvSpPr>
        <p:spPr>
          <a:xfrm>
            <a:off x="3794760" y="2011680"/>
            <a:ext cx="2560320" cy="914400"/>
          </a:xfrm>
          <a:prstGeom prst="roundRect">
            <a:avLst>
              <a:gd name="adj" fmla="val 6000"/>
            </a:avLst>
          </a:prstGeom>
          <a:solidFill>
            <a:schemeClr val="bg1"/>
          </a:solidFill>
          <a:ln w="12700">
            <a:solidFill>
              <a:schemeClr val="accent3"/>
            </a:solidFill>
          </a:ln>
        </p:spPr>
        <p:txBody>
          <a:bodyPr wrap="square" lIns="762" tIns="762" rIns="762" bIns="762" rtlCol="0" anchor="ctr"/>
          <a:lstStyle/>
          <a:p>
            <a:pPr algn="ctr" indent="0" marL="0">
              <a:buNone/>
            </a:pPr>
            <a:r>
              <a:rPr lang="en-US" sz="1300" dirty="0">
                <a:solidFill>
                  <a:schemeClr val="tx1"/>
                </a:solidFill>
              </a:rPr>
              <a:t>Audit transcript</a:t>
            </a:r>
            <a:endParaRPr lang="en-US" sz="1300" dirty="0"/>
          </a:p>
          <a:p>
            <a:pPr algn="ctr" indent="0" marL="0">
              <a:buNone/>
            </a:pPr>
            <a:r>
              <a:rPr lang="en-US" sz="1300" dirty="0">
                <a:solidFill>
                  <a:schemeClr val="tx1"/>
                </a:solidFill>
              </a:rPr>
              <a:t>JSONL, hash chain, fsync</a:t>
            </a:r>
            <a:endParaRPr lang="en-US" sz="1300" dirty="0"/>
          </a:p>
        </p:txBody>
      </p:sp>
      <p:sp>
        <p:nvSpPr>
          <p:cNvPr id="8" name="Shape 5"/>
          <p:cNvSpPr/>
          <p:nvPr/>
        </p:nvSpPr>
        <p:spPr>
          <a:xfrm>
            <a:off x="3383280" y="2286000"/>
            <a:ext cx="411480" cy="0"/>
          </a:xfrm>
          <a:prstGeom prst="line">
            <a:avLst/>
          </a:prstGeom>
          <a:noFill/>
          <a:ln w="22225">
            <a:solidFill>
              <a:schemeClr val="accent3"/>
            </a:solidFill>
            <a:prstDash val="solid"/>
            <a:tailEnd type="triangle"/>
          </a:ln>
        </p:spPr>
      </p:sp>
      <p:sp>
        <p:nvSpPr>
          <p:cNvPr id="9" name="Shape 6"/>
          <p:cNvSpPr/>
          <p:nvPr/>
        </p:nvSpPr>
        <p:spPr>
          <a:xfrm flipH="1">
            <a:off x="3383280" y="2651760"/>
            <a:ext cx="411480" cy="0"/>
          </a:xfrm>
          <a:prstGeom prst="line">
            <a:avLst/>
          </a:prstGeom>
          <a:noFill/>
          <a:ln w="22225">
            <a:solidFill>
              <a:schemeClr val="accent3"/>
            </a:solidFill>
            <a:prstDash val="solid"/>
            <a:tailEnd type="triangle"/>
          </a:ln>
        </p:spPr>
      </p:sp>
      <p:sp>
        <p:nvSpPr>
          <p:cNvPr id="10" name="Text 7"/>
          <p:cNvSpPr txBox="1"/>
          <p:nvPr/>
        </p:nvSpPr>
        <p:spPr>
          <a:xfrm>
            <a:off x="777240" y="3017520"/>
            <a:ext cx="5577840" cy="274320"/>
          </a:xfrm>
          <a:prstGeom prst="rect">
            <a:avLst/>
          </a:prstGeom>
          <a:noFill/>
          <a:ln/>
        </p:spPr>
        <p:txBody>
          <a:bodyPr wrap="square" lIns="0" tIns="0" rIns="0" bIns="0" rtlCol="0" anchor="t"/>
          <a:lstStyle/>
          <a:p>
            <a:pPr algn="ctr" indent="0" marL="0">
              <a:buNone/>
            </a:pPr>
            <a:r>
              <a:rPr lang="en-US" sz="1200" b="1" dirty="0">
                <a:solidFill>
                  <a:schemeClr val="accent2"/>
                </a:solidFill>
              </a:rPr>
              <a:t>terminal-link: each holds the other’s head hash</a:t>
            </a:r>
            <a:endParaRPr lang="en-US" sz="1200" dirty="0"/>
          </a:p>
        </p:txBody>
      </p:sp>
      <p:sp>
        <p:nvSpPr>
          <p:cNvPr id="11" name="Text 8"/>
          <p:cNvSpPr/>
          <p:nvPr/>
        </p:nvSpPr>
        <p:spPr>
          <a:xfrm>
            <a:off x="777240" y="3566160"/>
            <a:ext cx="2743200" cy="822960"/>
          </a:xfrm>
          <a:prstGeom prst="roundRect">
            <a:avLst>
              <a:gd name="adj" fmla="val 6667"/>
            </a:avLst>
          </a:prstGeom>
          <a:solidFill>
            <a:schemeClr val="bg1"/>
          </a:solidFill>
          <a:ln w="12700">
            <a:solidFill>
              <a:schemeClr val="accent3"/>
            </a:solidFill>
          </a:ln>
        </p:spPr>
        <p:txBody>
          <a:bodyPr wrap="square" lIns="762" tIns="762" rIns="762" bIns="762" rtlCol="0" anchor="ctr"/>
          <a:lstStyle/>
          <a:p>
            <a:pPr algn="ctr" indent="0" marL="0">
              <a:buNone/>
            </a:pPr>
            <a:r>
              <a:rPr lang="en-US" sz="1300" dirty="0">
                <a:solidFill>
                  <a:schemeClr val="tx1"/>
                </a:solidFill>
              </a:rPr>
              <a:t>Tool results</a:t>
            </a:r>
            <a:endParaRPr lang="en-US" sz="1300" dirty="0"/>
          </a:p>
          <a:p>
            <a:pPr algn="ctr" indent="0" marL="0">
              <a:buNone/>
            </a:pPr>
            <a:r>
              <a:rPr lang="en-US" sz="1300" dirty="0">
                <a:solidFill>
                  <a:schemeClr val="tx1"/>
                </a:solidFill>
              </a:rPr>
              <a:t>content-hash handle</a:t>
            </a:r>
            <a:endParaRPr lang="en-US" sz="1300" dirty="0"/>
          </a:p>
        </p:txBody>
      </p:sp>
      <p:sp>
        <p:nvSpPr>
          <p:cNvPr id="12" name="Text 9"/>
          <p:cNvSpPr/>
          <p:nvPr/>
        </p:nvSpPr>
        <p:spPr>
          <a:xfrm>
            <a:off x="3611880" y="3566160"/>
            <a:ext cx="2743200" cy="822960"/>
          </a:xfrm>
          <a:prstGeom prst="roundRect">
            <a:avLst>
              <a:gd name="adj" fmla="val 6667"/>
            </a:avLst>
          </a:prstGeom>
          <a:solidFill>
            <a:schemeClr val="bg1"/>
          </a:solidFill>
          <a:ln w="12700">
            <a:solidFill>
              <a:schemeClr val="accent3"/>
            </a:solidFill>
          </a:ln>
        </p:spPr>
        <p:txBody>
          <a:bodyPr wrap="square" lIns="762" tIns="762" rIns="762" bIns="762" rtlCol="0" anchor="ctr"/>
          <a:lstStyle/>
          <a:p>
            <a:pPr algn="ctr" indent="0" marL="0">
              <a:buNone/>
            </a:pPr>
            <a:r>
              <a:rPr lang="en-US" sz="1300" dirty="0">
                <a:solidFill>
                  <a:schemeClr val="tx1"/>
                </a:solidFill>
              </a:rPr>
              <a:t>Project state</a:t>
            </a:r>
            <a:endParaRPr lang="en-US" sz="1300" dirty="0"/>
          </a:p>
          <a:p>
            <a:pPr algn="ctr" indent="0" marL="0">
              <a:buNone/>
            </a:pPr>
            <a:r>
              <a:rPr lang="en-US" sz="1300" dirty="0">
                <a:solidFill>
                  <a:schemeClr val="tx1"/>
                </a:solidFill>
              </a:rPr>
              <a:t>state hash + event chain</a:t>
            </a:r>
            <a:endParaRPr lang="en-US" sz="1300" dirty="0"/>
          </a:p>
        </p:txBody>
      </p:sp>
      <p:sp>
        <p:nvSpPr>
          <p:cNvPr id="13" name="Text 10"/>
          <p:cNvSpPr/>
          <p:nvPr/>
        </p:nvSpPr>
        <p:spPr>
          <a:xfrm>
            <a:off x="777240" y="4572000"/>
            <a:ext cx="5577840" cy="822960"/>
          </a:xfrm>
          <a:prstGeom prst="roundRect">
            <a:avLst>
              <a:gd name="adj" fmla="val 6667"/>
            </a:avLst>
          </a:prstGeom>
          <a:solidFill>
            <a:schemeClr val="bg1"/>
          </a:solidFill>
          <a:ln w="12700">
            <a:solidFill>
              <a:schemeClr val="accent3"/>
            </a:solidFill>
          </a:ln>
        </p:spPr>
        <p:txBody>
          <a:bodyPr wrap="square" lIns="762" tIns="762" rIns="762" bIns="762" rtlCol="0" anchor="ctr"/>
          <a:lstStyle/>
          <a:p>
            <a:pPr algn="ctr" indent="0" marL="0">
              <a:buNone/>
            </a:pPr>
            <a:r>
              <a:rPr lang="en-US" sz="1300" dirty="0">
                <a:solidFill>
                  <a:schemeClr val="tx1"/>
                </a:solidFill>
              </a:rPr>
              <a:t>Graph run record</a:t>
            </a:r>
            <a:endParaRPr lang="en-US" sz="1300" dirty="0"/>
          </a:p>
          <a:p>
            <a:pPr algn="ctr" indent="0" marL="0">
              <a:buNone/>
            </a:pPr>
            <a:r>
              <a:rPr lang="en-US" sz="1300" dirty="0">
                <a:solidFill>
                  <a:schemeClr val="tx1"/>
                </a:solidFill>
              </a:rPr>
              <a:t>run hash + history-prefix hash</a:t>
            </a:r>
            <a:endParaRPr lang="en-US" sz="1300" dirty="0"/>
          </a:p>
        </p:txBody>
      </p:sp>
      <p:sp>
        <p:nvSpPr>
          <p:cNvPr id="14" name="Text 11"/>
          <p:cNvSpPr txBox="1"/>
          <p:nvPr/>
        </p:nvSpPr>
        <p:spPr>
          <a:xfrm>
            <a:off x="7040880" y="1554480"/>
            <a:ext cx="2743200" cy="274320"/>
          </a:xfrm>
          <a:prstGeom prst="rect">
            <a:avLst/>
          </a:prstGeom>
          <a:noFill/>
          <a:ln/>
        </p:spPr>
        <p:txBody>
          <a:bodyPr wrap="square" lIns="0" tIns="0" rIns="0" bIns="0" rtlCol="0" anchor="t"/>
          <a:lstStyle/>
          <a:p>
            <a:pPr indent="0" marL="0">
              <a:buNone/>
            </a:pPr>
            <a:r>
              <a:rPr lang="en-US" sz="1300" b="1" dirty="0">
                <a:solidFill>
                  <a:schemeClr val="accent3"/>
                </a:solidFill>
              </a:rPr>
              <a:t>Outside it</a:t>
            </a:r>
            <a:endParaRPr lang="en-US" sz="1300" dirty="0"/>
          </a:p>
        </p:txBody>
      </p:sp>
      <p:sp>
        <p:nvSpPr>
          <p:cNvPr id="15" name="Text 12"/>
          <p:cNvSpPr/>
          <p:nvPr/>
        </p:nvSpPr>
        <p:spPr>
          <a:xfrm>
            <a:off x="7040880" y="2011680"/>
            <a:ext cx="4572000" cy="1097280"/>
          </a:xfrm>
          <a:prstGeom prst="roundRect">
            <a:avLst>
              <a:gd name="adj" fmla="val 5000"/>
            </a:avLst>
          </a:prstGeom>
          <a:solidFill>
            <a:schemeClr val="accent2"/>
          </a:solidFill>
          <a:ln>
            <a:solidFill>
              <a:schemeClr val="accent2"/>
            </a:solidFill>
          </a:ln>
        </p:spPr>
        <p:txBody>
          <a:bodyPr wrap="square" lIns="762" tIns="762" rIns="762" bIns="762" rtlCol="0" anchor="ctr"/>
          <a:lstStyle/>
          <a:p>
            <a:pPr algn="ctr" indent="0" marL="0">
              <a:buNone/>
            </a:pPr>
            <a:r>
              <a:rPr lang="en-US" sz="1300" b="1" dirty="0">
                <a:solidFill>
                  <a:schemeClr val="bg1"/>
                </a:solidFill>
              </a:rPr>
              <a:t>Signed run-head checkpoint</a:t>
            </a:r>
            <a:endParaRPr lang="en-US" sz="1300" dirty="0"/>
          </a:p>
          <a:p>
            <a:pPr algn="ctr" indent="0" marL="0">
              <a:buNone/>
            </a:pPr>
            <a:r>
              <a:rPr lang="en-US" sz="1300" b="1" dirty="0">
                <a:solidFill>
                  <a:schemeClr val="bg1"/>
                </a:solidFill>
              </a:rPr>
              <a:t>HMAC over sequence + head hash</a:t>
            </a:r>
            <a:endParaRPr lang="en-US" sz="1300" dirty="0"/>
          </a:p>
          <a:p>
            <a:pPr algn="ctr" indent="0" marL="0">
              <a:buNone/>
            </a:pPr>
            <a:r>
              <a:rPr lang="en-US" sz="1300" b="1" dirty="0">
                <a:solidFill>
                  <a:schemeClr val="bg1"/>
                </a:solidFill>
              </a:rPr>
              <a:t>of both chains</a:t>
            </a:r>
            <a:endParaRPr lang="en-US" sz="1300" dirty="0"/>
          </a:p>
        </p:txBody>
      </p:sp>
      <p:sp>
        <p:nvSpPr>
          <p:cNvPr id="16" name="Shape 13"/>
          <p:cNvSpPr/>
          <p:nvPr/>
        </p:nvSpPr>
        <p:spPr>
          <a:xfrm>
            <a:off x="6355080" y="2468880"/>
            <a:ext cx="685800" cy="0"/>
          </a:xfrm>
          <a:prstGeom prst="line">
            <a:avLst/>
          </a:prstGeom>
          <a:noFill/>
          <a:ln w="22225">
            <a:solidFill>
              <a:schemeClr val="accent3"/>
            </a:solidFill>
            <a:prstDash val="solid"/>
            <a:tailEnd type="triangle"/>
          </a:ln>
        </p:spPr>
      </p:sp>
      <p:sp>
        <p:nvSpPr>
          <p:cNvPr id="17" name="Text 14"/>
          <p:cNvSpPr/>
          <p:nvPr/>
        </p:nvSpPr>
        <p:spPr>
          <a:xfrm>
            <a:off x="7040880" y="3383280"/>
            <a:ext cx="4572000" cy="640080"/>
          </a:xfrm>
          <a:prstGeom prst="roundRect">
            <a:avLst>
              <a:gd name="adj" fmla="val 8571"/>
            </a:avLst>
          </a:prstGeom>
          <a:solidFill>
            <a:schemeClr val="bg2"/>
          </a:solidFill>
          <a:ln w="12700">
            <a:solidFill>
              <a:schemeClr val="accent3"/>
            </a:solidFill>
          </a:ln>
        </p:spPr>
        <p:txBody>
          <a:bodyPr wrap="square" lIns="762" tIns="762" rIns="762" bIns="762" rtlCol="0" anchor="ctr"/>
          <a:lstStyle/>
          <a:p>
            <a:pPr algn="ctr" indent="0" marL="0">
              <a:buNone/>
            </a:pPr>
            <a:r>
              <a:rPr lang="en-US" sz="1300" dirty="0">
                <a:solidFill>
                  <a:schemeClr val="tx1"/>
                </a:solidFill>
              </a:rPr>
              <a:t>Retention tombstone anchor</a:t>
            </a:r>
            <a:endParaRPr lang="en-US" sz="1300" dirty="0"/>
          </a:p>
        </p:txBody>
      </p:sp>
      <p:sp>
        <p:nvSpPr>
          <p:cNvPr id="18" name="Text 15"/>
          <p:cNvSpPr txBox="1"/>
          <p:nvPr/>
        </p:nvSpPr>
        <p:spPr>
          <a:xfrm>
            <a:off x="7040880" y="4251960"/>
            <a:ext cx="4572000" cy="274320"/>
          </a:xfrm>
          <a:prstGeom prst="rect">
            <a:avLst/>
          </a:prstGeom>
          <a:noFill/>
          <a:ln/>
        </p:spPr>
        <p:txBody>
          <a:bodyPr wrap="square" lIns="0" tIns="0" rIns="0" bIns="0" rtlCol="0" anchor="t"/>
          <a:lstStyle/>
          <a:p>
            <a:pPr indent="0" marL="0">
              <a:buNone/>
            </a:pPr>
            <a:r>
              <a:rPr lang="en-US" sz="1400" b="1" dirty="0">
                <a:solidFill>
                  <a:schemeClr val="tx1"/>
                </a:solidFill>
              </a:rPr>
              <a:t>Verdicts</a:t>
            </a:r>
            <a:endParaRPr lang="en-US" sz="1400" dirty="0"/>
          </a:p>
        </p:txBody>
      </p:sp>
      <p:sp>
        <p:nvSpPr>
          <p:cNvPr id="19" name="Text 16"/>
          <p:cNvSpPr txBox="1"/>
          <p:nvPr/>
        </p:nvSpPr>
        <p:spPr>
          <a:xfrm>
            <a:off x="7040880" y="4572000"/>
            <a:ext cx="4572000" cy="365760"/>
          </a:xfrm>
          <a:prstGeom prst="rect">
            <a:avLst/>
          </a:prstGeom>
          <a:noFill/>
          <a:ln/>
        </p:spPr>
        <p:txBody>
          <a:bodyPr wrap="square" lIns="0" tIns="0" rIns="0" bIns="0" rtlCol="0" anchor="t"/>
          <a:lstStyle/>
          <a:p>
            <a:pPr indent="0" marL="0">
              <a:buNone/>
            </a:pPr>
            <a:r>
              <a:rPr lang="en-US" sz="1400" b="1" dirty="0">
                <a:solidFill>
                  <a:schemeClr val="accent1"/>
                </a:solidFill>
              </a:rPr>
              <a:t>ok  |  truncated  |  diverged  |  advanced  |  pruned</a:t>
            </a:r>
            <a:endParaRPr lang="en-US" sz="1400" dirty="0"/>
          </a:p>
        </p:txBody>
      </p:sp>
      <p:sp>
        <p:nvSpPr>
          <p:cNvPr id="20" name="Text 17"/>
          <p:cNvSpPr txBox="1"/>
          <p:nvPr/>
        </p:nvSpPr>
        <p:spPr>
          <a:xfrm>
            <a:off x="7040880" y="5029200"/>
            <a:ext cx="4572000" cy="548640"/>
          </a:xfrm>
          <a:prstGeom prst="rect">
            <a:avLst/>
          </a:prstGeom>
          <a:noFill/>
          <a:ln/>
        </p:spPr>
        <p:txBody>
          <a:bodyPr wrap="square" lIns="0" tIns="0" rIns="0" bIns="0" rtlCol="0" anchor="t"/>
          <a:lstStyle/>
          <a:p>
            <a:pPr indent="0" marL="0">
              <a:buNone/>
            </a:pPr>
            <a:r>
              <a:rPr lang="en-US" sz="1200" i="1" dirty="0">
                <a:solidFill>
                  <a:schemeClr val="tx1"/>
                </a:solidFill>
              </a:rPr>
              <a:t>Opt-in: nothing is checkpointed unless a checkpointer is configured.</a:t>
            </a:r>
            <a:endParaRPr lang="en-US" sz="1200" dirty="0"/>
          </a:p>
        </p:txBody>
      </p:sp>
      <p:sp>
        <p:nvSpPr>
          <p:cNvPr id="21" name="Text 18"/>
          <p:cNvSpPr txBox="1"/>
          <p:nvPr/>
        </p:nvSpPr>
        <p:spPr>
          <a:xfrm>
            <a:off x="548640" y="5806440"/>
            <a:ext cx="11064240" cy="502920"/>
          </a:xfrm>
          <a:prstGeom prst="rect">
            <a:avLst/>
          </a:prstGeom>
          <a:noFill/>
          <a:ln/>
        </p:spPr>
        <p:txBody>
          <a:bodyPr wrap="square" lIns="0" tIns="0" rIns="0" bIns="0" rtlCol="0" anchor="t"/>
          <a:lstStyle/>
          <a:p>
            <a:pPr indent="0" marL="0">
              <a:buNone/>
            </a:pPr>
            <a:r>
              <a:rPr lang="en-US" sz="1400" dirty="0">
                <a:solidFill>
                  <a:schemeClr val="tx1"/>
                </a:solidFill>
              </a:rPr>
              <a:t>diagnose-run turns the ledgers into an answer: terminal finding, first problem, first error, failing nodes and what each held up.</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3000" b="1" dirty="0">
                <a:solidFill>
                  <a:schemeClr val="tx1"/>
                </a:solidFill>
              </a:rPr>
              <a:t>Many agents: typed exchange, and growth the plan can bound</a:t>
            </a:r>
            <a:endParaRPr lang="en-US" sz="3000" dirty="0"/>
          </a:p>
        </p:txBody>
      </p:sp>
      <p:sp>
        <p:nvSpPr>
          <p:cNvPr id="4" name="Text 1"/>
          <p:cNvSpPr/>
          <p:nvPr/>
        </p:nvSpPr>
        <p:spPr>
          <a:xfrm>
            <a:off x="548640" y="1554480"/>
            <a:ext cx="3017520" cy="640080"/>
          </a:xfrm>
          <a:prstGeom prst="roundRect">
            <a:avLst>
              <a:gd name="adj" fmla="val 8571"/>
            </a:avLst>
          </a:prstGeom>
          <a:solidFill>
            <a:schemeClr val="bg2"/>
          </a:solidFill>
          <a:ln w="12700">
            <a:solidFill>
              <a:schemeClr val="accent3"/>
            </a:solidFill>
          </a:ln>
        </p:spPr>
        <p:txBody>
          <a:bodyPr wrap="square" lIns="762" tIns="762" rIns="762" bIns="762" rtlCol="0" anchor="ctr"/>
          <a:lstStyle/>
          <a:p>
            <a:pPr algn="ctr" indent="0" marL="0">
              <a:buNone/>
            </a:pPr>
            <a:r>
              <a:rPr lang="en-US" sz="1300" dirty="0">
                <a:solidFill>
                  <a:schemeClr val="tx1"/>
                </a:solidFill>
              </a:rPr>
              <a:t>Plan  (validated, approved)</a:t>
            </a:r>
            <a:endParaRPr lang="en-US" sz="1300" dirty="0"/>
          </a:p>
        </p:txBody>
      </p:sp>
      <p:sp>
        <p:nvSpPr>
          <p:cNvPr id="5" name="Shape 2"/>
          <p:cNvSpPr/>
          <p:nvPr/>
        </p:nvSpPr>
        <p:spPr>
          <a:xfrm>
            <a:off x="2057400" y="2194560"/>
            <a:ext cx="0" cy="411480"/>
          </a:xfrm>
          <a:prstGeom prst="line">
            <a:avLst/>
          </a:prstGeom>
          <a:noFill/>
          <a:ln w="22225">
            <a:solidFill>
              <a:schemeClr val="accent3"/>
            </a:solidFill>
            <a:prstDash val="solid"/>
            <a:tailEnd type="triangle"/>
          </a:ln>
        </p:spPr>
      </p:sp>
      <p:sp>
        <p:nvSpPr>
          <p:cNvPr id="6" name="Text 3"/>
          <p:cNvSpPr/>
          <p:nvPr/>
        </p:nvSpPr>
        <p:spPr>
          <a:xfrm>
            <a:off x="548640" y="2606040"/>
            <a:ext cx="3017520" cy="1005840"/>
          </a:xfrm>
          <a:prstGeom prst="roundRect">
            <a:avLst>
              <a:gd name="adj" fmla="val 5455"/>
            </a:avLst>
          </a:prstGeom>
          <a:solidFill>
            <a:schemeClr val="accent1"/>
          </a:solidFill>
          <a:ln>
            <a:solidFill>
              <a:schemeClr val="accent1"/>
            </a:solidFill>
          </a:ln>
        </p:spPr>
        <p:txBody>
          <a:bodyPr wrap="square" lIns="762" tIns="762" rIns="762" bIns="762" rtlCol="0" anchor="ctr"/>
          <a:lstStyle/>
          <a:p>
            <a:pPr algn="ctr" indent="0" marL="0">
              <a:buNone/>
            </a:pPr>
            <a:r>
              <a:rPr lang="en-US" sz="1300" b="1" dirty="0">
                <a:solidFill>
                  <a:schemeClr val="bg1"/>
                </a:solidFill>
              </a:rPr>
              <a:t>Wave: independent nodes in parallel</a:t>
            </a:r>
            <a:endParaRPr lang="en-US" sz="1300" dirty="0"/>
          </a:p>
          <a:p>
            <a:pPr algn="ctr" indent="0" marL="0">
              <a:buNone/>
            </a:pPr>
            <a:r>
              <a:rPr lang="en-US" sz="1300" b="1" dirty="0">
                <a:solidFill>
                  <a:schemeClr val="bg1"/>
                </a:solidFill>
              </a:rPr>
              <a:t>each a fresh BaseAgent</a:t>
            </a:r>
            <a:endParaRPr lang="en-US" sz="1300" dirty="0"/>
          </a:p>
        </p:txBody>
      </p:sp>
      <p:sp>
        <p:nvSpPr>
          <p:cNvPr id="7" name="Shape 4"/>
          <p:cNvSpPr/>
          <p:nvPr/>
        </p:nvSpPr>
        <p:spPr>
          <a:xfrm>
            <a:off x="2057400" y="3611880"/>
            <a:ext cx="0" cy="411480"/>
          </a:xfrm>
          <a:prstGeom prst="line">
            <a:avLst/>
          </a:prstGeom>
          <a:noFill/>
          <a:ln w="22225">
            <a:solidFill>
              <a:schemeClr val="accent3"/>
            </a:solidFill>
            <a:prstDash val="solid"/>
            <a:tailEnd type="triangle"/>
          </a:ln>
        </p:spPr>
      </p:sp>
      <p:sp>
        <p:nvSpPr>
          <p:cNvPr id="8" name="Text 5"/>
          <p:cNvSpPr/>
          <p:nvPr/>
        </p:nvSpPr>
        <p:spPr>
          <a:xfrm>
            <a:off x="548640" y="4023360"/>
            <a:ext cx="3017520" cy="1005840"/>
          </a:xfrm>
          <a:prstGeom prst="roundRect">
            <a:avLst>
              <a:gd name="adj" fmla="val 5455"/>
            </a:avLst>
          </a:prstGeom>
          <a:solidFill>
            <a:schemeClr val="tx2"/>
          </a:solidFill>
          <a:ln>
            <a:solidFill>
              <a:schemeClr val="tx2"/>
            </a:solidFill>
          </a:ln>
        </p:spPr>
        <p:txBody>
          <a:bodyPr wrap="square" lIns="762" tIns="762" rIns="762" bIns="762" rtlCol="0" anchor="ctr"/>
          <a:lstStyle/>
          <a:p>
            <a:pPr algn="ctr" indent="0" marL="0">
              <a:buNone/>
            </a:pPr>
            <a:r>
              <a:rPr lang="en-US" sz="1300" b="1" dirty="0">
                <a:solidFill>
                  <a:schemeClr val="bg1"/>
                </a:solidFill>
              </a:rPr>
              <a:t>Atomic commit in node-id order</a:t>
            </a:r>
            <a:endParaRPr lang="en-US" sz="1300" dirty="0"/>
          </a:p>
          <a:p>
            <a:pPr algn="ctr" indent="0" marL="0">
              <a:buNone/>
            </a:pPr>
            <a:r>
              <a:rPr lang="en-US" sz="1300" b="1" dirty="0">
                <a:solidFill>
                  <a:schemeClr val="bg1"/>
                </a:solidFill>
              </a:rPr>
              <a:t>result + discoveries + requests</a:t>
            </a:r>
            <a:endParaRPr lang="en-US" sz="1300" dirty="0"/>
          </a:p>
        </p:txBody>
      </p:sp>
      <p:sp>
        <p:nvSpPr>
          <p:cNvPr id="9" name="Shape 6"/>
          <p:cNvSpPr/>
          <p:nvPr/>
        </p:nvSpPr>
        <p:spPr>
          <a:xfrm flipV="1">
            <a:off x="3566160" y="2487168"/>
            <a:ext cx="1005840" cy="1810512"/>
          </a:xfrm>
          <a:prstGeom prst="line">
            <a:avLst/>
          </a:prstGeom>
          <a:noFill/>
          <a:ln w="22225">
            <a:solidFill>
              <a:schemeClr val="accent3"/>
            </a:solidFill>
            <a:prstDash val="solid"/>
            <a:tailEnd type="triangle"/>
          </a:ln>
        </p:spPr>
      </p:sp>
      <p:sp>
        <p:nvSpPr>
          <p:cNvPr id="10" name="Shape 7"/>
          <p:cNvSpPr/>
          <p:nvPr/>
        </p:nvSpPr>
        <p:spPr>
          <a:xfrm flipV="1">
            <a:off x="3566160" y="3721608"/>
            <a:ext cx="1005840" cy="804672"/>
          </a:xfrm>
          <a:prstGeom prst="line">
            <a:avLst/>
          </a:prstGeom>
          <a:noFill/>
          <a:ln w="22225">
            <a:solidFill>
              <a:schemeClr val="accent3"/>
            </a:solidFill>
            <a:prstDash val="solid"/>
            <a:tailEnd type="triangle"/>
          </a:ln>
        </p:spPr>
      </p:sp>
      <p:sp>
        <p:nvSpPr>
          <p:cNvPr id="11" name="Shape 8"/>
          <p:cNvSpPr/>
          <p:nvPr/>
        </p:nvSpPr>
        <p:spPr>
          <a:xfrm>
            <a:off x="3566160" y="4754880"/>
            <a:ext cx="1005840" cy="201168"/>
          </a:xfrm>
          <a:prstGeom prst="line">
            <a:avLst/>
          </a:prstGeom>
          <a:noFill/>
          <a:ln w="22225">
            <a:solidFill>
              <a:schemeClr val="accent3"/>
            </a:solidFill>
            <a:prstDash val="solid"/>
            <a:tailEnd type="triangle"/>
          </a:ln>
        </p:spPr>
      </p:sp>
      <p:sp>
        <p:nvSpPr>
          <p:cNvPr id="12" name="Text 9"/>
          <p:cNvSpPr txBox="1"/>
          <p:nvPr/>
        </p:nvSpPr>
        <p:spPr>
          <a:xfrm>
            <a:off x="4572000" y="1554480"/>
            <a:ext cx="3657600" cy="320040"/>
          </a:xfrm>
          <a:prstGeom prst="rect">
            <a:avLst/>
          </a:prstGeom>
          <a:noFill/>
          <a:ln/>
        </p:spPr>
        <p:txBody>
          <a:bodyPr wrap="square" lIns="0" tIns="0" rIns="0" bIns="0" rtlCol="0" anchor="t"/>
          <a:lstStyle/>
          <a:p>
            <a:pPr indent="0" marL="0">
              <a:buNone/>
            </a:pPr>
            <a:r>
              <a:rPr lang="en-US" sz="1600" b="1" dirty="0">
                <a:solidFill>
                  <a:schemeClr val="accent2"/>
                </a:solidFill>
              </a:rPr>
              <a:t>Admission at commit</a:t>
            </a:r>
            <a:endParaRPr lang="en-US" sz="1600" dirty="0"/>
          </a:p>
        </p:txBody>
      </p:sp>
      <p:sp>
        <p:nvSpPr>
          <p:cNvPr id="13" name="Shape 10"/>
          <p:cNvSpPr/>
          <p:nvPr/>
        </p:nvSpPr>
        <p:spPr>
          <a:xfrm>
            <a:off x="4572000" y="1965960"/>
            <a:ext cx="7040880" cy="1051560"/>
          </a:xfrm>
          <a:prstGeom prst="roundRect">
            <a:avLst>
              <a:gd name="adj" fmla="val 5217"/>
            </a:avLst>
          </a:prstGeom>
          <a:solidFill>
            <a:schemeClr val="bg2"/>
          </a:solidFill>
          <a:ln w="12700">
            <a:solidFill>
              <a:schemeClr val="bg2"/>
            </a:solidFill>
            <a:prstDash val="solid"/>
          </a:ln>
        </p:spPr>
      </p:sp>
      <p:sp>
        <p:nvSpPr>
          <p:cNvPr id="14" name="Shape 11"/>
          <p:cNvSpPr/>
          <p:nvPr/>
        </p:nvSpPr>
        <p:spPr>
          <a:xfrm>
            <a:off x="4754880" y="2331720"/>
            <a:ext cx="320040" cy="320040"/>
          </a:xfrm>
          <a:prstGeom prst="ellipse">
            <a:avLst/>
          </a:prstGeom>
          <a:solidFill>
            <a:schemeClr val="accent1"/>
          </a:solidFill>
          <a:ln w="12700">
            <a:solidFill>
              <a:schemeClr val="accent1"/>
            </a:solidFill>
            <a:prstDash val="solid"/>
          </a:ln>
        </p:spPr>
      </p:sp>
      <p:sp>
        <p:nvSpPr>
          <p:cNvPr id="15" name="Text 12"/>
          <p:cNvSpPr txBox="1"/>
          <p:nvPr/>
        </p:nvSpPr>
        <p:spPr>
          <a:xfrm>
            <a:off x="5257800" y="2075688"/>
            <a:ext cx="6126480" cy="320040"/>
          </a:xfrm>
          <a:prstGeom prst="rect">
            <a:avLst/>
          </a:prstGeom>
          <a:noFill/>
          <a:ln/>
        </p:spPr>
        <p:txBody>
          <a:bodyPr wrap="square" lIns="0" tIns="0" rIns="0" bIns="0" rtlCol="0" anchor="t"/>
          <a:lstStyle/>
          <a:p>
            <a:pPr indent="0" marL="0">
              <a:buNone/>
            </a:pPr>
            <a:r>
              <a:rPr lang="en-US" sz="1500" b="1" dirty="0">
                <a:solidFill>
                  <a:schemeClr val="tx1"/>
                </a:solidFill>
              </a:rPr>
              <a:t>fits caps</a:t>
            </a:r>
            <a:endParaRPr lang="en-US" sz="1500" dirty="0"/>
          </a:p>
        </p:txBody>
      </p:sp>
      <p:sp>
        <p:nvSpPr>
          <p:cNvPr id="16" name="Text 13"/>
          <p:cNvSpPr txBox="1"/>
          <p:nvPr/>
        </p:nvSpPr>
        <p:spPr>
          <a:xfrm>
            <a:off x="5257800" y="2423160"/>
            <a:ext cx="6126480" cy="548640"/>
          </a:xfrm>
          <a:prstGeom prst="rect">
            <a:avLst/>
          </a:prstGeom>
          <a:noFill/>
          <a:ln/>
        </p:spPr>
        <p:txBody>
          <a:bodyPr wrap="square" lIns="0" tIns="0" rIns="0" bIns="0" rtlCol="0" anchor="t"/>
          <a:lstStyle/>
          <a:p>
            <a:pPr indent="0" marL="0">
              <a:buNone/>
            </a:pPr>
            <a:r>
              <a:rPr lang="en-US" sz="1300" dirty="0">
                <a:solidFill>
                  <a:schemeClr val="tx1"/>
                </a:solidFill>
              </a:rPr>
              <a:t>one exploration node per request + one join; dependents wait behind the join</a:t>
            </a:r>
            <a:endParaRPr lang="en-US" sz="1300" dirty="0"/>
          </a:p>
        </p:txBody>
      </p:sp>
      <p:sp>
        <p:nvSpPr>
          <p:cNvPr id="17" name="Shape 14"/>
          <p:cNvSpPr/>
          <p:nvPr/>
        </p:nvSpPr>
        <p:spPr>
          <a:xfrm>
            <a:off x="4572000" y="3200400"/>
            <a:ext cx="7040880" cy="1051560"/>
          </a:xfrm>
          <a:prstGeom prst="roundRect">
            <a:avLst>
              <a:gd name="adj" fmla="val 5217"/>
            </a:avLst>
          </a:prstGeom>
          <a:solidFill>
            <a:schemeClr val="bg2"/>
          </a:solidFill>
          <a:ln w="12700">
            <a:solidFill>
              <a:schemeClr val="bg2"/>
            </a:solidFill>
            <a:prstDash val="solid"/>
          </a:ln>
        </p:spPr>
      </p:sp>
      <p:sp>
        <p:nvSpPr>
          <p:cNvPr id="18" name="Shape 15"/>
          <p:cNvSpPr/>
          <p:nvPr/>
        </p:nvSpPr>
        <p:spPr>
          <a:xfrm>
            <a:off x="4754880" y="3566160"/>
            <a:ext cx="320040" cy="320040"/>
          </a:xfrm>
          <a:prstGeom prst="ellipse">
            <a:avLst/>
          </a:prstGeom>
          <a:solidFill>
            <a:schemeClr val="accent2"/>
          </a:solidFill>
          <a:ln w="12700">
            <a:solidFill>
              <a:schemeClr val="accent2"/>
            </a:solidFill>
            <a:prstDash val="solid"/>
          </a:ln>
        </p:spPr>
      </p:sp>
      <p:sp>
        <p:nvSpPr>
          <p:cNvPr id="19" name="Text 16"/>
          <p:cNvSpPr txBox="1"/>
          <p:nvPr/>
        </p:nvSpPr>
        <p:spPr>
          <a:xfrm>
            <a:off x="5257800" y="3310128"/>
            <a:ext cx="6126480" cy="320040"/>
          </a:xfrm>
          <a:prstGeom prst="rect">
            <a:avLst/>
          </a:prstGeom>
          <a:noFill/>
          <a:ln/>
        </p:spPr>
        <p:txBody>
          <a:bodyPr wrap="square" lIns="0" tIns="0" rIns="0" bIns="0" rtlCol="0" anchor="t"/>
          <a:lstStyle/>
          <a:p>
            <a:pPr indent="0" marL="0">
              <a:buNone/>
            </a:pPr>
            <a:r>
              <a:rPr lang="en-US" sz="1500" b="1" dirty="0">
                <a:solidFill>
                  <a:schemeClr val="tx1"/>
                </a:solidFill>
              </a:rPr>
              <a:t>exceeds plan caps</a:t>
            </a:r>
            <a:endParaRPr lang="en-US" sz="1500" dirty="0"/>
          </a:p>
        </p:txBody>
      </p:sp>
      <p:sp>
        <p:nvSpPr>
          <p:cNvPr id="20" name="Text 17"/>
          <p:cNvSpPr txBox="1"/>
          <p:nvPr/>
        </p:nvSpPr>
        <p:spPr>
          <a:xfrm>
            <a:off x="5257800" y="3657600"/>
            <a:ext cx="6126480" cy="548640"/>
          </a:xfrm>
          <a:prstGeom prst="rect">
            <a:avLst/>
          </a:prstGeom>
          <a:noFill/>
          <a:ln/>
        </p:spPr>
        <p:txBody>
          <a:bodyPr wrap="square" lIns="0" tIns="0" rIns="0" bIns="0" rtlCol="0" anchor="t"/>
          <a:lstStyle/>
          <a:p>
            <a:pPr indent="0" marL="0">
              <a:buNone/>
            </a:pPr>
            <a:r>
              <a:rPr lang="en-US" sz="1300" dirty="0">
                <a:solidFill>
                  <a:schemeClr val="tx1"/>
                </a:solidFill>
              </a:rPr>
              <a:t>whole batch deferred; join blocked until grant or decline</a:t>
            </a:r>
            <a:endParaRPr lang="en-US" sz="1300" dirty="0"/>
          </a:p>
        </p:txBody>
      </p:sp>
      <p:sp>
        <p:nvSpPr>
          <p:cNvPr id="21" name="Shape 18"/>
          <p:cNvSpPr/>
          <p:nvPr/>
        </p:nvSpPr>
        <p:spPr>
          <a:xfrm>
            <a:off x="4572000" y="4434840"/>
            <a:ext cx="7040880" cy="1051560"/>
          </a:xfrm>
          <a:prstGeom prst="roundRect">
            <a:avLst>
              <a:gd name="adj" fmla="val 5217"/>
            </a:avLst>
          </a:prstGeom>
          <a:solidFill>
            <a:schemeClr val="bg2"/>
          </a:solidFill>
          <a:ln w="12700">
            <a:solidFill>
              <a:schemeClr val="bg2"/>
            </a:solidFill>
            <a:prstDash val="solid"/>
          </a:ln>
        </p:spPr>
      </p:sp>
      <p:sp>
        <p:nvSpPr>
          <p:cNvPr id="22" name="Shape 19"/>
          <p:cNvSpPr/>
          <p:nvPr/>
        </p:nvSpPr>
        <p:spPr>
          <a:xfrm>
            <a:off x="4754880" y="4800600"/>
            <a:ext cx="320040" cy="320040"/>
          </a:xfrm>
          <a:prstGeom prst="ellipse">
            <a:avLst/>
          </a:prstGeom>
          <a:solidFill>
            <a:schemeClr val="accent4"/>
          </a:solidFill>
          <a:ln w="12700">
            <a:solidFill>
              <a:schemeClr val="accent4"/>
            </a:solidFill>
            <a:prstDash val="solid"/>
          </a:ln>
        </p:spPr>
      </p:sp>
      <p:sp>
        <p:nvSpPr>
          <p:cNvPr id="23" name="Text 20"/>
          <p:cNvSpPr txBox="1"/>
          <p:nvPr/>
        </p:nvSpPr>
        <p:spPr>
          <a:xfrm>
            <a:off x="5257800" y="4544568"/>
            <a:ext cx="6126480" cy="320040"/>
          </a:xfrm>
          <a:prstGeom prst="rect">
            <a:avLst/>
          </a:prstGeom>
          <a:noFill/>
          <a:ln/>
        </p:spPr>
        <p:txBody>
          <a:bodyPr wrap="square" lIns="0" tIns="0" rIns="0" bIns="0" rtlCol="0" anchor="t"/>
          <a:lstStyle/>
          <a:p>
            <a:pPr indent="0" marL="0">
              <a:buNone/>
            </a:pPr>
            <a:r>
              <a:rPr lang="en-US" sz="1500" b="1" dirty="0">
                <a:solidFill>
                  <a:schemeClr val="tx1"/>
                </a:solidFill>
              </a:rPr>
              <a:t>passes a ceiling</a:t>
            </a:r>
            <a:endParaRPr lang="en-US" sz="1500" dirty="0"/>
          </a:p>
        </p:txBody>
      </p:sp>
      <p:sp>
        <p:nvSpPr>
          <p:cNvPr id="24" name="Text 21"/>
          <p:cNvSpPr txBox="1"/>
          <p:nvPr/>
        </p:nvSpPr>
        <p:spPr>
          <a:xfrm>
            <a:off x="5257800" y="4892040"/>
            <a:ext cx="6126480" cy="548640"/>
          </a:xfrm>
          <a:prstGeom prst="rect">
            <a:avLst/>
          </a:prstGeom>
          <a:noFill/>
          <a:ln/>
        </p:spPr>
        <p:txBody>
          <a:bodyPr wrap="square" lIns="0" tIns="0" rIns="0" bIns="0" rtlCol="0" anchor="t"/>
          <a:lstStyle/>
          <a:p>
            <a:pPr indent="0" marL="0">
              <a:buNone/>
            </a:pPr>
            <a:r>
              <a:rPr lang="en-US" sz="1300" dirty="0">
                <a:solidFill>
                  <a:schemeClr val="tx1"/>
                </a:solidFill>
              </a:rPr>
              <a:t>refused with a typed code; agent told at once</a:t>
            </a:r>
            <a:endParaRPr lang="en-US" sz="1300" dirty="0"/>
          </a:p>
        </p:txBody>
      </p:sp>
      <p:sp>
        <p:nvSpPr>
          <p:cNvPr id="25" name="Text 22"/>
          <p:cNvSpPr txBox="1"/>
          <p:nvPr/>
        </p:nvSpPr>
        <p:spPr>
          <a:xfrm>
            <a:off x="4572000" y="5715000"/>
            <a:ext cx="7040880" cy="548640"/>
          </a:xfrm>
          <a:prstGeom prst="rect">
            <a:avLst/>
          </a:prstGeom>
          <a:noFill/>
          <a:ln/>
        </p:spPr>
        <p:txBody>
          <a:bodyPr wrap="square" lIns="0" tIns="0" rIns="0" bIns="0" rtlCol="0" anchor="t"/>
          <a:lstStyle/>
          <a:p>
            <a:pPr indent="0" marL="0">
              <a:buNone/>
            </a:pPr>
            <a:r>
              <a:rPr lang="en-US" sz="1300" i="1" dirty="0">
                <a:solidFill>
                  <a:schemeClr val="tx1"/>
                </a:solidFill>
              </a:rPr>
              <a:t>Crash safety: a node left RUNNING is replayed only if its binding is declared idempotent; otherwise it fails as interrupted-non-idempotent.</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3000" b="1" dirty="0">
                <a:solidFill>
                  <a:schemeClr val="tx1"/>
                </a:solidFill>
              </a:rPr>
              <a:t>What we claim, against what is already established</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834640"/>
                <a:gridCol w="5120640"/>
                <a:gridCol w="3108960"/>
              </a:tblGrid>
              <a:tr h="41148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Established</a:t>
                      </a:r>
                      <a:endParaRPr lang="en-US" sz="13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Our delta</a:t>
                      </a:r>
                      <a:endParaRPr lang="en-US" sz="13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Evidence status</a:t>
                      </a:r>
                      <a:endParaRPr lang="en-US" sz="13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r>
              <a:tr h="77724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Episodic memory notion</a:t>
                      </a:r>
                      <a:endParaRPr lang="en-US" sz="12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Typed episode DAG; exploratory/action dependency rule enforced in code</a:t>
                      </a:r>
                      <a:endParaRPr lang="en-US" sz="12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2"/>
                          </a:solidFill>
                          <a:latin typeface="Calibri" pitchFamily="34" charset="0"/>
                          <a:ea typeface="Calibri" pitchFamily="34" charset="-122"/>
                          <a:cs typeface="Calibri" pitchFamily="34" charset="-120"/>
                        </a:rPr>
                        <a:t>Implemented, unit-tested</a:t>
                      </a:r>
                      <a:endParaRPr lang="en-US" sz="12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r>
              <a:tr h="77724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Budgeted context selection</a:t>
                      </a:r>
                      <a:endParaRPr lang="en-US" sz="12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Exact precedence-constrained knapsack with a solver certificate</a:t>
                      </a:r>
                      <a:endParaRPr lang="en-US" sz="12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latin typeface="Calibri" pitchFamily="34" charset="0"/>
                          <a:ea typeface="Calibri" pitchFamily="34" charset="-122"/>
                          <a:cs typeface="Calibri" pitchFamily="34" charset="-120"/>
                        </a:rPr>
                        <a:t>Implemented; exact vs greedy on small cases</a:t>
                      </a:r>
                      <a:endParaRPr lang="en-US" sz="12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r>
              <a:tr h="77724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LLM summarisation of old context</a:t>
                      </a:r>
                      <a:endParaRPr lang="en-US" sz="12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Archive-before-release, deterministic grounding checks, judges veto only</a:t>
                      </a:r>
                      <a:endParaRPr lang="en-US" sz="12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2"/>
                          </a:solidFill>
                          <a:latin typeface="Calibri" pitchFamily="34" charset="0"/>
                          <a:ea typeface="Calibri" pitchFamily="34" charset="-122"/>
                          <a:cs typeface="Calibri" pitchFamily="34" charset="-120"/>
                        </a:rPr>
                        <a:t>Implemented; synthetic benchmark only</a:t>
                      </a:r>
                      <a:endParaRPr lang="en-US" sz="12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r>
              <a:tr h="77724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Tracing (OpenTelemetry-style)</a:t>
                      </a:r>
                      <a:endParaRPr lang="en-US" sz="12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Cross-linked hash chains, signed run-head checkpoints, diagnose-run</a:t>
                      </a:r>
                      <a:endParaRPr lang="en-US" sz="12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latin typeface="Calibri" pitchFamily="34" charset="0"/>
                          <a:ea typeface="Calibri" pitchFamily="34" charset="-122"/>
                          <a:cs typeface="Calibri" pitchFamily="34" charset="-120"/>
                        </a:rPr>
                        <a:t>Implemented, unit-tested; no user study</a:t>
                      </a:r>
                      <a:endParaRPr lang="en-US" sz="12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r>
              <a:tr h="77724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Graph orchestration</a:t>
                      </a:r>
                      <a:endParaRPr lang="en-US" sz="12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Agent-initiated growth with commit-time admission and ceilings</a:t>
                      </a:r>
                      <a:endParaRPr lang="en-US" sz="12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2"/>
                          </a:solidFill>
                          <a:latin typeface="Calibri" pitchFamily="34" charset="0"/>
                          <a:ea typeface="Calibri" pitchFamily="34" charset="-122"/>
                          <a:cs typeface="Calibri" pitchFamily="34" charset="-120"/>
                        </a:rPr>
                        <a:t>Implemented; not benchmarked</a:t>
                      </a:r>
                      <a:endParaRPr lang="en-US" sz="1200" dirty="0">
                        <a:latin typeface="Calibri" charset="0"/>
                        <a:ea typeface="Calibri" charset="0"/>
                        <a:cs typeface="Calibri" charset="0"/>
                      </a:endParaRPr>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3000" b="1" dirty="0">
                <a:solidFill>
                  <a:schemeClr val="tx1"/>
                </a:solidFill>
              </a:rPr>
              <a:t>Measured so far: semantic compaction roughly doubles what survives compaction</a:t>
            </a:r>
            <a:endParaRPr lang="en-US" sz="3000" dirty="0"/>
          </a:p>
        </p:txBody>
      </p:sp>
      <p:graphicFrame>
        <p:nvGraphicFramePr>
          <p:cNvPr id="4" name="Chart 0" descr=""/>
          <p:cNvGraphicFramePr/>
          <p:nvPr/>
        </p:nvGraphicFramePr>
        <p:xfrm>
          <a:off x="548640" y="141732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7772400" y="1463040"/>
            <a:ext cx="3840480" cy="274320"/>
          </a:xfrm>
          <a:prstGeom prst="rect">
            <a:avLst/>
          </a:prstGeom>
          <a:noFill/>
          <a:ln/>
        </p:spPr>
        <p:txBody>
          <a:bodyPr wrap="square" lIns="0" tIns="0" rIns="0" bIns="0" rtlCol="0" anchor="t"/>
          <a:lstStyle/>
          <a:p>
            <a:pPr indent="0" marL="0">
              <a:buNone/>
            </a:pPr>
            <a:r>
              <a:rPr lang="en-US" sz="1400" b="1" dirty="0">
                <a:solidFill>
                  <a:schemeClr val="accent4"/>
                </a:solidFill>
              </a:rPr>
              <a:t>Cost</a:t>
            </a:r>
            <a:endParaRPr lang="en-US" sz="1400" dirty="0"/>
          </a:p>
        </p:txBody>
      </p:sp>
      <p:sp>
        <p:nvSpPr>
          <p:cNvPr id="6" name="Text 2"/>
          <p:cNvSpPr txBox="1"/>
          <p:nvPr/>
        </p:nvSpPr>
        <p:spPr>
          <a:xfrm>
            <a:off x="7772400" y="1783080"/>
            <a:ext cx="1828800" cy="731520"/>
          </a:xfrm>
          <a:prstGeom prst="rect">
            <a:avLst/>
          </a:prstGeom>
          <a:noFill/>
          <a:ln/>
        </p:spPr>
        <p:txBody>
          <a:bodyPr wrap="square" lIns="0" tIns="0" rIns="0" bIns="0" rtlCol="0" anchor="t"/>
          <a:lstStyle/>
          <a:p>
            <a:pPr indent="0" marL="0">
              <a:buNone/>
            </a:pPr>
            <a:r>
              <a:rPr lang="en-US" sz="4000" b="1" dirty="0">
                <a:solidFill>
                  <a:schemeClr val="accent4"/>
                </a:solidFill>
                <a:latin typeface="Cambria" pitchFamily="34" charset="0"/>
                <a:ea typeface="Cambria" pitchFamily="34" charset="-122"/>
                <a:cs typeface="Cambria" pitchFamily="34" charset="-120"/>
              </a:rPr>
              <a:t>+28%</a:t>
            </a:r>
            <a:endParaRPr lang="en-US" sz="4000" dirty="0"/>
          </a:p>
        </p:txBody>
      </p:sp>
      <p:sp>
        <p:nvSpPr>
          <p:cNvPr id="7" name="Text 3"/>
          <p:cNvSpPr txBox="1"/>
          <p:nvPr/>
        </p:nvSpPr>
        <p:spPr>
          <a:xfrm>
            <a:off x="9509760" y="1965960"/>
            <a:ext cx="2194560" cy="548640"/>
          </a:xfrm>
          <a:prstGeom prst="rect">
            <a:avLst/>
          </a:prstGeom>
          <a:noFill/>
          <a:ln/>
        </p:spPr>
        <p:txBody>
          <a:bodyPr wrap="square" lIns="0" tIns="0" rIns="0" bIns="0" rtlCol="0" anchor="t"/>
          <a:lstStyle/>
          <a:p>
            <a:pPr indent="0" marL="0">
              <a:buNone/>
            </a:pPr>
            <a:r>
              <a:rPr lang="en-US" sz="1200" dirty="0">
                <a:solidFill>
                  <a:schemeClr val="tx1"/>
                </a:solidFill>
              </a:rPr>
              <a:t>visible tokens (4,135 to 5,290)</a:t>
            </a:r>
            <a:endParaRPr lang="en-US" sz="1200" dirty="0"/>
          </a:p>
        </p:txBody>
      </p:sp>
      <p:sp>
        <p:nvSpPr>
          <p:cNvPr id="8" name="Text 4"/>
          <p:cNvSpPr txBox="1"/>
          <p:nvPr/>
        </p:nvSpPr>
        <p:spPr>
          <a:xfrm>
            <a:off x="7772400" y="2788920"/>
            <a:ext cx="3840480" cy="274320"/>
          </a:xfrm>
          <a:prstGeom prst="rect">
            <a:avLst/>
          </a:prstGeom>
          <a:noFill/>
          <a:ln/>
        </p:spPr>
        <p:txBody>
          <a:bodyPr wrap="square" lIns="0" tIns="0" rIns="0" bIns="0" rtlCol="0" anchor="t"/>
          <a:lstStyle/>
          <a:p>
            <a:pPr indent="0" marL="0">
              <a:buNone/>
            </a:pPr>
            <a:r>
              <a:rPr lang="en-US" sz="1400" b="1" dirty="0">
                <a:solidFill>
                  <a:schemeClr val="accent2"/>
                </a:solidFill>
              </a:rPr>
              <a:t>Still not recoverable</a:t>
            </a:r>
            <a:endParaRPr lang="en-US" sz="1400" dirty="0"/>
          </a:p>
        </p:txBody>
      </p:sp>
      <p:sp>
        <p:nvSpPr>
          <p:cNvPr id="9" name="Text 5"/>
          <p:cNvSpPr txBox="1"/>
          <p:nvPr/>
        </p:nvSpPr>
        <p:spPr>
          <a:xfrm>
            <a:off x="7772400" y="3108960"/>
            <a:ext cx="1828800" cy="73152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0.57</a:t>
            </a:r>
            <a:endParaRPr lang="en-US" sz="4000" dirty="0"/>
          </a:p>
        </p:txBody>
      </p:sp>
      <p:sp>
        <p:nvSpPr>
          <p:cNvPr id="10" name="Text 6"/>
          <p:cNvSpPr txBox="1"/>
          <p:nvPr/>
        </p:nvSpPr>
        <p:spPr>
          <a:xfrm>
            <a:off x="9509760" y="3246120"/>
            <a:ext cx="2194560" cy="914400"/>
          </a:xfrm>
          <a:prstGeom prst="rect">
            <a:avLst/>
          </a:prstGeom>
          <a:noFill/>
          <a:ln/>
        </p:spPr>
        <p:txBody>
          <a:bodyPr wrap="square" lIns="0" tIns="0" rIns="0" bIns="0" rtlCol="0" anchor="t"/>
          <a:lstStyle/>
          <a:p>
            <a:pPr indent="0" marL="0">
              <a:buNone/>
            </a:pPr>
            <a:r>
              <a:rPr lang="en-US" sz="1200" dirty="0">
                <a:solidFill>
                  <a:schemeClr val="tx1"/>
                </a:solidFill>
              </a:rPr>
              <a:t>of needed facts are not in the visible context (1 minus 0.43); the archive returns 0.70 of them</a:t>
            </a:r>
            <a:endParaRPr lang="en-US" sz="1200" dirty="0"/>
          </a:p>
        </p:txBody>
      </p:sp>
      <p:sp>
        <p:nvSpPr>
          <p:cNvPr id="11" name="Text 7"/>
          <p:cNvSpPr txBox="1"/>
          <p:nvPr/>
        </p:nvSpPr>
        <p:spPr>
          <a:xfrm>
            <a:off x="7772400" y="4297680"/>
            <a:ext cx="3840480" cy="274320"/>
          </a:xfrm>
          <a:prstGeom prst="rect">
            <a:avLst/>
          </a:prstGeom>
          <a:noFill/>
          <a:ln/>
        </p:spPr>
        <p:txBody>
          <a:bodyPr wrap="square" lIns="0" tIns="0" rIns="0" bIns="0" rtlCol="0" anchor="t"/>
          <a:lstStyle/>
          <a:p>
            <a:pPr indent="0" marL="0">
              <a:buNone/>
            </a:pPr>
            <a:r>
              <a:rPr lang="en-US" sz="1400" b="1" dirty="0">
                <a:solidFill>
                  <a:schemeClr val="tx1"/>
                </a:solidFill>
              </a:rPr>
              <a:t>Read with care</a:t>
            </a:r>
            <a:endParaRPr lang="en-US" sz="1400" dirty="0"/>
          </a:p>
        </p:txBody>
      </p:sp>
      <p:sp>
        <p:nvSpPr>
          <p:cNvPr id="12" name="Text 8"/>
          <p:cNvSpPr txBox="1"/>
          <p:nvPr/>
        </p:nvSpPr>
        <p:spPr>
          <a:xfrm>
            <a:off x="7772400" y="4617720"/>
            <a:ext cx="3840480"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Reader is text matching, not a model</a:t>
            </a:r>
            <a:endParaRPr lang="en-US" sz="1300" dirty="0"/>
          </a:p>
          <a:p>
            <a:pPr marL="342900" indent="-342900">
              <a:spcAft>
                <a:spcPts val="400"/>
              </a:spcAft>
              <a:buSzPct val="100000"/>
              <a:buChar char="•"/>
            </a:pPr>
            <a:r>
              <a:rPr lang="en-US" sz="1300" dirty="0">
                <a:solidFill>
                  <a:schemeClr val="tx1"/>
                </a:solidFill>
              </a:rPr>
              <a:t>One synthetic generator, three seeds</a:t>
            </a:r>
            <a:endParaRPr lang="en-US" sz="1300" dirty="0"/>
          </a:p>
          <a:p>
            <a:pPr marL="342900" indent="-342900">
              <a:spcAft>
                <a:spcPts val="400"/>
              </a:spcAft>
              <a:buSzPct val="100000"/>
              <a:buChar char="•"/>
            </a:pPr>
            <a:r>
              <a:rPr lang="en-US" sz="1300" dirty="0">
                <a:solidFill>
                  <a:schemeClr val="tx1"/>
                </a:solidFill>
              </a:rPr>
              <a:t>No external baseline yet</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3000" b="1" dirty="0">
                <a:solidFill>
                  <a:schemeClr val="tx1"/>
                </a:solidFill>
              </a:rPr>
              <a:t>What would make this a thesis: four studies the current evidence does not cover</a:t>
            </a:r>
            <a:endParaRPr lang="en-US" sz="3000" dirty="0"/>
          </a:p>
        </p:txBody>
      </p:sp>
      <p:sp>
        <p:nvSpPr>
          <p:cNvPr id="4" name="Shape 1"/>
          <p:cNvSpPr/>
          <p:nvPr/>
        </p:nvSpPr>
        <p:spPr>
          <a:xfrm>
            <a:off x="548640" y="1463040"/>
            <a:ext cx="5440680" cy="1920240"/>
          </a:xfrm>
          <a:prstGeom prst="roundRect">
            <a:avLst>
              <a:gd name="adj" fmla="val 3810"/>
            </a:avLst>
          </a:prstGeom>
          <a:solidFill>
            <a:schemeClr val="bg2"/>
          </a:solidFill>
          <a:ln w="12700">
            <a:solidFill>
              <a:schemeClr val="bg2"/>
            </a:solidFill>
            <a:prstDash val="solid"/>
          </a:ln>
        </p:spPr>
      </p:sp>
      <p:sp>
        <p:nvSpPr>
          <p:cNvPr id="5" name="Shape 2"/>
          <p:cNvSpPr/>
          <p:nvPr/>
        </p:nvSpPr>
        <p:spPr>
          <a:xfrm>
            <a:off x="777240" y="1691640"/>
            <a:ext cx="548640" cy="548640"/>
          </a:xfrm>
          <a:prstGeom prst="ellipse">
            <a:avLst/>
          </a:prstGeom>
          <a:solidFill>
            <a:schemeClr val="accent1"/>
          </a:solidFill>
          <a:ln w="12700">
            <a:solidFill>
              <a:schemeClr val="accent1"/>
            </a:solidFill>
            <a:prstDash val="solid"/>
          </a:ln>
        </p:spPr>
      </p:sp>
      <p:sp>
        <p:nvSpPr>
          <p:cNvPr id="6" name="Text 3"/>
          <p:cNvSpPr txBox="1"/>
          <p:nvPr/>
        </p:nvSpPr>
        <p:spPr>
          <a:xfrm>
            <a:off x="777240" y="1691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Text 4"/>
          <p:cNvSpPr txBox="1"/>
          <p:nvPr/>
        </p:nvSpPr>
        <p:spPr>
          <a:xfrm>
            <a:off x="1508760" y="1691640"/>
            <a:ext cx="365760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End-to-end with real models</a:t>
            </a:r>
            <a:endParaRPr lang="en-US" sz="1700" dirty="0"/>
          </a:p>
        </p:txBody>
      </p:sp>
      <p:sp>
        <p:nvSpPr>
          <p:cNvPr id="8" name="Text 5"/>
          <p:cNvSpPr txBox="1"/>
          <p:nvPr/>
        </p:nvSpPr>
        <p:spPr>
          <a:xfrm>
            <a:off x="5029200" y="1691640"/>
            <a:ext cx="777240" cy="548640"/>
          </a:xfrm>
          <a:prstGeom prst="rect">
            <a:avLst/>
          </a:prstGeom>
          <a:noFill/>
          <a:ln/>
        </p:spPr>
        <p:txBody>
          <a:bodyPr wrap="square" lIns="0" tIns="0" rIns="0" bIns="0" rtlCol="0" anchor="ctr"/>
          <a:lstStyle/>
          <a:p>
            <a:pPr algn="r" indent="0" marL="0">
              <a:buNone/>
            </a:pPr>
            <a:r>
              <a:rPr lang="en-US" sz="1300" b="1" dirty="0">
                <a:solidFill>
                  <a:schemeClr val="accent2"/>
                </a:solidFill>
              </a:rPr>
              <a:t>R1, R2</a:t>
            </a:r>
            <a:endParaRPr lang="en-US" sz="1300" dirty="0"/>
          </a:p>
        </p:txBody>
      </p:sp>
      <p:sp>
        <p:nvSpPr>
          <p:cNvPr id="9" name="Text 6"/>
          <p:cNvSpPr txBox="1"/>
          <p:nvPr/>
        </p:nvSpPr>
        <p:spPr>
          <a:xfrm>
            <a:off x="777240" y="2423160"/>
            <a:ext cx="4983480" cy="868680"/>
          </a:xfrm>
          <a:prstGeom prst="rect">
            <a:avLst/>
          </a:prstGeom>
          <a:noFill/>
          <a:ln/>
        </p:spPr>
        <p:txBody>
          <a:bodyPr wrap="square" lIns="0" tIns="0" rIns="0" bIns="0" rtlCol="0" anchor="t"/>
          <a:lstStyle/>
          <a:p>
            <a:pPr indent="0" marL="0">
              <a:buNone/>
            </a:pPr>
            <a:r>
              <a:rPr lang="en-US" sz="1400" dirty="0">
                <a:solidFill>
                  <a:schemeClr val="tx1"/>
                </a:solidFill>
              </a:rPr>
              <a:t>Same tasks, model in the loop, task success and cost; ablate each layer.</a:t>
            </a:r>
            <a:endParaRPr lang="en-US" sz="1400" dirty="0"/>
          </a:p>
        </p:txBody>
      </p:sp>
      <p:sp>
        <p:nvSpPr>
          <p:cNvPr id="10" name="Shape 7"/>
          <p:cNvSpPr/>
          <p:nvPr/>
        </p:nvSpPr>
        <p:spPr>
          <a:xfrm>
            <a:off x="6172200" y="1463040"/>
            <a:ext cx="5440680" cy="1920240"/>
          </a:xfrm>
          <a:prstGeom prst="roundRect">
            <a:avLst>
              <a:gd name="adj" fmla="val 3810"/>
            </a:avLst>
          </a:prstGeom>
          <a:solidFill>
            <a:schemeClr val="bg2"/>
          </a:solidFill>
          <a:ln w="12700">
            <a:solidFill>
              <a:schemeClr val="bg2"/>
            </a:solidFill>
            <a:prstDash val="solid"/>
          </a:ln>
        </p:spPr>
      </p:sp>
      <p:sp>
        <p:nvSpPr>
          <p:cNvPr id="11" name="Shape 8"/>
          <p:cNvSpPr/>
          <p:nvPr/>
        </p:nvSpPr>
        <p:spPr>
          <a:xfrm>
            <a:off x="6400800" y="1691640"/>
            <a:ext cx="548640" cy="548640"/>
          </a:xfrm>
          <a:prstGeom prst="ellipse">
            <a:avLst/>
          </a:prstGeom>
          <a:solidFill>
            <a:schemeClr val="accent1"/>
          </a:solidFill>
          <a:ln w="12700">
            <a:solidFill>
              <a:schemeClr val="accent1"/>
            </a:solidFill>
            <a:prstDash val="solid"/>
          </a:ln>
        </p:spPr>
      </p:sp>
      <p:sp>
        <p:nvSpPr>
          <p:cNvPr id="12" name="Text 9"/>
          <p:cNvSpPr txBox="1"/>
          <p:nvPr/>
        </p:nvSpPr>
        <p:spPr>
          <a:xfrm>
            <a:off x="6400800" y="1691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Text 10"/>
          <p:cNvSpPr txBox="1"/>
          <p:nvPr/>
        </p:nvSpPr>
        <p:spPr>
          <a:xfrm>
            <a:off x="7132320" y="1691640"/>
            <a:ext cx="365760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Baselines on identical episodes</a:t>
            </a:r>
            <a:endParaRPr lang="en-US" sz="1700" dirty="0"/>
          </a:p>
        </p:txBody>
      </p:sp>
      <p:sp>
        <p:nvSpPr>
          <p:cNvPr id="14" name="Text 11"/>
          <p:cNvSpPr txBox="1"/>
          <p:nvPr/>
        </p:nvSpPr>
        <p:spPr>
          <a:xfrm>
            <a:off x="10652760" y="1691640"/>
            <a:ext cx="777240" cy="548640"/>
          </a:xfrm>
          <a:prstGeom prst="rect">
            <a:avLst/>
          </a:prstGeom>
          <a:noFill/>
          <a:ln/>
        </p:spPr>
        <p:txBody>
          <a:bodyPr wrap="square" lIns="0" tIns="0" rIns="0" bIns="0" rtlCol="0" anchor="ctr"/>
          <a:lstStyle/>
          <a:p>
            <a:pPr algn="r" indent="0" marL="0">
              <a:buNone/>
            </a:pPr>
            <a:r>
              <a:rPr lang="en-US" sz="1300" b="1" dirty="0">
                <a:solidFill>
                  <a:schemeClr val="accent2"/>
                </a:solidFill>
              </a:rPr>
              <a:t>R1, R2</a:t>
            </a:r>
            <a:endParaRPr lang="en-US" sz="1300" dirty="0"/>
          </a:p>
        </p:txBody>
      </p:sp>
      <p:sp>
        <p:nvSpPr>
          <p:cNvPr id="15" name="Text 12"/>
          <p:cNvSpPr txBox="1"/>
          <p:nvPr/>
        </p:nvSpPr>
        <p:spPr>
          <a:xfrm>
            <a:off x="6400800" y="2423160"/>
            <a:ext cx="4983480" cy="868680"/>
          </a:xfrm>
          <a:prstGeom prst="rect">
            <a:avLst/>
          </a:prstGeom>
          <a:noFill/>
          <a:ln/>
        </p:spPr>
        <p:txBody>
          <a:bodyPr wrap="square" lIns="0" tIns="0" rIns="0" bIns="0" rtlCol="0" anchor="t"/>
          <a:lstStyle/>
          <a:p>
            <a:pPr indent="0" marL="0">
              <a:buNone/>
            </a:pPr>
            <a:r>
              <a:rPr lang="en-US" sz="1400" dirty="0">
                <a:solidFill>
                  <a:schemeClr val="tx1"/>
                </a:solidFill>
              </a:rPr>
              <a:t>Rolling LLM summary, MemGPT-style paging, retrieval-only memory.</a:t>
            </a:r>
            <a:endParaRPr lang="en-US" sz="1400" dirty="0"/>
          </a:p>
        </p:txBody>
      </p:sp>
      <p:sp>
        <p:nvSpPr>
          <p:cNvPr id="16" name="Shape 13"/>
          <p:cNvSpPr/>
          <p:nvPr/>
        </p:nvSpPr>
        <p:spPr>
          <a:xfrm>
            <a:off x="548640" y="3566160"/>
            <a:ext cx="5440680" cy="1920240"/>
          </a:xfrm>
          <a:prstGeom prst="roundRect">
            <a:avLst>
              <a:gd name="adj" fmla="val 3810"/>
            </a:avLst>
          </a:prstGeom>
          <a:solidFill>
            <a:schemeClr val="bg2"/>
          </a:solidFill>
          <a:ln w="12700">
            <a:solidFill>
              <a:schemeClr val="bg2"/>
            </a:solidFill>
            <a:prstDash val="solid"/>
          </a:ln>
        </p:spPr>
      </p:sp>
      <p:sp>
        <p:nvSpPr>
          <p:cNvPr id="17" name="Shape 14"/>
          <p:cNvSpPr/>
          <p:nvPr/>
        </p:nvSpPr>
        <p:spPr>
          <a:xfrm>
            <a:off x="777240" y="3794760"/>
            <a:ext cx="548640" cy="548640"/>
          </a:xfrm>
          <a:prstGeom prst="ellipse">
            <a:avLst/>
          </a:prstGeom>
          <a:solidFill>
            <a:schemeClr val="accent1"/>
          </a:solidFill>
          <a:ln w="12700">
            <a:solidFill>
              <a:schemeClr val="accent1"/>
            </a:solidFill>
            <a:prstDash val="solid"/>
          </a:ln>
        </p:spPr>
      </p:sp>
      <p:sp>
        <p:nvSpPr>
          <p:cNvPr id="18" name="Text 15"/>
          <p:cNvSpPr txBox="1"/>
          <p:nvPr/>
        </p:nvSpPr>
        <p:spPr>
          <a:xfrm>
            <a:off x="777240"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9" name="Text 16"/>
          <p:cNvSpPr txBox="1"/>
          <p:nvPr/>
        </p:nvSpPr>
        <p:spPr>
          <a:xfrm>
            <a:off x="1508760" y="3794760"/>
            <a:ext cx="365760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Is the utility model right?</a:t>
            </a:r>
            <a:endParaRPr lang="en-US" sz="1700" dirty="0"/>
          </a:p>
        </p:txBody>
      </p:sp>
      <p:sp>
        <p:nvSpPr>
          <p:cNvPr id="20" name="Text 17"/>
          <p:cNvSpPr txBox="1"/>
          <p:nvPr/>
        </p:nvSpPr>
        <p:spPr>
          <a:xfrm>
            <a:off x="5029200" y="3794760"/>
            <a:ext cx="777240" cy="548640"/>
          </a:xfrm>
          <a:prstGeom prst="rect">
            <a:avLst/>
          </a:prstGeom>
          <a:noFill/>
          <a:ln/>
        </p:spPr>
        <p:txBody>
          <a:bodyPr wrap="square" lIns="0" tIns="0" rIns="0" bIns="0" rtlCol="0" anchor="ctr"/>
          <a:lstStyle/>
          <a:p>
            <a:pPr algn="r" indent="0" marL="0">
              <a:buNone/>
            </a:pPr>
            <a:r>
              <a:rPr lang="en-US" sz="1300" b="1" dirty="0">
                <a:solidFill>
                  <a:schemeClr val="accent2"/>
                </a:solidFill>
              </a:rPr>
              <a:t>R1</a:t>
            </a:r>
            <a:endParaRPr lang="en-US" sz="1300" dirty="0"/>
          </a:p>
        </p:txBody>
      </p:sp>
      <p:sp>
        <p:nvSpPr>
          <p:cNvPr id="21" name="Text 18"/>
          <p:cNvSpPr txBox="1"/>
          <p:nvPr/>
        </p:nvSpPr>
        <p:spPr>
          <a:xfrm>
            <a:off x="777240" y="4526280"/>
            <a:ext cx="4983480" cy="868680"/>
          </a:xfrm>
          <a:prstGeom prst="rect">
            <a:avLst/>
          </a:prstGeom>
          <a:noFill/>
          <a:ln/>
        </p:spPr>
        <p:txBody>
          <a:bodyPr wrap="square" lIns="0" tIns="0" rIns="0" bIns="0" rtlCol="0" anchor="t"/>
          <a:lstStyle/>
          <a:p>
            <a:pPr indent="0" marL="0">
              <a:buNone/>
            </a:pPr>
            <a:r>
              <a:rPr lang="en-US" sz="1400" dirty="0">
                <a:solidFill>
                  <a:schemeClr val="tx1"/>
                </a:solidFill>
              </a:rPr>
              <a:t>Ablate and learn the weights; compare with exact optimum under each.</a:t>
            </a:r>
            <a:endParaRPr lang="en-US" sz="1400" dirty="0"/>
          </a:p>
        </p:txBody>
      </p:sp>
      <p:sp>
        <p:nvSpPr>
          <p:cNvPr id="22" name="Shape 19"/>
          <p:cNvSpPr/>
          <p:nvPr/>
        </p:nvSpPr>
        <p:spPr>
          <a:xfrm>
            <a:off x="6172200" y="3566160"/>
            <a:ext cx="5440680" cy="1920240"/>
          </a:xfrm>
          <a:prstGeom prst="roundRect">
            <a:avLst>
              <a:gd name="adj" fmla="val 3810"/>
            </a:avLst>
          </a:prstGeom>
          <a:solidFill>
            <a:schemeClr val="bg2"/>
          </a:solidFill>
          <a:ln w="12700">
            <a:solidFill>
              <a:schemeClr val="bg2"/>
            </a:solidFill>
            <a:prstDash val="solid"/>
          </a:ln>
        </p:spPr>
      </p:sp>
      <p:sp>
        <p:nvSpPr>
          <p:cNvPr id="23" name="Shape 20"/>
          <p:cNvSpPr/>
          <p:nvPr/>
        </p:nvSpPr>
        <p:spPr>
          <a:xfrm>
            <a:off x="6400800" y="3794760"/>
            <a:ext cx="548640" cy="548640"/>
          </a:xfrm>
          <a:prstGeom prst="ellipse">
            <a:avLst/>
          </a:prstGeom>
          <a:solidFill>
            <a:schemeClr val="accent1"/>
          </a:solidFill>
          <a:ln w="12700">
            <a:solidFill>
              <a:schemeClr val="accent1"/>
            </a:solidFill>
            <a:prstDash val="solid"/>
          </a:ln>
        </p:spPr>
      </p:sp>
      <p:sp>
        <p:nvSpPr>
          <p:cNvPr id="24" name="Text 21"/>
          <p:cNvSpPr txBox="1"/>
          <p:nvPr/>
        </p:nvSpPr>
        <p:spPr>
          <a:xfrm>
            <a:off x="6400800"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25" name="Text 22"/>
          <p:cNvSpPr txBox="1"/>
          <p:nvPr/>
        </p:nvSpPr>
        <p:spPr>
          <a:xfrm>
            <a:off x="7132320" y="3794760"/>
            <a:ext cx="365760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Does it shorten diagnosis?</a:t>
            </a:r>
            <a:endParaRPr lang="en-US" sz="1700" dirty="0"/>
          </a:p>
        </p:txBody>
      </p:sp>
      <p:sp>
        <p:nvSpPr>
          <p:cNvPr id="26" name="Text 23"/>
          <p:cNvSpPr txBox="1"/>
          <p:nvPr/>
        </p:nvSpPr>
        <p:spPr>
          <a:xfrm>
            <a:off x="10652760" y="3794760"/>
            <a:ext cx="777240" cy="548640"/>
          </a:xfrm>
          <a:prstGeom prst="rect">
            <a:avLst/>
          </a:prstGeom>
          <a:noFill/>
          <a:ln/>
        </p:spPr>
        <p:txBody>
          <a:bodyPr wrap="square" lIns="0" tIns="0" rIns="0" bIns="0" rtlCol="0" anchor="ctr"/>
          <a:lstStyle/>
          <a:p>
            <a:pPr algn="r" indent="0" marL="0">
              <a:buNone/>
            </a:pPr>
            <a:r>
              <a:rPr lang="en-US" sz="1300" b="1" dirty="0">
                <a:solidFill>
                  <a:schemeClr val="accent2"/>
                </a:solidFill>
              </a:rPr>
              <a:t>R3</a:t>
            </a:r>
            <a:endParaRPr lang="en-US" sz="1300" dirty="0"/>
          </a:p>
        </p:txBody>
      </p:sp>
      <p:sp>
        <p:nvSpPr>
          <p:cNvPr id="27" name="Text 24"/>
          <p:cNvSpPr txBox="1"/>
          <p:nvPr/>
        </p:nvSpPr>
        <p:spPr>
          <a:xfrm>
            <a:off x="6400800" y="4526280"/>
            <a:ext cx="4983480" cy="868680"/>
          </a:xfrm>
          <a:prstGeom prst="rect">
            <a:avLst/>
          </a:prstGeom>
          <a:noFill/>
          <a:ln/>
        </p:spPr>
        <p:txBody>
          <a:bodyPr wrap="square" lIns="0" tIns="0" rIns="0" bIns="0" rtlCol="0" anchor="t"/>
          <a:lstStyle/>
          <a:p>
            <a:pPr indent="0" marL="0">
              <a:buNone/>
            </a:pPr>
            <a:r>
              <a:rPr lang="en-US" sz="1400" dirty="0">
                <a:solidFill>
                  <a:schemeClr val="tx1"/>
                </a:solidFill>
              </a:rPr>
              <a:t>Seeded faults in tool, selection, summary and model; time-to-locate with and without the ledgers.</a:t>
            </a:r>
            <a:endParaRPr lang="en-US" sz="1400" dirty="0"/>
          </a:p>
        </p:txBody>
      </p:sp>
      <p:sp>
        <p:nvSpPr>
          <p:cNvPr id="28" name="Shape 25"/>
          <p:cNvSpPr/>
          <p:nvPr/>
        </p:nvSpPr>
        <p:spPr>
          <a:xfrm>
            <a:off x="548640" y="5715000"/>
            <a:ext cx="11064240" cy="685800"/>
          </a:xfrm>
          <a:prstGeom prst="roundRect">
            <a:avLst>
              <a:gd name="adj" fmla="val 8000"/>
            </a:avLst>
          </a:prstGeom>
          <a:solidFill>
            <a:schemeClr val="tx1"/>
          </a:solidFill>
          <a:ln w="12700">
            <a:solidFill>
              <a:schemeClr val="tx1"/>
            </a:solidFill>
            <a:prstDash val="solid"/>
          </a:ln>
        </p:spPr>
      </p:sp>
      <p:sp>
        <p:nvSpPr>
          <p:cNvPr id="29" name="Text 26"/>
          <p:cNvSpPr txBox="1"/>
          <p:nvPr/>
        </p:nvSpPr>
        <p:spPr>
          <a:xfrm>
            <a:off x="777240" y="5742432"/>
            <a:ext cx="10607040" cy="640080"/>
          </a:xfrm>
          <a:prstGeom prst="rect">
            <a:avLst/>
          </a:prstGeom>
          <a:noFill/>
          <a:ln/>
        </p:spPr>
        <p:txBody>
          <a:bodyPr wrap="square" lIns="0" tIns="0" rIns="0" bIns="0" rtlCol="0" anchor="ctr"/>
          <a:lstStyle/>
          <a:p>
            <a:pPr indent="0" marL="0">
              <a:buNone/>
            </a:pPr>
            <a:r>
              <a:rPr lang="en-US" sz="1500" dirty="0">
                <a:solidFill>
                  <a:schemeClr val="bg1"/>
                </a:solidFill>
              </a:rPr>
              <a:t>For discussion: which of A to D is the strongest first paper, and is diagnosability a defensible primary claim?</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Nailong Ledger">
  <a:themeElements>
    <a:clrScheme name="Nailong Ledger">
      <a:dk1>
        <a:srgbClr val="12262B"/>
      </a:dk1>
      <a:lt1>
        <a:srgbClr val="FFFFFF"/>
      </a:lt1>
      <a:dk2>
        <a:srgbClr val="1F4E55"/>
      </a:dk2>
      <a:lt2>
        <a:srgbClr val="EDF3F2"/>
      </a:lt2>
      <a:accent1>
        <a:srgbClr val="1F7A72"/>
      </a:accent1>
      <a:accent2>
        <a:srgbClr val="D9822B"/>
      </a:accent2>
      <a:accent3>
        <a:srgbClr val="6B7F86"/>
      </a:accent3>
      <a:accent4>
        <a:srgbClr val="B5483A"/>
      </a:accent4>
      <a:accent5>
        <a:srgbClr val="3E6FA3"/>
      </a:accent5>
      <a:accent6>
        <a:srgbClr val="8AA68F"/>
      </a:accent6>
      <a:hlink>
        <a:srgbClr val="1F7A72"/>
      </a:hlink>
      <a:folHlink>
        <a:srgbClr val="6B7F86"/>
      </a:folHlink>
    </a:clrScheme>
    <a:fontScheme name="Nailong Ledg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memory you can debug</dc:title>
  <dc:subject>PptxGenJS Presentation</dc:subject>
  <dc:creator>David Michael Indraputra</dc:creator>
  <cp:lastModifiedBy>David Michael Indraputra</cp:lastModifiedBy>
  <cp:revision>1</cp:revision>
  <dcterms:created xsi:type="dcterms:W3CDTF">2026-10-16T01:38:12Z</dcterms:created>
  <dcterms:modified xsi:type="dcterms:W3CDTF">2026-10-16T01:38:12Z</dcterms:modified>
</cp:coreProperties>
</file>